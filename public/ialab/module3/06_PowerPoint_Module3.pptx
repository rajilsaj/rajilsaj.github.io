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f296085-28a2-6a6d-8a45-84c46f01f417}">
          <p14:sldIdLst>
            <p14:sldId id="256"/>
          </p14:sldIdLst>
        </p14:section>
        <p14:section name="Partie 0 — Accueil" id="{79bb34e2-9767-ce80-10f2-53d87c4f0adc}">
          <p14:sldIdLst>
            <p14:sldId id="257"/>
            <p14:sldId id="258"/>
            <p14:sldId id="259"/>
            <p14:sldId id="260"/>
            <p14:sldId id="261"/>
          </p14:sldIdLst>
        </p14:section>
        <p14:section name="Partie 1 — IA et limites" id="{069624be-42b0-0145-533a-f9871af0b80f}">
          <p14:sldIdLst>
            <p14:sldId id="262"/>
            <p14:sldId id="263"/>
            <p14:sldId id="264"/>
            <p14:sldId id="265"/>
            <p14:sldId id="266"/>
            <p14:sldId id="267"/>
            <p14:sldId id="268"/>
            <p14:sldId id="269"/>
            <p14:sldId id="270"/>
            <p14:sldId id="271"/>
          </p14:sldIdLst>
        </p14:section>
        <p14:section name="Partie 2 — TP1 Veille" id="{29096a34-9a0d-52bb-e0d5-5e2a2546797d}">
          <p14:sldIdLst>
            <p14:sldId id="272"/>
            <p14:sldId id="273"/>
            <p14:sldId id="274"/>
            <p14:sldId id="275"/>
            <p14:sldId id="276"/>
            <p14:sldId id="277"/>
            <p14:sldId id="278"/>
            <p14:sldId id="279"/>
          </p14:sldIdLst>
        </p14:section>
        <p14:section name="Partie 3 — TP2 Photo pro" id="{52eb4af4-716a-df96-1c08-b56d85ae82a2}">
          <p14:sldIdLst>
            <p14:sldId id="280"/>
            <p14:sldId id="281"/>
            <p14:sldId id="282"/>
            <p14:sldId id="283"/>
            <p14:sldId id="284"/>
            <p14:sldId id="285"/>
            <p14:sldId id="286"/>
            <p14:sldId id="287"/>
          </p14:sldIdLst>
        </p14:section>
        <p14:section name="Partie 4 — TP3 CV" id="{e75a1a0c-c149-ccca-29a5-b1012bb2709b}">
          <p14:sldIdLst>
            <p14:sldId id="288"/>
            <p14:sldId id="289"/>
            <p14:sldId id="290"/>
            <p14:sldId id="291"/>
            <p14:sldId id="292"/>
            <p14:sldId id="293"/>
            <p14:sldId id="294"/>
            <p14:sldId id="295"/>
          </p14:sldIdLst>
        </p14:section>
        <p14:section name="Partie 5 — TP4 Lettre" id="{37fc7a35-bb83-03c6-01b0-12459d693e28}">
          <p14:sldIdLst>
            <p14:sldId id="296"/>
            <p14:sldId id="297"/>
            <p14:sldId id="298"/>
            <p14:sldId id="299"/>
            <p14:sldId id="300"/>
            <p14:sldId id="301"/>
            <p14:sldId id="302"/>
            <p14:sldId id="303"/>
          </p14:sldIdLst>
        </p14:section>
        <p14:section name="Partie 6 — TP5 Entretien" id="{716cb854-f4eb-697e-c827-0aee0814ea58}">
          <p14:sldIdLst>
            <p14:sldId id="304"/>
            <p14:sldId id="305"/>
            <p14:sldId id="306"/>
            <p14:sldId id="307"/>
            <p14:sldId id="308"/>
            <p14:sldId id="309"/>
            <p14:sldId id="310"/>
            <p14:sldId id="311"/>
          </p14:sldIdLst>
        </p14:section>
        <p14:section name="Partie 7 — TP6 Plan 30 jours" id="{c6a548c4-ab70-fabf-a335-5143f07c4f1e}">
          <p14:sldIdLst>
            <p14:sldId id="312"/>
            <p14:sldId id="313"/>
            <p14:sldId id="314"/>
            <p14:sldId id="315"/>
            <p14:sldId id="316"/>
            <p14:sldId id="317"/>
            <p14:sldId id="318"/>
          </p14:sldIdLst>
        </p14:section>
        <p14:section name="Partie 8 — Fiche profil" id="{48df2a97-5f60-d492-af12-c601203ef854}">
          <p14:sldIdLst>
            <p14:sldId id="319"/>
            <p14:sldId id="320"/>
            <p14:sldId id="321"/>
            <p14:sldId id="322"/>
            <p14:sldId id="323"/>
            <p14:sldId id="324"/>
            <p14:sldId id="325"/>
            <p14:sldId id="326"/>
          </p14:sldIdLst>
        </p14:section>
        <p14:section name="Partie 9 — Présentations" id="{a0badc92-2ef5-addb-0e45-c7d7f8559979}">
          <p14:sldIdLst>
            <p14:sldId id="327"/>
            <p14:sldId id="328"/>
            <p14:sldId id="329"/>
            <p14:sldId id="330"/>
            <p14:sldId id="331"/>
          </p14:sldIdLst>
        </p14:section>
        <p14:section name="Partie 10 — Bilan" id="{8e8b0784-700e-13c2-5943-0c7aa5307064}">
          <p14:sldIdLst>
            <p14:sldId id="332"/>
            <p14:sldId id="333"/>
            <p14:sldId id="334"/>
            <p14:sldId id="335"/>
            <p14:sldId id="336"/>
            <p14:sldId id="3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Présenter le module en une phrase : « Aujourd’hui, vous repartez avec votre CV, votre lettre, votre photo professionnelle et votre fiche profil, faits avec l’IA et relus par vous.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0 prévue de 0h00 – 0h08.
Étape 1 (3 min) : Accueil, présence et consentement.
Animation : Accueillir chaque personne. Rappeler : aucune photo des apprenants sans autorisation écrite.
Manuel de l’apprenant : Partie 0,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0 prévue de 0h00 – 0h08.
Étape 1 (3 min) : Accueil, présence et consentement.
Animation : Accueillir chaque personne. Rappeler : aucune photo des apprenants sans autorisation écrite.
Faire répéter les 5 règles par le groupe.
Manuel de l’apprenant : Partie 0,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0 prévue de 0h00 – 0h08.
Étape 2 (3 min) : Le programme et l’évaluation.
Animation : Montrer le tableau d’évaluation. Insister : « On note ce que vous faites, pas votre vitesse au clavier. »
Montrer la logique : on avance du plus simple (veille) vers la fiche profil et la présentation.
Manuel de l’apprenant : Partie 0,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0 prévue de 0h00 – 0h08.
Étape 2 (3 min) : Le programme et l’évaluation.
Animation : Montrer le tableau d’évaluation. Insister : « On note ce que vous faites, pas votre vitesse au clavier. »
Insister : on note ce que vous faites, pas votre vitesse au clavier.
Manuel de l’apprenant : Partie 0,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0 prévue de 0h00 – 0h08.
Étape 3 (2 min) : Test de départ.
Animation : Tournée rapide des postes. Repérer ceux qui n’ont pas Claude, Gemini, Google Docs ou les 2 skills.
Manuel de l’apprenant : Partie 0,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 Comprendre l’IA et ses limites. Heure prévue : 0h08 – 0h23 (15 min). Objectif : Comprendre ce que l’IA fait bien, ce qu’elle fait mal, et adopter une règle d’or d’usage responsable. Livrable : Aucun fichier. Les 4 limites de l’IA et la règle d’or sont comprises (c’est le socle de tous les TP). Vocabulaire à définir : prompt (consigne), skill, hallucination (invention).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1 (3 min) : Un assistant IA, c’est quoi ?.
Animation : Démo : poser la même question à Claude et Gemini. Montrer que les réponses diffèrent.
Manuel de l’apprenant : Partie 1,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2 (5 min) : Les 4 limites à connaître.
Animation : Un exemple concret par limite. Lire la règle à voix haute, les apprenants répètent.
Un exemple concret par limite. Lire la règle à voix haute, le groupe répète.
Manuel de l’apprenant : Partie 1,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2 (5 min) : Les 4 limites à connaître.
Animation : Un exemple concret par limite. Lire la règle à voix haute, les apprenants répètent.
Un exemple concret par limite. Lire la règle à voix haute, le groupe répète.
Manuel de l’apprenant : Partie 1,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3 (3 min) : Exercice : je peux ou je ne peux pas ?.
Animation : Vote à main levée. Réponses : a NON, b OUI, c NON, d OUI, e NON, f NON.
Vote à main levée, 30 secondes avec le voisin, puis passer à la correction.
Manuel de l’apprenant : Partie 1,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3 (3 min) : Exercice : je peux ou je ne peux pas ?.
Animation : Vote à main levée. Réponses : a NON, b OUI, c NON, d OUI, e NON, f NON.
Correction : a NON, b OUI, c NON, d OUI, e NON, f NON.
Manuel de l’apprenant : Partie 1,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4 (2 min) : Skill ou prompt ?.
Animation : Insister : le skill produit un brouillon solide, jamais un document final.
Manuel de l’apprenant : Partie 1,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5 (2 min) : Ma règle d’or et la formule en 4 lignes.
Animation : Faire répéter les 5 gestes. Annoncer : « Cette règle sera notée dans chaque TP. »
Faire répéter les 5 gestes. Annoncer : cette règle sera notée.
Manuel de l’apprenant : Partie 1,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prévue de 0h08 – 0h23.
Étape 5 (2 min) : Ma règle d’or et la formule en 4 lignes.
Animation : Faire répéter les 5 gestes. Annoncer : « Cette règle sera notée dans chaque TP. »
Manuel de l’apprenant : Partie 1,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1,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 Ma veille professionnelle. Heure prévue : 0h23 – 0h43 (20 min). Objectif : Savoir suivre les offres, les mots-clés et les compétences demandées pour mon métier, avec l’aide de l’IA. Livrable : Ma fiche de veille : 5 mots-clés, 3 sources, 3 compétences demandées, 1 information vérifiée. Vocabulaire à définir : veille, source, keywords (mots-clés),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prévue de 0h23 – 0h43.
Étape 1 (2 min) : Je choisis mon cap.
Animation : Aider ceux qui hésitent : proposer une offre de l’Annexe B en 30 secondes.
Manuel de l’apprenant : Partie 2,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prévue de 0h23 – 0h43.
Étape 2 (6 min) : Je trouve mes mots-clés.
Animation : Démo complète sur le poste de la personne fictive (Annexe C). Puis les apprenants refont.
Manuel de l’apprenant : Partie 2,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prévue de 0h23 – 0h43.
Étape 3 (6 min) : Je choisis mes sources.
Animation : Faire ouvrir au moins un lien en direct pour montrer qu’une source proposée peut être fausse.
Manuel de l’apprenant : Partie 2,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prévue de 0h23 – 0h43.
Étape 4 (4 min) : Je découvre les compétences demandées.
Animation : La vérification d’une information vaut des points (critère « vérification humaine »).
Manuel de l’apprenant : Partie 2,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prévue de 0h23 – 0h43.
Étape 5 (2 min) : Je range mon travail.
Animation : Montrer le dossier M3_NOM_Prénom sur le Bureau : c’est là que tout sera rangé.
Manuel de l’apprenant : Partie 2,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2,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 Ma photo pro (conception graphique). Heure prévue : 0h43 – 1h08 (25 min). Objectif : Obtenir une photo professionnelle avec l’aide de l’IA et découvrir le design graphique assisté par IA. Livrable : Ma photo professionnelle retouchée (portrait), prête pour le CV et la fiche profil. Option : un visuel d’activité. Vocabulaire à définir : prompt visuel, retouche, cropping (recadrage), format, watermark (filigrane), upload,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prévue de 0h43 – 1h08.
Étape 1 (4 min) : Je choisis la bonne photo.
Animation : Aucune photo d’apprenant n’est prise ni publiée par le formateur (art. 9 du contrat).
Manuel de l’apprenant : Partie 3,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prévue de 0h43 – 1h08.
Étape 2 (8 min) : Je retouche avec Gemini.
Animation : Montrer un bon et un mauvais résultat. Refuser toute retouche qui change le visage.
Manuel de l’apprenant : Partie 3,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prévue de 0h43 – 1h08.
Étape 3 (5 min) : Je recadre et je choisis le format.
Animation : Expliquer cropping, format portrait, watermark avec la photo projetée.
Manuel de l’apprenant : Partie 3,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prévue de 0h43 – 1h08.
Étape 4 (3 min) : Je télécharge et je nomme.
Animation : Vérifier à l’écran que chaque fichier est bien nommé.
Manuel de l’apprenant : Partie 3,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prévue de 0h43 – 1h08.
Étape 5 (5 min) : Mon visuel d’activité (option).
Animation : Pour les salariés qui ont terminé : bonus. Les autres peuvent aider leur voisin.
Manuel de l’apprenant : Partie 3,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3,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 Mon CV d’une page. Heure prévue : 1h08 – 1h33 (25 min). Objectif : Produire un CV d’une page, en PDF, avec le skill ia.lab « Monter son CV », puis le relire et le corriger. Livrable : Mon CV en PDF (une page) et ma lettre de motivation générée (elle sera retravaillée dans le TP4). Vocabulaire à définir : skill, template, mise en forme, export PDF,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prévue de 1h08 – 1h33.
Étape 1 (5 min) : Je prépare mes informations.
Animation : Distribuer l’Annexe A à ceux qui ne l’ont pas. Circuler : aucune information inventée.
Manuel de l’apprenant : Partie 4,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prévue de 1h08 – 1h33.
Étape 2 (3 min) : Je lance le skill.
Animation : Démo : lancer le skill sur le profil fictif (Annexe C).
Manuel de l’apprenant : Partie 4,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prévue de 1h08 – 1h33.
Étape 3 (7 min) : Je réponds aux questions du skill.
Animation : Rappeler : « Ce qui n’est pas fourni ne figure pas dans le résultat. »
Manuel de l’apprenant : Partie 4,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prévue de 1h08 – 1h33.
Étape 4 (8 min) : Je relis avec la grille.
Animation : C’est l’étape qui rapporte le plus de points : la vérification humaine. Y consacrer du temps.
Manuel de l’apprenant : Partie 4,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prévue de 1h08 – 1h33.
Étape 5 (2 min) : Je télécharge et je nomme.
Animation : Vérifier à l’écran la présence des 2 fichiers.
Manuel de l’apprenant : Partie 4,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4,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 Ma lettre de motivation. Heure prévue : 1h33 – 1h48 (15 min). Objectif : Vérifier, raccourcir et personnaliser la lettre de motivation générée par le skill. Livrable : Ma lettre de motivation d’une page, avec un exemple vécu. Vocabulaire à définir : job description, mise en forme, export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prévue de 1h33 – 1h48.
Étape 1 (2 min) : Je retrouve ma lettre.
Animation : Rappeler la structure en 4 paragraphes avant de lire.
Manuel de l’apprenant : Partie 5,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prévue de 1h33 – 1h48.
Étape 2 (4 min) : Je la vérifie avec la structure en 4 paragraphes.
Animation : Projeter la lettre fictive et faire repérer les 4 paragraphes.
Manuel de l’apprenant : Partie 5,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prévue de 1h33 – 1h48.
Étape 3 (6 min) : Je la rends plus courte et plus vraie.
Animation : Faire lire à voix haute 2 lettres. Demander : « Cette phrase, vous la diriez ? »
Manuel de l’apprenant : Partie 5,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5 prévue de 1h33 – 1h48.
Étape 4 (3 min) : Je l’enregistre.
Animation : Vérifier à l’écran.
Manuel de l’apprenant : Partie 5,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5,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Heure prévue : 1h48 – 2h03. Pendant la pause : vérifier les postes et les skills pour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6 : Préparer mon entretien (mock interview). Heure prévue : 2h03 – 2h28 (25 min). Objectif : S’entraîner à un entretien avec l’IA dans le rôle du recruteur, puis tirer un bilan. Livrable : Mon bilan d’entretien : 2 points forts, 2 points à améliorer, 1 réponse réécrite avec des faits vrais. Vocabulaire à définir : mock interview (entretien simulé),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6 prévue de 2h03 – 2h28.
Étape 1 (4 min) : La méthode STAR en 4 mots.
Animation : Donner un exemple fictif complet en 40 secondes. Faire redire les 4 mots.
Manuel de l’apprenant : Partie 6,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6 prévue de 2h03 – 2h28.
Étape 2 (2 min) : Je lance la simulation.
Animation : Démo de la première question sur le profil fictif.
Manuel de l’apprenant : Partie 6,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6 prévue de 2h03 – 2h28.
Étape 3 (12 min) : Je réponds aux 5 questions.
Animation : Circuler. Repérer les réponses d’un mot. Encourager 4 à 5 phrases. Rappeler le temps toutes les 3 minutes.
Manuel de l’apprenant : Partie 6,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6 prévue de 2h03 – 2h28.
Étape 4 (5 min) : Mon bilan.
Animation : Insister sur la dernière ligne : la réponse réécrite ne doit contenir que des faits vrais.
Manuel de l’apprenant : Partie 6,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6 prévue de 2h03 – 2h28.
Étape 5 (2 min) : Je m’entraîne à voix haute.
Animation : Le but est de passer de l’écrit à la parole. À couper en premier si le temps manque.
Manuel de l’apprenant : Partie 6,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6,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7 : Apprendre un métier ou une compétence. Heure prévue : 2h28 – 2h48 (20 min). Objectif : Construire avec l’IA un plan d’apprentissage de 30 jours pour une compétence utile à mon projet. Livrable : Mon plan de 30 jours (4 semaines) et ma première action de demain. Vocabulaire à définir : learning path (parcours d’apprentissage), source,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7 prévue de 2h28 – 2h48.
Étape 1 (5 min) : Je compare l’offre et moi.
Animation : Aider à choisir une seule compétence. Éviter les plans trop ambitieux.
Manuel de l’apprenant : Partie 7,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7 prévue de 2h28 – 2h48.
Étape 2 (6 min) : Je demande mon plan de 30 jours.
Animation : Démo. Faire lire un plan à voix haute et demander : « Réaliste pour vous ? »
Manuel de l’apprenant : Partie 7,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7 prévue de 2h28 – 2h48.
Étape 3 (5 min) : Je vérifie les ressources.
Animation : La vérification de 2 ressources vaut des points. Faire ouvrir à l’écran principal un lien qui ne marche pas.
Manuel de l’apprenant : Partie 7,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7 prévue de 2h28 – 2h48.
Étape 4 (4 min) : Ma première action demain.
Animation : Faire dire la première action à voix haute à 3 apprenants.
Manuel de l’apprenant : Partie 7,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7,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8 : Ma fiche profil (skill « Ma fiche profil »). Heure prévue : 2h48 – 3h08 (20 min). Objectif : Produire ma fiche profil d’une page (paysage), relue et vérifiée, que je présenterai en 2 minutes. Livrable : Ma fiche profil en PDF, déposée dans le dossier du formateur. Vocabulaire à définir : skill, template, export PDF,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8 prévue de 2h48 – 3h08.
Étape 1 (4 min) : Je prépare mes informations.
Animation : Rappeler : tout vient de l’apprenant. Rien ne sera ajouté par le skill.
Manuel de l’apprenant : Partie 8,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8 prévue de 2h48 – 3h08.
Étape 2 (2 min) : Je lance le skill.
Animation : Démo rapide du lancement.
Manuel de l’apprenant : Partie 8,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8 prévue de 2h48 – 3h08.
Étape 3 (6 min) : Je donne mes informations.
Animation : Circuler. Vérifier que la photo du TP2 est bien celle qui est envoyée.
Manuel de l’apprenant : Partie 8,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8 prévue de 2h48 – 3h08.
Étape 4 (5 min) : Je remplis « Ce que je dois vérifier avant de publier ».
Animation : La zone « À vérifier » vaut des points. Ne pas la laisser vide.
Manuel de l’apprenant : Partie 8,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8 prévue de 2h48 – 3h08.
Étape 5 (3 min) : Je télécharge et je dépose.
Animation : Dépôt : dossier partagé ou clé USB du formateur. Supprimer après notation.
Manuel de l’apprenant : Partie 8, Étape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8,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entrepreneurs suivent la même démarche avec leur activité. Si le temps manque, garder seulement le minimum du 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9 : Ma présentation de 2 minutes. Heure prévue : 3h08 – 3h52 (44 min). Objectif : Présenter ma fiche profil au groupe en 2 minutes, avec clarté et honnêteté. Livrable : Une présentation orale de 2 minutes (15 points sur 40 pour la fiche profil).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9 prévue de 3h08 – 3h52.
Étape 1 (2 min) : Le tirage au sort et les règles.
Animation : Lancer le chronomètre visible. Premier volontaire pour montrer l’exemple.
Manuel de l’apprenant : Partie 9,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9 prévue de 3h08 – 3h52.
Étape 2 (40 min) : Les présentations : 2 minutes chacun.
Animation : Noter sur la grille D pendant que la personne parle. Le public remplit sa carte (1 chose retenue chez 3 camarades).
Chronomètre visible. Main levée à 1 min 50. Noter sur la grille D pendant que la personne parle.
Manuel de l’apprenant : Partie 9,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9 prévue de 3h08 – 3h52.
Étape 3 (2 min) : Les transitions.
Animation : Ouvrir à l’avance le fichier du suivant. Pas de questions du public pour tenir le temps.
Manuel de l’apprenant : Partie 9,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9,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10 : Bilan et suite. Heure prévue : 3h52 – 4h00 (8 min). Objectif : Garder une trace de ce que j’ai appris, sauvegarder mes fichiers et protéger mes informations. Livrable : Ma pochette de fichiers envoyée à mon e-mail ou à mon Drive, mon poste nettoyé, ma présence signée. Vocabulaire à définir : upload, download.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10 prévue de 3h52 – 4h00.
Étape 1 (2 min) : Mon bilan en 3 phrases.
Animation : Tour de table rapide : 3 volontaires.
Manuel de l’apprenant : Partie 10, Étape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10 prévue de 3h52 – 4h00.
Étape 2 (3 min) : J’envoie mes fichiers à mon e-mail ou à mon Drive.
Animation : Aider ceux qui n’ont pas d’e-mail à l’envoyer à un proche ou à copier sur clé USB.
Manuel de l’apprenant : Partie 10, Étape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10 prévue de 3h52 – 4h00.
Étape 3 (1 min) : Je nettoie le poste.
Animation : Vérifier à l’écran les postes un par un avant le départ.
Manuel de l’apprenant : Partie 10, Étape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10 prévue de 3h52 – 4h00.
Étape 4 (2 min) : Signature et au revoir.
Animation : Remercier. Rappeler la date de communication des résultats (à confirmer avec la Fondation).
Manuel de l’apprenant : Partie 10, Étape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Parcourir la liste avec le groupe. Tournée de validation : passer à chaque poste et marquer ✔ ou ½ sur la grille. Manuel : Partie 10, « Je vérifie avant de rendre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100" dirty="0">
                <a:solidFill>
                  <a:schemeClr val="accent5"/>
                </a:solidFill>
              </a:rPr>
              <a:t>Module 3 · Utiliser l’IA pour booster son employabilité   |   Fondation BantuHub · FONEA</a:t>
            </a:r>
            <a:endParaRPr lang="en-US" sz="1100" dirty="0"/>
          </a:p>
        </p:txBody>
      </p:sp>
      <p:sp>
        <p:nvSpPr>
          <p:cNvPr id="3" name="Text 1"/>
          <p:cNvSpPr/>
          <p:nvPr>
            <p:ph idx="101" type="title" hasCustomPrompt="1"/>
          </p:nvPr>
        </p:nvSpPr>
        <p:spPr>
          <a:xfrm>
            <a:off x="548640" y="530352"/>
            <a:ext cx="9509760" cy="8686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305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206240" y="2194560"/>
            <a:ext cx="7406640" cy="16459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14305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583680" cy="219456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2.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slideLayout" Target="../slideLayouts/slideLayout2.xml"/><Relationship Id="rId10"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2.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2.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2.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slideLayout" Target="../slideLayouts/slideLayout2.xml"/><Relationship Id="rId7"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2.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2.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image" Target="../media/image-62-5.png"/><Relationship Id="rId6" Type="http://schemas.openxmlformats.org/officeDocument/2006/relationships/slideLayout" Target="../slideLayouts/slideLayout2.xml"/><Relationship Id="rId7"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2.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2.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image" Target="../media/image-70-4.png"/><Relationship Id="rId5" Type="http://schemas.openxmlformats.org/officeDocument/2006/relationships/image" Target="../media/image-70-5.png"/><Relationship Id="rId6" Type="http://schemas.openxmlformats.org/officeDocument/2006/relationships/image" Target="../media/image-70-6.png"/><Relationship Id="rId7" Type="http://schemas.openxmlformats.org/officeDocument/2006/relationships/slideLayout" Target="../slideLayouts/slideLayout2.xml"/><Relationship Id="rId8"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slideLayout" Target="../slideLayouts/slideLayout2.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slideLayout" Target="../slideLayouts/slideLayout2.xml"/><Relationship Id="rId6"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2.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2.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slideLayout" Target="../slideLayouts/slideLayout2.xml"/><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2.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image" Target="../media/image-82-4.png"/><Relationship Id="rId5" Type="http://schemas.openxmlformats.org/officeDocument/2006/relationships/image" Target="../media/image-82-5.png"/><Relationship Id="rId6" Type="http://schemas.openxmlformats.org/officeDocument/2006/relationships/slideLayout" Target="../slideLayouts/slideLayout2.xml"/><Relationship Id="rId7"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731520"/>
            <a:ext cx="10515600" cy="365760"/>
          </a:xfrm>
          <a:prstGeom prst="rect">
            <a:avLst/>
          </a:prstGeom>
          <a:noFill/>
          <a:ln/>
        </p:spPr>
        <p:txBody>
          <a:bodyPr wrap="square" lIns="0" tIns="0" rIns="0" bIns="0" rtlCol="0" anchor="ctr"/>
          <a:lstStyle/>
          <a:p>
            <a:pPr indent="0" marL="0">
              <a:buNone/>
            </a:pPr>
            <a:r>
              <a:rPr lang="en-US" sz="1400" b="1" spc="200" kern="0" dirty="0">
                <a:solidFill>
                  <a:schemeClr val="bg2"/>
                </a:solidFill>
              </a:rPr>
              <a:t>PROGRAMME DE FORMATION EN INTELLIGENCE ARTIFICIELLE   ·   FONDATION BANTUHUB   ·   FONEA</a:t>
            </a:r>
            <a:endParaRPr lang="en-US" sz="1400" dirty="0"/>
          </a:p>
        </p:txBody>
      </p:sp>
      <p:sp>
        <p:nvSpPr>
          <p:cNvPr id="3" name="Text 0"/>
          <p:cNvSpPr/>
          <p:nvPr>
            <p:ph idx="100" type="title" hasCustomPrompt="1"/>
          </p:nvPr>
        </p:nvSpPr>
        <p:spPr>
          <a:xfrm>
            <a:off x="731520" y="1828800"/>
            <a:ext cx="6583680" cy="2194560"/>
          </a:xfrm>
          <a:prstGeom prst="rect">
            <a:avLst/>
          </a:prstGeom>
          <a:noFill/>
          <a:ln/>
        </p:spPr>
        <p:txBody>
          <a:bodyPr wrap="square" lIns="0" tIns="0" rIns="0" bIns="0" rtlCol="0" anchor="ctr"/>
          <a:lstStyle/>
          <a:p>
            <a:pPr algn="l" indent="0" marL="0">
              <a:buNone/>
            </a:pPr>
            <a:r>
              <a:rPr lang="en-US" sz="4600" b="1" dirty="0">
                <a:solidFill>
                  <a:schemeClr val="bg1"/>
                </a:solidFill>
              </a:rPr>
              <a:t>Utiliser l’IA pour booster son employabilité</a:t>
            </a:r>
            <a:endParaRPr lang="en-US" sz="4600" dirty="0"/>
          </a:p>
        </p:txBody>
      </p:sp>
      <p:sp>
        <p:nvSpPr>
          <p:cNvPr id="4" name="Text 2"/>
          <p:cNvSpPr txBox="1"/>
          <p:nvPr/>
        </p:nvSpPr>
        <p:spPr>
          <a:xfrm>
            <a:off x="731520" y="4206240"/>
            <a:ext cx="6583680" cy="457200"/>
          </a:xfrm>
          <a:prstGeom prst="rect">
            <a:avLst/>
          </a:prstGeom>
          <a:noFill/>
          <a:ln/>
        </p:spPr>
        <p:txBody>
          <a:bodyPr wrap="square" lIns="0" tIns="0" rIns="0" bIns="0" rtlCol="0" anchor="ctr"/>
          <a:lstStyle/>
          <a:p>
            <a:pPr indent="0" marL="0">
              <a:buNone/>
            </a:pPr>
            <a:r>
              <a:rPr lang="en-US" sz="2200" dirty="0">
                <a:solidFill>
                  <a:schemeClr val="bg2"/>
                </a:solidFill>
              </a:rPr>
              <a:t>Module 3  ·  Une séance de 4 heures  ·  Cas pratiques guidés</a:t>
            </a:r>
            <a:endParaRPr lang="en-US" sz="2200" dirty="0"/>
          </a:p>
        </p:txBody>
      </p:sp>
      <p:sp>
        <p:nvSpPr>
          <p:cNvPr id="5" name="Text 3"/>
          <p:cNvSpPr txBox="1"/>
          <p:nvPr/>
        </p:nvSpPr>
        <p:spPr>
          <a:xfrm>
            <a:off x="731520" y="5852160"/>
            <a:ext cx="7315200" cy="365760"/>
          </a:xfrm>
          <a:prstGeom prst="rect">
            <a:avLst/>
          </a:prstGeom>
          <a:noFill/>
          <a:ln/>
        </p:spPr>
        <p:txBody>
          <a:bodyPr wrap="square" lIns="0" tIns="0" rIns="0" bIns="0" rtlCol="0" anchor="ctr"/>
          <a:lstStyle/>
          <a:p>
            <a:pPr indent="0" marL="0">
              <a:buNone/>
            </a:pPr>
            <a:r>
              <a:rPr lang="en-US" sz="1600" dirty="0">
                <a:solidFill>
                  <a:schemeClr val="bg2"/>
                </a:solidFill>
              </a:rPr>
              <a:t>Formateur : Narcisse KIOUARI   ·   Réf. BH_IA_26_03</a:t>
            </a:r>
            <a:endParaRPr lang="en-US" sz="1600" dirty="0"/>
          </a:p>
        </p:txBody>
      </p:sp>
      <p:sp>
        <p:nvSpPr>
          <p:cNvPr id="6" name="Tuile icône"/>
          <p:cNvSpPr/>
          <p:nvPr/>
        </p:nvSpPr>
        <p:spPr>
          <a:xfrm>
            <a:off x="8138160" y="1828800"/>
            <a:ext cx="1691640" cy="1691640"/>
          </a:xfrm>
          <a:prstGeom prst="roundRect">
            <a:avLst>
              <a:gd name="adj" fmla="val 10811"/>
            </a:avLst>
          </a:prstGeom>
          <a:solidFill>
            <a:schemeClr val="accent1"/>
          </a:solidFill>
          <a:ln w="12700">
            <a:solidFill>
              <a:schemeClr val="accent1"/>
            </a:solidFill>
            <a:prstDash val="solid"/>
          </a:ln>
        </p:spPr>
      </p:sp>
      <p:pic>
        <p:nvPicPr>
          <p:cNvPr id="7" name="Image 0" descr="FaSearch">    </p:cNvPr>
          <p:cNvPicPr>
            <a:picLocks noChangeAspect="1"/>
          </p:cNvPicPr>
          <p:nvPr/>
        </p:nvPicPr>
        <p:blipFill>
          <a:blip r:embed="rId1"/>
          <a:stretch>
            <a:fillRect/>
          </a:stretch>
        </p:blipFill>
        <p:spPr>
          <a:xfrm>
            <a:off x="8595360" y="2286000"/>
            <a:ext cx="777240" cy="777240"/>
          </a:xfrm>
          <a:prstGeom prst="rect">
            <a:avLst/>
          </a:prstGeom>
        </p:spPr>
      </p:pic>
      <p:sp>
        <p:nvSpPr>
          <p:cNvPr id="8" name="Tuile icône"/>
          <p:cNvSpPr/>
          <p:nvPr/>
        </p:nvSpPr>
        <p:spPr>
          <a:xfrm>
            <a:off x="10012680" y="1828800"/>
            <a:ext cx="1691640" cy="1691640"/>
          </a:xfrm>
          <a:prstGeom prst="roundRect">
            <a:avLst>
              <a:gd name="adj" fmla="val 10811"/>
            </a:avLst>
          </a:prstGeom>
          <a:solidFill>
            <a:schemeClr val="accent1">
              <a:alpha val="75000"/>
            </a:schemeClr>
          </a:solidFill>
          <a:ln w="12700">
            <a:solidFill>
              <a:schemeClr val="accent1"/>
            </a:solidFill>
            <a:prstDash val="solid"/>
          </a:ln>
        </p:spPr>
      </p:sp>
      <p:pic>
        <p:nvPicPr>
          <p:cNvPr id="9" name="Image 1" descr="FaCamera">    </p:cNvPr>
          <p:cNvPicPr>
            <a:picLocks noChangeAspect="1"/>
          </p:cNvPicPr>
          <p:nvPr/>
        </p:nvPicPr>
        <p:blipFill>
          <a:blip r:embed="rId2"/>
          <a:stretch>
            <a:fillRect/>
          </a:stretch>
        </p:blipFill>
        <p:spPr>
          <a:xfrm>
            <a:off x="10469880" y="2286000"/>
            <a:ext cx="777240" cy="777240"/>
          </a:xfrm>
          <a:prstGeom prst="rect">
            <a:avLst/>
          </a:prstGeom>
        </p:spPr>
      </p:pic>
      <p:sp>
        <p:nvSpPr>
          <p:cNvPr id="10" name="Tuile icône"/>
          <p:cNvSpPr/>
          <p:nvPr/>
        </p:nvSpPr>
        <p:spPr>
          <a:xfrm>
            <a:off x="8138160" y="3703320"/>
            <a:ext cx="1691640" cy="1691640"/>
          </a:xfrm>
          <a:prstGeom prst="roundRect">
            <a:avLst>
              <a:gd name="adj" fmla="val 10811"/>
            </a:avLst>
          </a:prstGeom>
          <a:solidFill>
            <a:schemeClr val="accent1"/>
          </a:solidFill>
          <a:ln w="12700">
            <a:solidFill>
              <a:schemeClr val="accent1"/>
            </a:solidFill>
            <a:prstDash val="solid"/>
          </a:ln>
        </p:spPr>
      </p:sp>
      <p:pic>
        <p:nvPicPr>
          <p:cNvPr id="11" name="Image 2" descr="FaFileAlt">    </p:cNvPr>
          <p:cNvPicPr>
            <a:picLocks noChangeAspect="1"/>
          </p:cNvPicPr>
          <p:nvPr/>
        </p:nvPicPr>
        <p:blipFill>
          <a:blip r:embed="rId3"/>
          <a:stretch>
            <a:fillRect/>
          </a:stretch>
        </p:blipFill>
        <p:spPr>
          <a:xfrm>
            <a:off x="8595360" y="4160520"/>
            <a:ext cx="777240" cy="777240"/>
          </a:xfrm>
          <a:prstGeom prst="rect">
            <a:avLst/>
          </a:prstGeom>
        </p:spPr>
      </p:pic>
      <p:sp>
        <p:nvSpPr>
          <p:cNvPr id="12" name="Tuile icône"/>
          <p:cNvSpPr/>
          <p:nvPr/>
        </p:nvSpPr>
        <p:spPr>
          <a:xfrm>
            <a:off x="10012680" y="3703320"/>
            <a:ext cx="1691640" cy="1691640"/>
          </a:xfrm>
          <a:prstGeom prst="roundRect">
            <a:avLst>
              <a:gd name="adj" fmla="val 10811"/>
            </a:avLst>
          </a:prstGeom>
          <a:solidFill>
            <a:schemeClr val="accent1">
              <a:alpha val="75000"/>
            </a:schemeClr>
          </a:solidFill>
          <a:ln w="12700">
            <a:solidFill>
              <a:schemeClr val="accent1"/>
            </a:solidFill>
            <a:prstDash val="solid"/>
          </a:ln>
        </p:spPr>
      </p:sp>
      <p:pic>
        <p:nvPicPr>
          <p:cNvPr id="13" name="Image 3" descr="FaComments">    </p:cNvPr>
          <p:cNvPicPr>
            <a:picLocks noChangeAspect="1"/>
          </p:cNvPicPr>
          <p:nvPr/>
        </p:nvPicPr>
        <p:blipFill>
          <a:blip r:embed="rId4"/>
          <a:stretch>
            <a:fillRect/>
          </a:stretch>
        </p:blipFill>
        <p:spPr>
          <a:xfrm>
            <a:off x="10469880" y="4160520"/>
            <a:ext cx="777240" cy="777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0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Accueil, présence et consentement</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Text 4"/>
          <p:cNvSpPr txBox="1"/>
          <p:nvPr/>
        </p:nvSpPr>
        <p:spPr>
          <a:xfrm>
            <a:off x="548640" y="1463040"/>
            <a:ext cx="8991295" cy="2334768"/>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Signez la feuille de présence (arrivée).</a:t>
            </a:r>
            <a:endParaRPr lang="en-US" sz="2400" dirty="0"/>
          </a:p>
          <a:p>
            <a:pPr marL="342900" indent="-342900">
              <a:spcAft>
                <a:spcPts val="1000"/>
              </a:spcAft>
              <a:buSzPct val="100000"/>
              <a:buFont typeface="+mj-lt"/>
              <a:buAutoNum type="arabicPeriod" startAt="1"/>
            </a:pPr>
            <a:r>
              <a:rPr lang="en-US" sz="2400" dirty="0">
                <a:solidFill>
                  <a:schemeClr val="tx1"/>
                </a:solidFill>
              </a:rPr>
              <a:t>Lisez puis signez le formulaire de consentement : il explique ce que nous faisons de vos informations.</a:t>
            </a:r>
            <a:endParaRPr lang="en-US" sz="2400" dirty="0"/>
          </a:p>
          <a:p>
            <a:pPr marL="342900" indent="-342900">
              <a:spcAft>
                <a:spcPts val="1000"/>
              </a:spcAft>
              <a:buSzPct val="100000"/>
              <a:buFont typeface="+mj-lt"/>
              <a:buAutoNum type="arabicPeriod" startAt="1"/>
            </a:pPr>
            <a:r>
              <a:rPr lang="en-US" sz="2400" dirty="0">
                <a:solidFill>
                  <a:schemeClr val="tx1"/>
                </a:solidFill>
              </a:rPr>
              <a:t>Installez-vous à un poste. Vous gardez le même poste toute la séance.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HandsHelping">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0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Nos 5 règles de la séance</a:t>
            </a:r>
            <a:endParaRPr lang="en-US" sz="2800" dirty="0"/>
          </a:p>
        </p:txBody>
      </p:sp>
      <p:sp>
        <p:nvSpPr>
          <p:cNvPr id="4" name="Carte"/>
          <p:cNvSpPr/>
          <p:nvPr/>
        </p:nvSpPr>
        <p:spPr>
          <a:xfrm>
            <a:off x="548640" y="1463040"/>
            <a:ext cx="11094415" cy="822960"/>
          </a:xfrm>
          <a:prstGeom prst="roundRect">
            <a:avLst>
              <a:gd name="adj" fmla="val 13333"/>
            </a:avLst>
          </a:prstGeom>
          <a:solidFill>
            <a:schemeClr val="bg2"/>
          </a:solidFill>
          <a:ln w="12700">
            <a:solidFill>
              <a:schemeClr val="bg2"/>
            </a:solidFill>
            <a:prstDash val="solid"/>
          </a:ln>
        </p:spPr>
      </p:sp>
      <p:sp>
        <p:nvSpPr>
          <p:cNvPr id="5" name="Badge icône"/>
          <p:cNvSpPr/>
          <p:nvPr/>
        </p:nvSpPr>
        <p:spPr>
          <a:xfrm>
            <a:off x="731520" y="1554480"/>
            <a:ext cx="640080" cy="640080"/>
          </a:xfrm>
          <a:prstGeom prst="ellipse">
            <a:avLst/>
          </a:prstGeom>
          <a:solidFill>
            <a:srgbClr val="2F7BD0"/>
          </a:solidFill>
          <a:ln w="12700">
            <a:solidFill>
              <a:srgbClr val="2F7BD0"/>
            </a:solidFill>
            <a:prstDash val="solid"/>
          </a:ln>
        </p:spPr>
      </p:sp>
      <p:pic>
        <p:nvPicPr>
          <p:cNvPr id="6" name="Image 0" descr="FaClock">    </p:cNvPr>
          <p:cNvPicPr>
            <a:picLocks noChangeAspect="1"/>
          </p:cNvPicPr>
          <p:nvPr/>
        </p:nvPicPr>
        <p:blipFill>
          <a:blip r:embed="rId1"/>
          <a:stretch>
            <a:fillRect/>
          </a:stretch>
        </p:blipFill>
        <p:spPr>
          <a:xfrm>
            <a:off x="885139" y="1708099"/>
            <a:ext cx="332842" cy="332842"/>
          </a:xfrm>
          <a:prstGeom prst="rect">
            <a:avLst/>
          </a:prstGeom>
        </p:spPr>
      </p:pic>
      <p:sp>
        <p:nvSpPr>
          <p:cNvPr id="7" name="Text 4"/>
          <p:cNvSpPr txBox="1"/>
          <p:nvPr/>
        </p:nvSpPr>
        <p:spPr>
          <a:xfrm>
            <a:off x="1600200" y="1463040"/>
            <a:ext cx="9814255" cy="822960"/>
          </a:xfrm>
          <a:prstGeom prst="rect">
            <a:avLst/>
          </a:prstGeom>
          <a:noFill/>
          <a:ln/>
        </p:spPr>
        <p:txBody>
          <a:bodyPr wrap="square" lIns="0" tIns="0" rIns="0" bIns="0" rtlCol="0" anchor="ctr"/>
          <a:lstStyle/>
          <a:p>
            <a:pPr indent="0" marL="0">
              <a:buNone/>
            </a:pPr>
            <a:r>
              <a:rPr lang="en-US" sz="2000" b="1" dirty="0">
                <a:solidFill>
                  <a:schemeClr val="tx2"/>
                </a:solidFill>
              </a:rPr>
              <a:t>Je suis à l’heure</a:t>
            </a:r>
            <a:pPr indent="0" marL="0">
              <a:buNone/>
            </a:pPr>
            <a:r>
              <a:rPr lang="en-US" sz="2000" dirty="0">
                <a:solidFill>
                  <a:schemeClr val="tx1"/>
                </a:solidFill>
              </a:rPr>
              <a:t>   Je signe la feuille de présence à l’arrivée et au départ.</a:t>
            </a:r>
            <a:endParaRPr lang="en-US" sz="2000" dirty="0"/>
          </a:p>
        </p:txBody>
      </p:sp>
      <p:sp>
        <p:nvSpPr>
          <p:cNvPr id="8" name="Carte"/>
          <p:cNvSpPr/>
          <p:nvPr/>
        </p:nvSpPr>
        <p:spPr>
          <a:xfrm>
            <a:off x="548640" y="2414016"/>
            <a:ext cx="11094415" cy="822960"/>
          </a:xfrm>
          <a:prstGeom prst="roundRect">
            <a:avLst>
              <a:gd name="adj" fmla="val 13333"/>
            </a:avLst>
          </a:prstGeom>
          <a:solidFill>
            <a:schemeClr val="bg2"/>
          </a:solidFill>
          <a:ln w="12700">
            <a:solidFill>
              <a:schemeClr val="bg2"/>
            </a:solidFill>
            <a:prstDash val="solid"/>
          </a:ln>
        </p:spPr>
      </p:sp>
      <p:sp>
        <p:nvSpPr>
          <p:cNvPr id="9" name="Badge icône"/>
          <p:cNvSpPr/>
          <p:nvPr/>
        </p:nvSpPr>
        <p:spPr>
          <a:xfrm>
            <a:off x="731520" y="2505456"/>
            <a:ext cx="640080" cy="640080"/>
          </a:xfrm>
          <a:prstGeom prst="ellipse">
            <a:avLst/>
          </a:prstGeom>
          <a:solidFill>
            <a:srgbClr val="2F7BD0"/>
          </a:solidFill>
          <a:ln w="12700">
            <a:solidFill>
              <a:srgbClr val="2F7BD0"/>
            </a:solidFill>
            <a:prstDash val="solid"/>
          </a:ln>
        </p:spPr>
      </p:sp>
      <p:pic>
        <p:nvPicPr>
          <p:cNvPr id="10" name="Image 1" descr="FaHandPaper">    </p:cNvPr>
          <p:cNvPicPr>
            <a:picLocks noChangeAspect="1"/>
          </p:cNvPicPr>
          <p:nvPr/>
        </p:nvPicPr>
        <p:blipFill>
          <a:blip r:embed="rId2"/>
          <a:stretch>
            <a:fillRect/>
          </a:stretch>
        </p:blipFill>
        <p:spPr>
          <a:xfrm>
            <a:off x="885139" y="2659075"/>
            <a:ext cx="332842" cy="332842"/>
          </a:xfrm>
          <a:prstGeom prst="rect">
            <a:avLst/>
          </a:prstGeom>
        </p:spPr>
      </p:pic>
      <p:sp>
        <p:nvSpPr>
          <p:cNvPr id="11" name="Text 7"/>
          <p:cNvSpPr txBox="1"/>
          <p:nvPr/>
        </p:nvSpPr>
        <p:spPr>
          <a:xfrm>
            <a:off x="1600200" y="2414016"/>
            <a:ext cx="9814255" cy="822960"/>
          </a:xfrm>
          <a:prstGeom prst="rect">
            <a:avLst/>
          </a:prstGeom>
          <a:noFill/>
          <a:ln/>
        </p:spPr>
        <p:txBody>
          <a:bodyPr wrap="square" lIns="0" tIns="0" rIns="0" bIns="0" rtlCol="0" anchor="ctr"/>
          <a:lstStyle/>
          <a:p>
            <a:pPr indent="0" marL="0">
              <a:buNone/>
            </a:pPr>
            <a:r>
              <a:rPr lang="en-US" sz="2000" b="1" dirty="0">
                <a:solidFill>
                  <a:schemeClr val="tx2"/>
                </a:solidFill>
              </a:rPr>
              <a:t>Je demande de l’aide vite</a:t>
            </a:r>
            <a:pPr indent="0" marL="0">
              <a:buNone/>
            </a:pPr>
            <a:r>
              <a:rPr lang="en-US" sz="2000" dirty="0">
                <a:solidFill>
                  <a:schemeClr val="tx1"/>
                </a:solidFill>
              </a:rPr>
              <a:t>   Je lève la main, ou je demande à mon voisin d’abord.</a:t>
            </a:r>
            <a:endParaRPr lang="en-US" sz="2000" dirty="0"/>
          </a:p>
        </p:txBody>
      </p:sp>
      <p:sp>
        <p:nvSpPr>
          <p:cNvPr id="12" name="Carte"/>
          <p:cNvSpPr/>
          <p:nvPr/>
        </p:nvSpPr>
        <p:spPr>
          <a:xfrm>
            <a:off x="548640" y="3364992"/>
            <a:ext cx="11094415" cy="822960"/>
          </a:xfrm>
          <a:prstGeom prst="roundRect">
            <a:avLst>
              <a:gd name="adj" fmla="val 13333"/>
            </a:avLst>
          </a:prstGeom>
          <a:solidFill>
            <a:schemeClr val="bg2"/>
          </a:solidFill>
          <a:ln w="12700">
            <a:solidFill>
              <a:schemeClr val="bg2"/>
            </a:solidFill>
            <a:prstDash val="solid"/>
          </a:ln>
        </p:spPr>
      </p:sp>
      <p:sp>
        <p:nvSpPr>
          <p:cNvPr id="13" name="Badge icône"/>
          <p:cNvSpPr/>
          <p:nvPr/>
        </p:nvSpPr>
        <p:spPr>
          <a:xfrm>
            <a:off x="731520" y="3456432"/>
            <a:ext cx="640080" cy="640080"/>
          </a:xfrm>
          <a:prstGeom prst="ellipse">
            <a:avLst/>
          </a:prstGeom>
          <a:solidFill>
            <a:srgbClr val="2F7BD0"/>
          </a:solidFill>
          <a:ln w="12700">
            <a:solidFill>
              <a:srgbClr val="2F7BD0"/>
            </a:solidFill>
            <a:prstDash val="solid"/>
          </a:ln>
        </p:spPr>
      </p:sp>
      <p:pic>
        <p:nvPicPr>
          <p:cNvPr id="14" name="Image 2" descr="FaUsers">    </p:cNvPr>
          <p:cNvPicPr>
            <a:picLocks noChangeAspect="1"/>
          </p:cNvPicPr>
          <p:nvPr/>
        </p:nvPicPr>
        <p:blipFill>
          <a:blip r:embed="rId3"/>
          <a:stretch>
            <a:fillRect/>
          </a:stretch>
        </p:blipFill>
        <p:spPr>
          <a:xfrm>
            <a:off x="885139" y="3610051"/>
            <a:ext cx="332842" cy="332842"/>
          </a:xfrm>
          <a:prstGeom prst="rect">
            <a:avLst/>
          </a:prstGeom>
        </p:spPr>
      </p:pic>
      <p:sp>
        <p:nvSpPr>
          <p:cNvPr id="15" name="Text 10"/>
          <p:cNvSpPr txBox="1"/>
          <p:nvPr/>
        </p:nvSpPr>
        <p:spPr>
          <a:xfrm>
            <a:off x="1600200" y="3364992"/>
            <a:ext cx="9814255" cy="822960"/>
          </a:xfrm>
          <a:prstGeom prst="rect">
            <a:avLst/>
          </a:prstGeom>
          <a:noFill/>
          <a:ln/>
        </p:spPr>
        <p:txBody>
          <a:bodyPr wrap="square" lIns="0" tIns="0" rIns="0" bIns="0" rtlCol="0" anchor="ctr"/>
          <a:lstStyle/>
          <a:p>
            <a:pPr indent="0" marL="0">
              <a:buNone/>
            </a:pPr>
            <a:r>
              <a:rPr lang="en-US" sz="2000" b="1" dirty="0">
                <a:solidFill>
                  <a:schemeClr val="tx2"/>
                </a:solidFill>
              </a:rPr>
              <a:t>J’aide mon voisin</a:t>
            </a:r>
            <a:pPr indent="0" marL="0">
              <a:buNone/>
            </a:pPr>
            <a:r>
              <a:rPr lang="en-US" sz="2000" dirty="0">
                <a:solidFill>
                  <a:schemeClr val="tx1"/>
                </a:solidFill>
              </a:rPr>
              <a:t>   Sans faire à sa place.</a:t>
            </a:r>
            <a:endParaRPr lang="en-US" sz="2000" dirty="0"/>
          </a:p>
        </p:txBody>
      </p:sp>
      <p:sp>
        <p:nvSpPr>
          <p:cNvPr id="16" name="Carte"/>
          <p:cNvSpPr/>
          <p:nvPr/>
        </p:nvSpPr>
        <p:spPr>
          <a:xfrm>
            <a:off x="548640" y="4315968"/>
            <a:ext cx="11094415" cy="822960"/>
          </a:xfrm>
          <a:prstGeom prst="roundRect">
            <a:avLst>
              <a:gd name="adj" fmla="val 13333"/>
            </a:avLst>
          </a:prstGeom>
          <a:solidFill>
            <a:schemeClr val="bg2"/>
          </a:solidFill>
          <a:ln w="12700">
            <a:solidFill>
              <a:schemeClr val="bg2"/>
            </a:solidFill>
            <a:prstDash val="solid"/>
          </a:ln>
        </p:spPr>
      </p:sp>
      <p:sp>
        <p:nvSpPr>
          <p:cNvPr id="17" name="Badge icône"/>
          <p:cNvSpPr/>
          <p:nvPr/>
        </p:nvSpPr>
        <p:spPr>
          <a:xfrm>
            <a:off x="731520" y="4407408"/>
            <a:ext cx="640080" cy="640080"/>
          </a:xfrm>
          <a:prstGeom prst="ellipse">
            <a:avLst/>
          </a:prstGeom>
          <a:solidFill>
            <a:srgbClr val="2F7BD0"/>
          </a:solidFill>
          <a:ln w="12700">
            <a:solidFill>
              <a:srgbClr val="2F7BD0"/>
            </a:solidFill>
            <a:prstDash val="solid"/>
          </a:ln>
        </p:spPr>
      </p:sp>
      <p:pic>
        <p:nvPicPr>
          <p:cNvPr id="18" name="Image 3" descr="FaUserShield">    </p:cNvPr>
          <p:cNvPicPr>
            <a:picLocks noChangeAspect="1"/>
          </p:cNvPicPr>
          <p:nvPr/>
        </p:nvPicPr>
        <p:blipFill>
          <a:blip r:embed="rId4"/>
          <a:stretch>
            <a:fillRect/>
          </a:stretch>
        </p:blipFill>
        <p:spPr>
          <a:xfrm>
            <a:off x="885139" y="4561027"/>
            <a:ext cx="332842" cy="332842"/>
          </a:xfrm>
          <a:prstGeom prst="rect">
            <a:avLst/>
          </a:prstGeom>
        </p:spPr>
      </p:pic>
      <p:sp>
        <p:nvSpPr>
          <p:cNvPr id="19" name="Text 13"/>
          <p:cNvSpPr txBox="1"/>
          <p:nvPr/>
        </p:nvSpPr>
        <p:spPr>
          <a:xfrm>
            <a:off x="1600200" y="4315968"/>
            <a:ext cx="9814255" cy="822960"/>
          </a:xfrm>
          <a:prstGeom prst="rect">
            <a:avLst/>
          </a:prstGeom>
          <a:noFill/>
          <a:ln/>
        </p:spPr>
        <p:txBody>
          <a:bodyPr wrap="square" lIns="0" tIns="0" rIns="0" bIns="0" rtlCol="0" anchor="ctr"/>
          <a:lstStyle/>
          <a:p>
            <a:pPr indent="0" marL="0">
              <a:buNone/>
            </a:pPr>
            <a:r>
              <a:rPr lang="en-US" sz="2000" b="1" dirty="0">
                <a:solidFill>
                  <a:schemeClr val="tx2"/>
                </a:solidFill>
              </a:rPr>
              <a:t>Ce qui est dit ici reste ici</a:t>
            </a:r>
            <a:pPr indent="0" marL="0">
              <a:buNone/>
            </a:pPr>
            <a:r>
              <a:rPr lang="en-US" sz="2000" dirty="0">
                <a:solidFill>
                  <a:schemeClr val="tx1"/>
                </a:solidFill>
              </a:rPr>
              <a:t>   Pas de photo des autres ni de leurs écrans.</a:t>
            </a:r>
            <a:endParaRPr lang="en-US" sz="2000" dirty="0"/>
          </a:p>
        </p:txBody>
      </p:sp>
      <p:sp>
        <p:nvSpPr>
          <p:cNvPr id="20" name="Carte"/>
          <p:cNvSpPr/>
          <p:nvPr/>
        </p:nvSpPr>
        <p:spPr>
          <a:xfrm>
            <a:off x="548640" y="5266944"/>
            <a:ext cx="11094415" cy="822960"/>
          </a:xfrm>
          <a:prstGeom prst="roundRect">
            <a:avLst>
              <a:gd name="adj" fmla="val 13333"/>
            </a:avLst>
          </a:prstGeom>
          <a:solidFill>
            <a:schemeClr val="bg2"/>
          </a:solidFill>
          <a:ln w="12700">
            <a:solidFill>
              <a:schemeClr val="bg2"/>
            </a:solidFill>
            <a:prstDash val="solid"/>
          </a:ln>
        </p:spPr>
      </p:sp>
      <p:sp>
        <p:nvSpPr>
          <p:cNvPr id="21" name="Badge icône"/>
          <p:cNvSpPr/>
          <p:nvPr/>
        </p:nvSpPr>
        <p:spPr>
          <a:xfrm>
            <a:off x="731520" y="5358384"/>
            <a:ext cx="640080" cy="640080"/>
          </a:xfrm>
          <a:prstGeom prst="ellipse">
            <a:avLst/>
          </a:prstGeom>
          <a:solidFill>
            <a:srgbClr val="2F7BD0"/>
          </a:solidFill>
          <a:ln w="12700">
            <a:solidFill>
              <a:srgbClr val="2F7BD0"/>
            </a:solidFill>
            <a:prstDash val="solid"/>
          </a:ln>
        </p:spPr>
      </p:sp>
      <p:pic>
        <p:nvPicPr>
          <p:cNvPr id="22" name="Image 4" descr="FaLock">    </p:cNvPr>
          <p:cNvPicPr>
            <a:picLocks noChangeAspect="1"/>
          </p:cNvPicPr>
          <p:nvPr/>
        </p:nvPicPr>
        <p:blipFill>
          <a:blip r:embed="rId5"/>
          <a:stretch>
            <a:fillRect/>
          </a:stretch>
        </p:blipFill>
        <p:spPr>
          <a:xfrm>
            <a:off x="885139" y="5512003"/>
            <a:ext cx="332842" cy="332842"/>
          </a:xfrm>
          <a:prstGeom prst="rect">
            <a:avLst/>
          </a:prstGeom>
        </p:spPr>
      </p:pic>
      <p:sp>
        <p:nvSpPr>
          <p:cNvPr id="23" name="Text 16"/>
          <p:cNvSpPr txBox="1"/>
          <p:nvPr/>
        </p:nvSpPr>
        <p:spPr>
          <a:xfrm>
            <a:off x="1600200" y="5266944"/>
            <a:ext cx="9814255" cy="822960"/>
          </a:xfrm>
          <a:prstGeom prst="rect">
            <a:avLst/>
          </a:prstGeom>
          <a:noFill/>
          <a:ln/>
        </p:spPr>
        <p:txBody>
          <a:bodyPr wrap="square" lIns="0" tIns="0" rIns="0" bIns="0" rtlCol="0" anchor="ctr"/>
          <a:lstStyle/>
          <a:p>
            <a:pPr indent="0" marL="0">
              <a:buNone/>
            </a:pPr>
            <a:r>
              <a:rPr lang="en-US" sz="2000" b="1" dirty="0">
                <a:solidFill>
                  <a:schemeClr val="tx2"/>
                </a:solidFill>
              </a:rPr>
              <a:t>Je ne donne que le nécessaire</a:t>
            </a:r>
            <a:pPr indent="0" marL="0">
              <a:buNone/>
            </a:pPr>
            <a:r>
              <a:rPr lang="en-US" sz="2000" dirty="0">
                <a:solidFill>
                  <a:schemeClr val="tx1"/>
                </a:solidFill>
              </a:rPr>
              <a:t>   Pas de mot de passe, pas de numéro de pièce d’identité.</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0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Le programme de la journée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Carte"/>
          <p:cNvSpPr/>
          <p:nvPr/>
        </p:nvSpPr>
        <p:spPr>
          <a:xfrm>
            <a:off x="548640" y="1463040"/>
            <a:ext cx="2567864"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731520" y="155448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0h00 – 0h08</a:t>
            </a:r>
            <a:endParaRPr lang="en-US" sz="1400" dirty="0"/>
          </a:p>
        </p:txBody>
      </p:sp>
      <p:sp>
        <p:nvSpPr>
          <p:cNvPr id="8" name="Text 6"/>
          <p:cNvSpPr txBox="1"/>
          <p:nvPr/>
        </p:nvSpPr>
        <p:spPr>
          <a:xfrm>
            <a:off x="731520" y="187452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Accueil</a:t>
            </a:r>
            <a:endParaRPr lang="en-US" sz="1800" dirty="0"/>
          </a:p>
        </p:txBody>
      </p:sp>
      <p:sp>
        <p:nvSpPr>
          <p:cNvPr id="9" name="Text 7"/>
          <p:cNvSpPr txBox="1"/>
          <p:nvPr/>
        </p:nvSpPr>
        <p:spPr>
          <a:xfrm>
            <a:off x="731520" y="246888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8 min</a:t>
            </a:r>
            <a:endParaRPr lang="en-US" sz="1400" dirty="0"/>
          </a:p>
        </p:txBody>
      </p:sp>
      <p:sp>
        <p:nvSpPr>
          <p:cNvPr id="10" name="Carte"/>
          <p:cNvSpPr/>
          <p:nvPr/>
        </p:nvSpPr>
        <p:spPr>
          <a:xfrm>
            <a:off x="3390824" y="1463040"/>
            <a:ext cx="2567864" cy="1417320"/>
          </a:xfrm>
          <a:prstGeom prst="roundRect">
            <a:avLst>
              <a:gd name="adj" fmla="val 7742"/>
            </a:avLst>
          </a:prstGeom>
          <a:solidFill>
            <a:schemeClr val="bg2"/>
          </a:solidFill>
          <a:ln w="12700">
            <a:solidFill>
              <a:schemeClr val="bg2"/>
            </a:solidFill>
            <a:prstDash val="solid"/>
          </a:ln>
        </p:spPr>
      </p:sp>
      <p:sp>
        <p:nvSpPr>
          <p:cNvPr id="11" name="Text 9"/>
          <p:cNvSpPr txBox="1"/>
          <p:nvPr/>
        </p:nvSpPr>
        <p:spPr>
          <a:xfrm>
            <a:off x="3573704" y="155448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0h08 – 0h23</a:t>
            </a:r>
            <a:endParaRPr lang="en-US" sz="1400" dirty="0"/>
          </a:p>
        </p:txBody>
      </p:sp>
      <p:sp>
        <p:nvSpPr>
          <p:cNvPr id="12" name="Text 10"/>
          <p:cNvSpPr txBox="1"/>
          <p:nvPr/>
        </p:nvSpPr>
        <p:spPr>
          <a:xfrm>
            <a:off x="3573704" y="187452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IA et limites</a:t>
            </a:r>
            <a:endParaRPr lang="en-US" sz="1800" dirty="0"/>
          </a:p>
        </p:txBody>
      </p:sp>
      <p:sp>
        <p:nvSpPr>
          <p:cNvPr id="13" name="Text 11"/>
          <p:cNvSpPr txBox="1"/>
          <p:nvPr/>
        </p:nvSpPr>
        <p:spPr>
          <a:xfrm>
            <a:off x="3573704" y="246888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15 min</a:t>
            </a:r>
            <a:endParaRPr lang="en-US" sz="1400" dirty="0"/>
          </a:p>
        </p:txBody>
      </p:sp>
      <p:sp>
        <p:nvSpPr>
          <p:cNvPr id="14" name="Carte"/>
          <p:cNvSpPr/>
          <p:nvPr/>
        </p:nvSpPr>
        <p:spPr>
          <a:xfrm>
            <a:off x="6233008" y="1463040"/>
            <a:ext cx="2567864" cy="1417320"/>
          </a:xfrm>
          <a:prstGeom prst="roundRect">
            <a:avLst>
              <a:gd name="adj" fmla="val 7742"/>
            </a:avLst>
          </a:prstGeom>
          <a:solidFill>
            <a:schemeClr val="bg2"/>
          </a:solidFill>
          <a:ln w="12700">
            <a:solidFill>
              <a:schemeClr val="bg2"/>
            </a:solidFill>
            <a:prstDash val="solid"/>
          </a:ln>
        </p:spPr>
      </p:sp>
      <p:sp>
        <p:nvSpPr>
          <p:cNvPr id="15" name="Text 13"/>
          <p:cNvSpPr txBox="1"/>
          <p:nvPr/>
        </p:nvSpPr>
        <p:spPr>
          <a:xfrm>
            <a:off x="6415888" y="155448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0h23 – 0h43</a:t>
            </a:r>
            <a:endParaRPr lang="en-US" sz="1400" dirty="0"/>
          </a:p>
        </p:txBody>
      </p:sp>
      <p:sp>
        <p:nvSpPr>
          <p:cNvPr id="16" name="Text 14"/>
          <p:cNvSpPr txBox="1"/>
          <p:nvPr/>
        </p:nvSpPr>
        <p:spPr>
          <a:xfrm>
            <a:off x="6415888" y="187452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TP1 · Veille</a:t>
            </a:r>
            <a:endParaRPr lang="en-US" sz="1800" dirty="0"/>
          </a:p>
        </p:txBody>
      </p:sp>
      <p:sp>
        <p:nvSpPr>
          <p:cNvPr id="17" name="Text 15"/>
          <p:cNvSpPr txBox="1"/>
          <p:nvPr/>
        </p:nvSpPr>
        <p:spPr>
          <a:xfrm>
            <a:off x="6415888" y="246888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20 min</a:t>
            </a:r>
            <a:endParaRPr lang="en-US" sz="1400" dirty="0"/>
          </a:p>
        </p:txBody>
      </p:sp>
      <p:sp>
        <p:nvSpPr>
          <p:cNvPr id="18" name="Carte"/>
          <p:cNvSpPr/>
          <p:nvPr/>
        </p:nvSpPr>
        <p:spPr>
          <a:xfrm>
            <a:off x="9075191" y="1463040"/>
            <a:ext cx="2567864" cy="1417320"/>
          </a:xfrm>
          <a:prstGeom prst="roundRect">
            <a:avLst>
              <a:gd name="adj" fmla="val 7742"/>
            </a:avLst>
          </a:prstGeom>
          <a:solidFill>
            <a:schemeClr val="bg2"/>
          </a:solidFill>
          <a:ln w="12700">
            <a:solidFill>
              <a:schemeClr val="bg2"/>
            </a:solidFill>
            <a:prstDash val="solid"/>
          </a:ln>
        </p:spPr>
      </p:sp>
      <p:sp>
        <p:nvSpPr>
          <p:cNvPr id="19" name="Text 17"/>
          <p:cNvSpPr txBox="1"/>
          <p:nvPr/>
        </p:nvSpPr>
        <p:spPr>
          <a:xfrm>
            <a:off x="9258071" y="155448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0h43 – 1h08</a:t>
            </a:r>
            <a:endParaRPr lang="en-US" sz="1400" dirty="0"/>
          </a:p>
        </p:txBody>
      </p:sp>
      <p:sp>
        <p:nvSpPr>
          <p:cNvPr id="20" name="Text 18"/>
          <p:cNvSpPr txBox="1"/>
          <p:nvPr/>
        </p:nvSpPr>
        <p:spPr>
          <a:xfrm>
            <a:off x="9258071" y="187452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TP2 · Photo pro</a:t>
            </a:r>
            <a:endParaRPr lang="en-US" sz="1800" dirty="0"/>
          </a:p>
        </p:txBody>
      </p:sp>
      <p:sp>
        <p:nvSpPr>
          <p:cNvPr id="21" name="Text 19"/>
          <p:cNvSpPr txBox="1"/>
          <p:nvPr/>
        </p:nvSpPr>
        <p:spPr>
          <a:xfrm>
            <a:off x="9258071" y="246888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25 min</a:t>
            </a:r>
            <a:endParaRPr lang="en-US" sz="1400" dirty="0"/>
          </a:p>
        </p:txBody>
      </p:sp>
      <p:sp>
        <p:nvSpPr>
          <p:cNvPr id="22" name="Carte"/>
          <p:cNvSpPr/>
          <p:nvPr/>
        </p:nvSpPr>
        <p:spPr>
          <a:xfrm>
            <a:off x="548640" y="3108960"/>
            <a:ext cx="2567864" cy="1417320"/>
          </a:xfrm>
          <a:prstGeom prst="roundRect">
            <a:avLst>
              <a:gd name="adj" fmla="val 7742"/>
            </a:avLst>
          </a:prstGeom>
          <a:solidFill>
            <a:schemeClr val="bg2"/>
          </a:solidFill>
          <a:ln w="12700">
            <a:solidFill>
              <a:schemeClr val="bg2"/>
            </a:solidFill>
            <a:prstDash val="solid"/>
          </a:ln>
        </p:spPr>
      </p:sp>
      <p:sp>
        <p:nvSpPr>
          <p:cNvPr id="23" name="Text 21"/>
          <p:cNvSpPr txBox="1"/>
          <p:nvPr/>
        </p:nvSpPr>
        <p:spPr>
          <a:xfrm>
            <a:off x="731520" y="320040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1h08 – 1h33</a:t>
            </a:r>
            <a:endParaRPr lang="en-US" sz="1400" dirty="0"/>
          </a:p>
        </p:txBody>
      </p:sp>
      <p:sp>
        <p:nvSpPr>
          <p:cNvPr id="24" name="Text 22"/>
          <p:cNvSpPr txBox="1"/>
          <p:nvPr/>
        </p:nvSpPr>
        <p:spPr>
          <a:xfrm>
            <a:off x="731520" y="352044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TP3 · CV</a:t>
            </a:r>
            <a:endParaRPr lang="en-US" sz="1800" dirty="0"/>
          </a:p>
        </p:txBody>
      </p:sp>
      <p:sp>
        <p:nvSpPr>
          <p:cNvPr id="25" name="Text 23"/>
          <p:cNvSpPr txBox="1"/>
          <p:nvPr/>
        </p:nvSpPr>
        <p:spPr>
          <a:xfrm>
            <a:off x="731520" y="411480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25 min</a:t>
            </a:r>
            <a:endParaRPr lang="en-US" sz="1400" dirty="0"/>
          </a:p>
        </p:txBody>
      </p:sp>
      <p:sp>
        <p:nvSpPr>
          <p:cNvPr id="26" name="Carte"/>
          <p:cNvSpPr/>
          <p:nvPr/>
        </p:nvSpPr>
        <p:spPr>
          <a:xfrm>
            <a:off x="3390824" y="3108960"/>
            <a:ext cx="2567864" cy="1417320"/>
          </a:xfrm>
          <a:prstGeom prst="roundRect">
            <a:avLst>
              <a:gd name="adj" fmla="val 7742"/>
            </a:avLst>
          </a:prstGeom>
          <a:solidFill>
            <a:schemeClr val="bg2"/>
          </a:solidFill>
          <a:ln w="12700">
            <a:solidFill>
              <a:schemeClr val="bg2"/>
            </a:solidFill>
            <a:prstDash val="solid"/>
          </a:ln>
        </p:spPr>
      </p:sp>
      <p:sp>
        <p:nvSpPr>
          <p:cNvPr id="27" name="Text 25"/>
          <p:cNvSpPr txBox="1"/>
          <p:nvPr/>
        </p:nvSpPr>
        <p:spPr>
          <a:xfrm>
            <a:off x="3573704" y="320040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1h33 – 1h48</a:t>
            </a:r>
            <a:endParaRPr lang="en-US" sz="1400" dirty="0"/>
          </a:p>
        </p:txBody>
      </p:sp>
      <p:sp>
        <p:nvSpPr>
          <p:cNvPr id="28" name="Text 26"/>
          <p:cNvSpPr txBox="1"/>
          <p:nvPr/>
        </p:nvSpPr>
        <p:spPr>
          <a:xfrm>
            <a:off x="3573704" y="352044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TP4 · Lettre</a:t>
            </a:r>
            <a:endParaRPr lang="en-US" sz="1800" dirty="0"/>
          </a:p>
        </p:txBody>
      </p:sp>
      <p:sp>
        <p:nvSpPr>
          <p:cNvPr id="29" name="Text 27"/>
          <p:cNvSpPr txBox="1"/>
          <p:nvPr/>
        </p:nvSpPr>
        <p:spPr>
          <a:xfrm>
            <a:off x="3573704" y="411480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15 min</a:t>
            </a:r>
            <a:endParaRPr lang="en-US" sz="1400" dirty="0"/>
          </a:p>
        </p:txBody>
      </p:sp>
      <p:sp>
        <p:nvSpPr>
          <p:cNvPr id="30" name="Carte"/>
          <p:cNvSpPr/>
          <p:nvPr/>
        </p:nvSpPr>
        <p:spPr>
          <a:xfrm>
            <a:off x="6233008" y="3108960"/>
            <a:ext cx="2567864" cy="1417320"/>
          </a:xfrm>
          <a:prstGeom prst="roundRect">
            <a:avLst>
              <a:gd name="adj" fmla="val 7742"/>
            </a:avLst>
          </a:prstGeom>
          <a:solidFill>
            <a:schemeClr val="accent2">
              <a:alpha val="25000"/>
            </a:schemeClr>
          </a:solidFill>
          <a:ln w="12700">
            <a:solidFill>
              <a:schemeClr val="accent2"/>
            </a:solidFill>
            <a:prstDash val="solid"/>
          </a:ln>
        </p:spPr>
      </p:sp>
      <p:sp>
        <p:nvSpPr>
          <p:cNvPr id="31" name="Text 29"/>
          <p:cNvSpPr txBox="1"/>
          <p:nvPr/>
        </p:nvSpPr>
        <p:spPr>
          <a:xfrm>
            <a:off x="6415888" y="320040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1h48 – 2h03</a:t>
            </a:r>
            <a:endParaRPr lang="en-US" sz="1400" dirty="0"/>
          </a:p>
        </p:txBody>
      </p:sp>
      <p:sp>
        <p:nvSpPr>
          <p:cNvPr id="32" name="Text 30"/>
          <p:cNvSpPr txBox="1"/>
          <p:nvPr/>
        </p:nvSpPr>
        <p:spPr>
          <a:xfrm>
            <a:off x="6415888" y="352044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Pause</a:t>
            </a:r>
            <a:endParaRPr lang="en-US" sz="1800" dirty="0"/>
          </a:p>
        </p:txBody>
      </p:sp>
      <p:sp>
        <p:nvSpPr>
          <p:cNvPr id="33" name="Text 31"/>
          <p:cNvSpPr txBox="1"/>
          <p:nvPr/>
        </p:nvSpPr>
        <p:spPr>
          <a:xfrm>
            <a:off x="6415888" y="411480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15 min</a:t>
            </a:r>
            <a:endParaRPr lang="en-US" sz="1400" dirty="0"/>
          </a:p>
        </p:txBody>
      </p:sp>
      <p:sp>
        <p:nvSpPr>
          <p:cNvPr id="34" name="Carte"/>
          <p:cNvSpPr/>
          <p:nvPr/>
        </p:nvSpPr>
        <p:spPr>
          <a:xfrm>
            <a:off x="9075191" y="3108960"/>
            <a:ext cx="2567864" cy="1417320"/>
          </a:xfrm>
          <a:prstGeom prst="roundRect">
            <a:avLst>
              <a:gd name="adj" fmla="val 7742"/>
            </a:avLst>
          </a:prstGeom>
          <a:solidFill>
            <a:schemeClr val="bg2"/>
          </a:solidFill>
          <a:ln w="12700">
            <a:solidFill>
              <a:schemeClr val="bg2"/>
            </a:solidFill>
            <a:prstDash val="solid"/>
          </a:ln>
        </p:spPr>
      </p:sp>
      <p:sp>
        <p:nvSpPr>
          <p:cNvPr id="35" name="Text 33"/>
          <p:cNvSpPr txBox="1"/>
          <p:nvPr/>
        </p:nvSpPr>
        <p:spPr>
          <a:xfrm>
            <a:off x="9258071" y="320040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2h03 – 2h28</a:t>
            </a:r>
            <a:endParaRPr lang="en-US" sz="1400" dirty="0"/>
          </a:p>
        </p:txBody>
      </p:sp>
      <p:sp>
        <p:nvSpPr>
          <p:cNvPr id="36" name="Text 34"/>
          <p:cNvSpPr txBox="1"/>
          <p:nvPr/>
        </p:nvSpPr>
        <p:spPr>
          <a:xfrm>
            <a:off x="9258071" y="352044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TP5 · Entretien</a:t>
            </a:r>
            <a:endParaRPr lang="en-US" sz="1800" dirty="0"/>
          </a:p>
        </p:txBody>
      </p:sp>
      <p:sp>
        <p:nvSpPr>
          <p:cNvPr id="37" name="Text 35"/>
          <p:cNvSpPr txBox="1"/>
          <p:nvPr/>
        </p:nvSpPr>
        <p:spPr>
          <a:xfrm>
            <a:off x="9258071" y="411480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25 min</a:t>
            </a:r>
            <a:endParaRPr lang="en-US" sz="1400" dirty="0"/>
          </a:p>
        </p:txBody>
      </p:sp>
      <p:sp>
        <p:nvSpPr>
          <p:cNvPr id="38" name="Carte"/>
          <p:cNvSpPr/>
          <p:nvPr/>
        </p:nvSpPr>
        <p:spPr>
          <a:xfrm>
            <a:off x="548640" y="4754880"/>
            <a:ext cx="2567864" cy="1417320"/>
          </a:xfrm>
          <a:prstGeom prst="roundRect">
            <a:avLst>
              <a:gd name="adj" fmla="val 7742"/>
            </a:avLst>
          </a:prstGeom>
          <a:solidFill>
            <a:schemeClr val="bg2"/>
          </a:solidFill>
          <a:ln w="12700">
            <a:solidFill>
              <a:schemeClr val="bg2"/>
            </a:solidFill>
            <a:prstDash val="solid"/>
          </a:ln>
        </p:spPr>
      </p:sp>
      <p:sp>
        <p:nvSpPr>
          <p:cNvPr id="39" name="Text 37"/>
          <p:cNvSpPr txBox="1"/>
          <p:nvPr/>
        </p:nvSpPr>
        <p:spPr>
          <a:xfrm>
            <a:off x="731520" y="484632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2h28 – 2h48</a:t>
            </a:r>
            <a:endParaRPr lang="en-US" sz="1400" dirty="0"/>
          </a:p>
        </p:txBody>
      </p:sp>
      <p:sp>
        <p:nvSpPr>
          <p:cNvPr id="40" name="Text 38"/>
          <p:cNvSpPr txBox="1"/>
          <p:nvPr/>
        </p:nvSpPr>
        <p:spPr>
          <a:xfrm>
            <a:off x="731520" y="516636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TP6 · Plan 30 jours</a:t>
            </a:r>
            <a:endParaRPr lang="en-US" sz="1800" dirty="0"/>
          </a:p>
        </p:txBody>
      </p:sp>
      <p:sp>
        <p:nvSpPr>
          <p:cNvPr id="41" name="Text 39"/>
          <p:cNvSpPr txBox="1"/>
          <p:nvPr/>
        </p:nvSpPr>
        <p:spPr>
          <a:xfrm>
            <a:off x="731520" y="576072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20 min</a:t>
            </a:r>
            <a:endParaRPr lang="en-US" sz="1400" dirty="0"/>
          </a:p>
        </p:txBody>
      </p:sp>
      <p:sp>
        <p:nvSpPr>
          <p:cNvPr id="42" name="Carte"/>
          <p:cNvSpPr/>
          <p:nvPr/>
        </p:nvSpPr>
        <p:spPr>
          <a:xfrm>
            <a:off x="3390824" y="4754880"/>
            <a:ext cx="2567864" cy="1417320"/>
          </a:xfrm>
          <a:prstGeom prst="roundRect">
            <a:avLst>
              <a:gd name="adj" fmla="val 7742"/>
            </a:avLst>
          </a:prstGeom>
          <a:solidFill>
            <a:schemeClr val="bg2"/>
          </a:solidFill>
          <a:ln w="12700">
            <a:solidFill>
              <a:schemeClr val="bg2"/>
            </a:solidFill>
            <a:prstDash val="solid"/>
          </a:ln>
        </p:spPr>
      </p:sp>
      <p:sp>
        <p:nvSpPr>
          <p:cNvPr id="43" name="Text 41"/>
          <p:cNvSpPr txBox="1"/>
          <p:nvPr/>
        </p:nvSpPr>
        <p:spPr>
          <a:xfrm>
            <a:off x="3573704" y="484632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2h48 – 3h08</a:t>
            </a:r>
            <a:endParaRPr lang="en-US" sz="1400" dirty="0"/>
          </a:p>
        </p:txBody>
      </p:sp>
      <p:sp>
        <p:nvSpPr>
          <p:cNvPr id="44" name="Text 42"/>
          <p:cNvSpPr txBox="1"/>
          <p:nvPr/>
        </p:nvSpPr>
        <p:spPr>
          <a:xfrm>
            <a:off x="3573704" y="516636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Fiche profil</a:t>
            </a:r>
            <a:endParaRPr lang="en-US" sz="1800" dirty="0"/>
          </a:p>
        </p:txBody>
      </p:sp>
      <p:sp>
        <p:nvSpPr>
          <p:cNvPr id="45" name="Text 43"/>
          <p:cNvSpPr txBox="1"/>
          <p:nvPr/>
        </p:nvSpPr>
        <p:spPr>
          <a:xfrm>
            <a:off x="3573704" y="576072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20 min</a:t>
            </a:r>
            <a:endParaRPr lang="en-US" sz="1400" dirty="0"/>
          </a:p>
        </p:txBody>
      </p:sp>
      <p:sp>
        <p:nvSpPr>
          <p:cNvPr id="46" name="Carte"/>
          <p:cNvSpPr/>
          <p:nvPr/>
        </p:nvSpPr>
        <p:spPr>
          <a:xfrm>
            <a:off x="6233008" y="4754880"/>
            <a:ext cx="2567864" cy="1417320"/>
          </a:xfrm>
          <a:prstGeom prst="roundRect">
            <a:avLst>
              <a:gd name="adj" fmla="val 7742"/>
            </a:avLst>
          </a:prstGeom>
          <a:solidFill>
            <a:schemeClr val="bg2"/>
          </a:solidFill>
          <a:ln w="12700">
            <a:solidFill>
              <a:schemeClr val="bg2"/>
            </a:solidFill>
            <a:prstDash val="solid"/>
          </a:ln>
        </p:spPr>
      </p:sp>
      <p:sp>
        <p:nvSpPr>
          <p:cNvPr id="47" name="Text 45"/>
          <p:cNvSpPr txBox="1"/>
          <p:nvPr/>
        </p:nvSpPr>
        <p:spPr>
          <a:xfrm>
            <a:off x="6415888" y="484632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3h08 – 3h52</a:t>
            </a:r>
            <a:endParaRPr lang="en-US" sz="1400" dirty="0"/>
          </a:p>
        </p:txBody>
      </p:sp>
      <p:sp>
        <p:nvSpPr>
          <p:cNvPr id="48" name="Text 46"/>
          <p:cNvSpPr txBox="1"/>
          <p:nvPr/>
        </p:nvSpPr>
        <p:spPr>
          <a:xfrm>
            <a:off x="6415888" y="516636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Présentations</a:t>
            </a:r>
            <a:endParaRPr lang="en-US" sz="1800" dirty="0"/>
          </a:p>
        </p:txBody>
      </p:sp>
      <p:sp>
        <p:nvSpPr>
          <p:cNvPr id="49" name="Text 47"/>
          <p:cNvSpPr txBox="1"/>
          <p:nvPr/>
        </p:nvSpPr>
        <p:spPr>
          <a:xfrm>
            <a:off x="6415888" y="576072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44 min</a:t>
            </a:r>
            <a:endParaRPr lang="en-US" sz="1400" dirty="0"/>
          </a:p>
        </p:txBody>
      </p:sp>
      <p:sp>
        <p:nvSpPr>
          <p:cNvPr id="50" name="Carte"/>
          <p:cNvSpPr/>
          <p:nvPr/>
        </p:nvSpPr>
        <p:spPr>
          <a:xfrm>
            <a:off x="9075191" y="4754880"/>
            <a:ext cx="2567864" cy="1417320"/>
          </a:xfrm>
          <a:prstGeom prst="roundRect">
            <a:avLst>
              <a:gd name="adj" fmla="val 7742"/>
            </a:avLst>
          </a:prstGeom>
          <a:solidFill>
            <a:schemeClr val="bg2"/>
          </a:solidFill>
          <a:ln w="12700">
            <a:solidFill>
              <a:schemeClr val="bg2"/>
            </a:solidFill>
            <a:prstDash val="solid"/>
          </a:ln>
        </p:spPr>
      </p:sp>
      <p:sp>
        <p:nvSpPr>
          <p:cNvPr id="51" name="Text 49"/>
          <p:cNvSpPr txBox="1"/>
          <p:nvPr/>
        </p:nvSpPr>
        <p:spPr>
          <a:xfrm>
            <a:off x="9258071" y="4846320"/>
            <a:ext cx="2202104" cy="320040"/>
          </a:xfrm>
          <a:prstGeom prst="rect">
            <a:avLst/>
          </a:prstGeom>
          <a:noFill/>
          <a:ln/>
        </p:spPr>
        <p:txBody>
          <a:bodyPr wrap="square" lIns="0" tIns="0" rIns="0" bIns="0" rtlCol="0" anchor="ctr"/>
          <a:lstStyle/>
          <a:p>
            <a:pPr indent="0" marL="0">
              <a:buNone/>
            </a:pPr>
            <a:r>
              <a:rPr lang="en-US" sz="1400" b="1" dirty="0">
                <a:solidFill>
                  <a:schemeClr val="accent1"/>
                </a:solidFill>
              </a:rPr>
              <a:t>3h52 – 4h00</a:t>
            </a:r>
            <a:endParaRPr lang="en-US" sz="1400" dirty="0"/>
          </a:p>
        </p:txBody>
      </p:sp>
      <p:sp>
        <p:nvSpPr>
          <p:cNvPr id="52" name="Text 50"/>
          <p:cNvSpPr txBox="1"/>
          <p:nvPr/>
        </p:nvSpPr>
        <p:spPr>
          <a:xfrm>
            <a:off x="9258071" y="5166360"/>
            <a:ext cx="2202104" cy="594360"/>
          </a:xfrm>
          <a:prstGeom prst="rect">
            <a:avLst/>
          </a:prstGeom>
          <a:noFill/>
          <a:ln/>
        </p:spPr>
        <p:txBody>
          <a:bodyPr wrap="square" lIns="0" tIns="0" rIns="0" bIns="0" rtlCol="0" anchor="ctr"/>
          <a:lstStyle/>
          <a:p>
            <a:pPr indent="0" marL="0">
              <a:buNone/>
            </a:pPr>
            <a:r>
              <a:rPr lang="en-US" sz="1800" b="1" dirty="0">
                <a:solidFill>
                  <a:schemeClr val="tx2"/>
                </a:solidFill>
              </a:rPr>
              <a:t>Bilan</a:t>
            </a:r>
            <a:endParaRPr lang="en-US" sz="1800" dirty="0"/>
          </a:p>
        </p:txBody>
      </p:sp>
      <p:sp>
        <p:nvSpPr>
          <p:cNvPr id="53" name="Text 51"/>
          <p:cNvSpPr txBox="1"/>
          <p:nvPr/>
        </p:nvSpPr>
        <p:spPr>
          <a:xfrm>
            <a:off x="9258071" y="5760720"/>
            <a:ext cx="2202104" cy="274320"/>
          </a:xfrm>
          <a:prstGeom prst="rect">
            <a:avLst/>
          </a:prstGeom>
          <a:noFill/>
          <a:ln/>
        </p:spPr>
        <p:txBody>
          <a:bodyPr wrap="square" lIns="0" tIns="0" rIns="0" bIns="0" rtlCol="0" anchor="ctr"/>
          <a:lstStyle/>
          <a:p>
            <a:pPr indent="0" marL="0">
              <a:buNone/>
            </a:pPr>
            <a:r>
              <a:rPr lang="en-US" sz="1400" dirty="0">
                <a:solidFill>
                  <a:schemeClr val="accent5"/>
                </a:solidFill>
              </a:rPr>
              <a:t>8 min</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0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Comment je suis évalué(e)</a:t>
            </a:r>
            <a:endParaRPr lang="en-US" sz="2800" dirty="0"/>
          </a:p>
        </p:txBody>
      </p:sp>
      <p:sp>
        <p:nvSpPr>
          <p:cNvPr id="4" name="Carte"/>
          <p:cNvSpPr/>
          <p:nvPr/>
        </p:nvSpPr>
        <p:spPr>
          <a:xfrm>
            <a:off x="548640" y="1554480"/>
            <a:ext cx="3515258" cy="3291840"/>
          </a:xfrm>
          <a:prstGeom prst="roundRect">
            <a:avLst>
              <a:gd name="adj" fmla="val 3333"/>
            </a:avLst>
          </a:prstGeom>
          <a:solidFill>
            <a:schemeClr val="bg2"/>
          </a:solidFill>
          <a:ln w="12700">
            <a:solidFill>
              <a:schemeClr val="bg2"/>
            </a:solidFill>
            <a:prstDash val="solid"/>
          </a:ln>
        </p:spPr>
      </p:sp>
      <p:sp>
        <p:nvSpPr>
          <p:cNvPr id="5" name="Text 3"/>
          <p:cNvSpPr txBox="1"/>
          <p:nvPr/>
        </p:nvSpPr>
        <p:spPr>
          <a:xfrm>
            <a:off x="548640" y="1737360"/>
            <a:ext cx="3515258" cy="1280160"/>
          </a:xfrm>
          <a:prstGeom prst="rect">
            <a:avLst/>
          </a:prstGeom>
          <a:noFill/>
          <a:ln/>
        </p:spPr>
        <p:txBody>
          <a:bodyPr wrap="square" lIns="0" tIns="0" rIns="0" bIns="0" rtlCol="0" anchor="ctr"/>
          <a:lstStyle/>
          <a:p>
            <a:pPr algn="ctr" indent="0" marL="0">
              <a:buNone/>
            </a:pPr>
            <a:r>
              <a:rPr lang="en-US" sz="6600" b="1" dirty="0">
                <a:solidFill>
                  <a:schemeClr val="accent1"/>
                </a:solidFill>
              </a:rPr>
              <a:t>6 × 10</a:t>
            </a:r>
            <a:endParaRPr lang="en-US" sz="6600" dirty="0"/>
          </a:p>
        </p:txBody>
      </p:sp>
      <p:sp>
        <p:nvSpPr>
          <p:cNvPr id="6" name="Text 4"/>
          <p:cNvSpPr txBox="1"/>
          <p:nvPr/>
        </p:nvSpPr>
        <p:spPr>
          <a:xfrm>
            <a:off x="548640" y="2971800"/>
            <a:ext cx="3515258" cy="457200"/>
          </a:xfrm>
          <a:prstGeom prst="rect">
            <a:avLst/>
          </a:prstGeom>
          <a:noFill/>
          <a:ln/>
        </p:spPr>
        <p:txBody>
          <a:bodyPr wrap="square" lIns="0" tIns="0" rIns="0" bIns="0" rtlCol="0" anchor="ctr"/>
          <a:lstStyle/>
          <a:p>
            <a:pPr algn="ctr" indent="0" marL="0">
              <a:buNone/>
            </a:pPr>
            <a:r>
              <a:rPr lang="en-US" sz="2400" b="1" dirty="0">
                <a:solidFill>
                  <a:schemeClr val="tx2"/>
                </a:solidFill>
              </a:rPr>
              <a:t>60 points</a:t>
            </a:r>
            <a:endParaRPr lang="en-US" sz="2400" dirty="0"/>
          </a:p>
        </p:txBody>
      </p:sp>
      <p:sp>
        <p:nvSpPr>
          <p:cNvPr id="7" name="Text 5"/>
          <p:cNvSpPr txBox="1"/>
          <p:nvPr/>
        </p:nvSpPr>
        <p:spPr>
          <a:xfrm>
            <a:off x="822960" y="3520440"/>
            <a:ext cx="2966618" cy="1097280"/>
          </a:xfrm>
          <a:prstGeom prst="rect">
            <a:avLst/>
          </a:prstGeom>
          <a:noFill/>
          <a:ln/>
        </p:spPr>
        <p:txBody>
          <a:bodyPr wrap="square" lIns="0" tIns="0" rIns="0" bIns="0" rtlCol="0" anchor="t"/>
          <a:lstStyle/>
          <a:p>
            <a:pPr algn="ctr" indent="0" marL="0">
              <a:buNone/>
            </a:pPr>
            <a:r>
              <a:rPr lang="en-US" sz="1800" dirty="0">
                <a:solidFill>
                  <a:schemeClr val="tx1"/>
                </a:solidFill>
              </a:rPr>
              <a:t>Les six TP réalisés et rendus</a:t>
            </a:r>
            <a:endParaRPr lang="en-US" sz="1800" dirty="0"/>
          </a:p>
        </p:txBody>
      </p:sp>
      <p:sp>
        <p:nvSpPr>
          <p:cNvPr id="8" name="Carte"/>
          <p:cNvSpPr/>
          <p:nvPr/>
        </p:nvSpPr>
        <p:spPr>
          <a:xfrm>
            <a:off x="4338218" y="1554480"/>
            <a:ext cx="3515258" cy="3291840"/>
          </a:xfrm>
          <a:prstGeom prst="roundRect">
            <a:avLst>
              <a:gd name="adj" fmla="val 3333"/>
            </a:avLst>
          </a:prstGeom>
          <a:solidFill>
            <a:schemeClr val="bg2"/>
          </a:solidFill>
          <a:ln w="12700">
            <a:solidFill>
              <a:schemeClr val="bg2"/>
            </a:solidFill>
            <a:prstDash val="solid"/>
          </a:ln>
        </p:spPr>
      </p:sp>
      <p:sp>
        <p:nvSpPr>
          <p:cNvPr id="9" name="Text 7"/>
          <p:cNvSpPr txBox="1"/>
          <p:nvPr/>
        </p:nvSpPr>
        <p:spPr>
          <a:xfrm>
            <a:off x="4338218" y="1737360"/>
            <a:ext cx="3515258" cy="1280160"/>
          </a:xfrm>
          <a:prstGeom prst="rect">
            <a:avLst/>
          </a:prstGeom>
          <a:noFill/>
          <a:ln/>
        </p:spPr>
        <p:txBody>
          <a:bodyPr wrap="square" lIns="0" tIns="0" rIns="0" bIns="0" rtlCol="0" anchor="ctr"/>
          <a:lstStyle/>
          <a:p>
            <a:pPr algn="ctr" indent="0" marL="0">
              <a:buNone/>
            </a:pPr>
            <a:r>
              <a:rPr lang="en-US" sz="6600" b="1" dirty="0">
                <a:solidFill>
                  <a:schemeClr val="accent3"/>
                </a:solidFill>
              </a:rPr>
              <a:t>40</a:t>
            </a:r>
            <a:endParaRPr lang="en-US" sz="6600" dirty="0"/>
          </a:p>
        </p:txBody>
      </p:sp>
      <p:sp>
        <p:nvSpPr>
          <p:cNvPr id="10" name="Text 8"/>
          <p:cNvSpPr txBox="1"/>
          <p:nvPr/>
        </p:nvSpPr>
        <p:spPr>
          <a:xfrm>
            <a:off x="4338218" y="2971800"/>
            <a:ext cx="3515258" cy="457200"/>
          </a:xfrm>
          <a:prstGeom prst="rect">
            <a:avLst/>
          </a:prstGeom>
          <a:noFill/>
          <a:ln/>
        </p:spPr>
        <p:txBody>
          <a:bodyPr wrap="square" lIns="0" tIns="0" rIns="0" bIns="0" rtlCol="0" anchor="ctr"/>
          <a:lstStyle/>
          <a:p>
            <a:pPr algn="ctr" indent="0" marL="0">
              <a:buNone/>
            </a:pPr>
            <a:r>
              <a:rPr lang="en-US" sz="2400" b="1" dirty="0">
                <a:solidFill>
                  <a:schemeClr val="tx2"/>
                </a:solidFill>
              </a:rPr>
              <a:t>points</a:t>
            </a:r>
            <a:endParaRPr lang="en-US" sz="2400" dirty="0"/>
          </a:p>
        </p:txBody>
      </p:sp>
      <p:sp>
        <p:nvSpPr>
          <p:cNvPr id="11" name="Text 9"/>
          <p:cNvSpPr txBox="1"/>
          <p:nvPr/>
        </p:nvSpPr>
        <p:spPr>
          <a:xfrm>
            <a:off x="4612538" y="3520440"/>
            <a:ext cx="2966618" cy="1097280"/>
          </a:xfrm>
          <a:prstGeom prst="rect">
            <a:avLst/>
          </a:prstGeom>
          <a:noFill/>
          <a:ln/>
        </p:spPr>
        <p:txBody>
          <a:bodyPr wrap="square" lIns="0" tIns="0" rIns="0" bIns="0" rtlCol="0" anchor="t"/>
          <a:lstStyle/>
          <a:p>
            <a:pPr algn="ctr" indent="0" marL="0">
              <a:buNone/>
            </a:pPr>
            <a:r>
              <a:rPr lang="en-US" sz="1800" dirty="0">
                <a:solidFill>
                  <a:schemeClr val="tx1"/>
                </a:solidFill>
              </a:rPr>
              <a:t>Fiche profil produite, complète, présentée en 2 minutes</a:t>
            </a:r>
            <a:endParaRPr lang="en-US" sz="1800" dirty="0"/>
          </a:p>
        </p:txBody>
      </p:sp>
      <p:sp>
        <p:nvSpPr>
          <p:cNvPr id="12" name="Carte"/>
          <p:cNvSpPr/>
          <p:nvPr/>
        </p:nvSpPr>
        <p:spPr>
          <a:xfrm>
            <a:off x="8127797" y="1554480"/>
            <a:ext cx="3515258" cy="3291840"/>
          </a:xfrm>
          <a:prstGeom prst="roundRect">
            <a:avLst>
              <a:gd name="adj" fmla="val 3333"/>
            </a:avLst>
          </a:prstGeom>
          <a:solidFill>
            <a:schemeClr val="bg2"/>
          </a:solidFill>
          <a:ln w="12700">
            <a:solidFill>
              <a:schemeClr val="bg2"/>
            </a:solidFill>
            <a:prstDash val="solid"/>
          </a:ln>
        </p:spPr>
      </p:sp>
      <p:sp>
        <p:nvSpPr>
          <p:cNvPr id="13" name="Text 11"/>
          <p:cNvSpPr txBox="1"/>
          <p:nvPr/>
        </p:nvSpPr>
        <p:spPr>
          <a:xfrm>
            <a:off x="8127797" y="1737360"/>
            <a:ext cx="3515258" cy="1280160"/>
          </a:xfrm>
          <a:prstGeom prst="rect">
            <a:avLst/>
          </a:prstGeom>
          <a:noFill/>
          <a:ln/>
        </p:spPr>
        <p:txBody>
          <a:bodyPr wrap="square" lIns="0" tIns="0" rIns="0" bIns="0" rtlCol="0" anchor="ctr"/>
          <a:lstStyle/>
          <a:p>
            <a:pPr algn="ctr" indent="0" marL="0">
              <a:buNone/>
            </a:pPr>
            <a:r>
              <a:rPr lang="en-US" sz="6600" b="1" dirty="0">
                <a:solidFill>
                  <a:schemeClr val="tx2"/>
                </a:solidFill>
              </a:rPr>
              <a:t>70</a:t>
            </a:r>
            <a:endParaRPr lang="en-US" sz="6600" dirty="0"/>
          </a:p>
        </p:txBody>
      </p:sp>
      <p:sp>
        <p:nvSpPr>
          <p:cNvPr id="14" name="Text 12"/>
          <p:cNvSpPr txBox="1"/>
          <p:nvPr/>
        </p:nvSpPr>
        <p:spPr>
          <a:xfrm>
            <a:off x="8127797" y="2971800"/>
            <a:ext cx="3515258" cy="457200"/>
          </a:xfrm>
          <a:prstGeom prst="rect">
            <a:avLst/>
          </a:prstGeom>
          <a:noFill/>
          <a:ln/>
        </p:spPr>
        <p:txBody>
          <a:bodyPr wrap="square" lIns="0" tIns="0" rIns="0" bIns="0" rtlCol="0" anchor="ctr"/>
          <a:lstStyle/>
          <a:p>
            <a:pPr algn="ctr" indent="0" marL="0">
              <a:buNone/>
            </a:pPr>
            <a:r>
              <a:rPr lang="en-US" sz="2400" b="1" dirty="0">
                <a:solidFill>
                  <a:schemeClr val="tx2"/>
                </a:solidFill>
              </a:rPr>
              <a:t>sur 100</a:t>
            </a:r>
            <a:endParaRPr lang="en-US" sz="2400" dirty="0"/>
          </a:p>
        </p:txBody>
      </p:sp>
      <p:sp>
        <p:nvSpPr>
          <p:cNvPr id="15" name="Text 13"/>
          <p:cNvSpPr txBox="1"/>
          <p:nvPr/>
        </p:nvSpPr>
        <p:spPr>
          <a:xfrm>
            <a:off x="8402117" y="3520440"/>
            <a:ext cx="2966618" cy="1097280"/>
          </a:xfrm>
          <a:prstGeom prst="rect">
            <a:avLst/>
          </a:prstGeom>
          <a:noFill/>
          <a:ln/>
        </p:spPr>
        <p:txBody>
          <a:bodyPr wrap="square" lIns="0" tIns="0" rIns="0" bIns="0" rtlCol="0" anchor="t"/>
          <a:lstStyle/>
          <a:p>
            <a:pPr algn="ctr" indent="0" marL="0">
              <a:buNone/>
            </a:pPr>
            <a:r>
              <a:rPr lang="en-US" sz="1800" dirty="0">
                <a:solidFill>
                  <a:schemeClr val="tx1"/>
                </a:solidFill>
              </a:rPr>
              <a:t>Seuil pour valider</a:t>
            </a:r>
            <a:endParaRPr lang="en-US" sz="1800" dirty="0"/>
          </a:p>
        </p:txBody>
      </p:sp>
      <p:sp>
        <p:nvSpPr>
          <p:cNvPr id="16" name="Text 14"/>
          <p:cNvSpPr txBox="1"/>
          <p:nvPr/>
        </p:nvSpPr>
        <p:spPr>
          <a:xfrm>
            <a:off x="548640" y="5120640"/>
            <a:ext cx="11094415" cy="548640"/>
          </a:xfrm>
          <a:prstGeom prst="rect">
            <a:avLst/>
          </a:prstGeom>
          <a:noFill/>
          <a:ln/>
        </p:spPr>
        <p:txBody>
          <a:bodyPr wrap="square" lIns="0" tIns="0" rIns="0" bIns="0" rtlCol="0" anchor="ctr"/>
          <a:lstStyle/>
          <a:p>
            <a:pPr indent="0" marL="0">
              <a:buNone/>
            </a:pPr>
            <a:r>
              <a:rPr lang="en-US" sz="2000" dirty="0">
                <a:solidFill>
                  <a:schemeClr val="tx1"/>
                </a:solidFill>
              </a:rPr>
              <a:t>Moins de 70 points ? Rattrapage : quiz Kahoot de sortie, en groupe, en fin de semaine, au Module 5.</a:t>
            </a:r>
            <a:endParaRPr lang="en-US" sz="2000" dirty="0"/>
          </a:p>
        </p:txBody>
      </p:sp>
      <p:sp>
        <p:nvSpPr>
          <p:cNvPr id="17" name="Text 15"/>
          <p:cNvSpPr txBox="1"/>
          <p:nvPr/>
        </p:nvSpPr>
        <p:spPr>
          <a:xfrm>
            <a:off x="548640" y="5715000"/>
            <a:ext cx="11094415" cy="457200"/>
          </a:xfrm>
          <a:prstGeom prst="rect">
            <a:avLst/>
          </a:prstGeom>
          <a:noFill/>
          <a:ln/>
        </p:spPr>
        <p:txBody>
          <a:bodyPr wrap="square" lIns="0" tIns="0" rIns="0" bIns="0" rtlCol="0" anchor="ctr"/>
          <a:lstStyle/>
          <a:p>
            <a:pPr indent="0" marL="0">
              <a:buNone/>
            </a:pPr>
            <a:r>
              <a:rPr lang="en-US" sz="1600" dirty="0">
                <a:solidFill>
                  <a:schemeClr val="accent5"/>
                </a:solidFill>
              </a:rPr>
              <a:t>Chaque TP : 4 questions → rendu (4 pts), conforme (3 pts), vérifié (2 pts), responsable (1 pt). Voir Annexe H.</a:t>
            </a:r>
            <a:endParaRPr lang="en-US" sz="16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0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Test de départ</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Carte"/>
          <p:cNvSpPr/>
          <p:nvPr/>
        </p:nvSpPr>
        <p:spPr>
          <a:xfrm>
            <a:off x="548640" y="1554480"/>
            <a:ext cx="5410048" cy="1051560"/>
          </a:xfrm>
          <a:prstGeom prst="roundRect">
            <a:avLst>
              <a:gd name="adj" fmla="val 10435"/>
            </a:avLst>
          </a:prstGeom>
          <a:solidFill>
            <a:schemeClr val="bg2"/>
          </a:solidFill>
          <a:ln w="12700">
            <a:solidFill>
              <a:schemeClr val="bg2"/>
            </a:solidFill>
            <a:prstDash val="solid"/>
          </a:ln>
        </p:spPr>
      </p:sp>
      <p:sp>
        <p:nvSpPr>
          <p:cNvPr id="7" name="Badge icône"/>
          <p:cNvSpPr/>
          <p:nvPr/>
        </p:nvSpPr>
        <p:spPr>
          <a:xfrm>
            <a:off x="777240" y="1783080"/>
            <a:ext cx="594360" cy="594360"/>
          </a:xfrm>
          <a:prstGeom prst="ellipse">
            <a:avLst/>
          </a:prstGeom>
          <a:solidFill>
            <a:srgbClr val="2E9E6B"/>
          </a:solidFill>
          <a:ln w="12700">
            <a:solidFill>
              <a:srgbClr val="2E9E6B"/>
            </a:solidFill>
            <a:prstDash val="solid"/>
          </a:ln>
        </p:spPr>
      </p:sp>
      <p:pic>
        <p:nvPicPr>
          <p:cNvPr id="8" name="Image 0" descr="FaCheck">    </p:cNvPr>
          <p:cNvPicPr>
            <a:picLocks noChangeAspect="1"/>
          </p:cNvPicPr>
          <p:nvPr/>
        </p:nvPicPr>
        <p:blipFill>
          <a:blip r:embed="rId1"/>
          <a:stretch>
            <a:fillRect/>
          </a:stretch>
        </p:blipFill>
        <p:spPr>
          <a:xfrm>
            <a:off x="919886" y="1925726"/>
            <a:ext cx="309067" cy="309067"/>
          </a:xfrm>
          <a:prstGeom prst="rect">
            <a:avLst/>
          </a:prstGeom>
        </p:spPr>
      </p:pic>
      <p:sp>
        <p:nvSpPr>
          <p:cNvPr id="9" name="Text 6"/>
          <p:cNvSpPr txBox="1"/>
          <p:nvPr/>
        </p:nvSpPr>
        <p:spPr>
          <a:xfrm>
            <a:off x="1554480" y="1554480"/>
            <a:ext cx="4221328" cy="1051560"/>
          </a:xfrm>
          <a:prstGeom prst="rect">
            <a:avLst/>
          </a:prstGeom>
          <a:noFill/>
          <a:ln/>
        </p:spPr>
        <p:txBody>
          <a:bodyPr wrap="square" lIns="0" tIns="0" rIns="0" bIns="0" rtlCol="0" anchor="ctr"/>
          <a:lstStyle/>
          <a:p>
            <a:pPr indent="0" marL="0">
              <a:buNone/>
            </a:pPr>
            <a:r>
              <a:rPr lang="en-US" sz="2000" dirty="0">
                <a:solidFill>
                  <a:schemeClr val="tx1"/>
                </a:solidFill>
              </a:rPr>
              <a:t>J’ouvre Claude et je me connecte</a:t>
            </a:r>
            <a:endParaRPr lang="en-US" sz="2000" dirty="0"/>
          </a:p>
        </p:txBody>
      </p:sp>
      <p:sp>
        <p:nvSpPr>
          <p:cNvPr id="10" name="Carte"/>
          <p:cNvSpPr/>
          <p:nvPr/>
        </p:nvSpPr>
        <p:spPr>
          <a:xfrm>
            <a:off x="6233008" y="1554480"/>
            <a:ext cx="5410048" cy="1051560"/>
          </a:xfrm>
          <a:prstGeom prst="roundRect">
            <a:avLst>
              <a:gd name="adj" fmla="val 10435"/>
            </a:avLst>
          </a:prstGeom>
          <a:solidFill>
            <a:schemeClr val="bg2"/>
          </a:solidFill>
          <a:ln w="12700">
            <a:solidFill>
              <a:schemeClr val="bg2"/>
            </a:solidFill>
            <a:prstDash val="solid"/>
          </a:ln>
        </p:spPr>
      </p:sp>
      <p:sp>
        <p:nvSpPr>
          <p:cNvPr id="11" name="Badge icône"/>
          <p:cNvSpPr/>
          <p:nvPr/>
        </p:nvSpPr>
        <p:spPr>
          <a:xfrm>
            <a:off x="6461608" y="1783080"/>
            <a:ext cx="594360" cy="594360"/>
          </a:xfrm>
          <a:prstGeom prst="ellipse">
            <a:avLst/>
          </a:prstGeom>
          <a:solidFill>
            <a:srgbClr val="2E9E6B"/>
          </a:solidFill>
          <a:ln w="12700">
            <a:solidFill>
              <a:srgbClr val="2E9E6B"/>
            </a:solidFill>
            <a:prstDash val="solid"/>
          </a:ln>
        </p:spPr>
      </p:sp>
      <p:pic>
        <p:nvPicPr>
          <p:cNvPr id="12" name="Image 1" descr="FaCheck">    </p:cNvPr>
          <p:cNvPicPr>
            <a:picLocks noChangeAspect="1"/>
          </p:cNvPicPr>
          <p:nvPr/>
        </p:nvPicPr>
        <p:blipFill>
          <a:blip r:embed="rId2"/>
          <a:stretch>
            <a:fillRect/>
          </a:stretch>
        </p:blipFill>
        <p:spPr>
          <a:xfrm>
            <a:off x="6604254" y="1925726"/>
            <a:ext cx="309067" cy="309067"/>
          </a:xfrm>
          <a:prstGeom prst="rect">
            <a:avLst/>
          </a:prstGeom>
        </p:spPr>
      </p:pic>
      <p:sp>
        <p:nvSpPr>
          <p:cNvPr id="13" name="Text 9"/>
          <p:cNvSpPr txBox="1"/>
          <p:nvPr/>
        </p:nvSpPr>
        <p:spPr>
          <a:xfrm>
            <a:off x="7238848" y="1554480"/>
            <a:ext cx="4221328" cy="1051560"/>
          </a:xfrm>
          <a:prstGeom prst="rect">
            <a:avLst/>
          </a:prstGeom>
          <a:noFill/>
          <a:ln/>
        </p:spPr>
        <p:txBody>
          <a:bodyPr wrap="square" lIns="0" tIns="0" rIns="0" bIns="0" rtlCol="0" anchor="ctr"/>
          <a:lstStyle/>
          <a:p>
            <a:pPr indent="0" marL="0">
              <a:buNone/>
            </a:pPr>
            <a:r>
              <a:rPr lang="en-US" sz="2000" dirty="0">
                <a:solidFill>
                  <a:schemeClr val="tx1"/>
                </a:solidFill>
              </a:rPr>
              <a:t>J’ouvre Gemini</a:t>
            </a:r>
            <a:endParaRPr lang="en-US" sz="2000" dirty="0"/>
          </a:p>
        </p:txBody>
      </p:sp>
      <p:sp>
        <p:nvSpPr>
          <p:cNvPr id="14" name="Carte"/>
          <p:cNvSpPr/>
          <p:nvPr/>
        </p:nvSpPr>
        <p:spPr>
          <a:xfrm>
            <a:off x="548640" y="2788920"/>
            <a:ext cx="5410048" cy="1051560"/>
          </a:xfrm>
          <a:prstGeom prst="roundRect">
            <a:avLst>
              <a:gd name="adj" fmla="val 10435"/>
            </a:avLst>
          </a:prstGeom>
          <a:solidFill>
            <a:schemeClr val="bg2"/>
          </a:solidFill>
          <a:ln w="12700">
            <a:solidFill>
              <a:schemeClr val="bg2"/>
            </a:solidFill>
            <a:prstDash val="solid"/>
          </a:ln>
        </p:spPr>
      </p:sp>
      <p:sp>
        <p:nvSpPr>
          <p:cNvPr id="15" name="Badge icône"/>
          <p:cNvSpPr/>
          <p:nvPr/>
        </p:nvSpPr>
        <p:spPr>
          <a:xfrm>
            <a:off x="777240" y="3017520"/>
            <a:ext cx="594360" cy="594360"/>
          </a:xfrm>
          <a:prstGeom prst="ellipse">
            <a:avLst/>
          </a:prstGeom>
          <a:solidFill>
            <a:srgbClr val="2E9E6B"/>
          </a:solidFill>
          <a:ln w="12700">
            <a:solidFill>
              <a:srgbClr val="2E9E6B"/>
            </a:solidFill>
            <a:prstDash val="solid"/>
          </a:ln>
        </p:spPr>
      </p:sp>
      <p:pic>
        <p:nvPicPr>
          <p:cNvPr id="16" name="Image 2" descr="FaCheck">    </p:cNvPr>
          <p:cNvPicPr>
            <a:picLocks noChangeAspect="1"/>
          </p:cNvPicPr>
          <p:nvPr/>
        </p:nvPicPr>
        <p:blipFill>
          <a:blip r:embed="rId3"/>
          <a:stretch>
            <a:fillRect/>
          </a:stretch>
        </p:blipFill>
        <p:spPr>
          <a:xfrm>
            <a:off x="919886" y="3160166"/>
            <a:ext cx="309067" cy="309067"/>
          </a:xfrm>
          <a:prstGeom prst="rect">
            <a:avLst/>
          </a:prstGeom>
        </p:spPr>
      </p:pic>
      <p:sp>
        <p:nvSpPr>
          <p:cNvPr id="17" name="Text 12"/>
          <p:cNvSpPr txBox="1"/>
          <p:nvPr/>
        </p:nvSpPr>
        <p:spPr>
          <a:xfrm>
            <a:off x="1554480" y="2788920"/>
            <a:ext cx="4221328" cy="1051560"/>
          </a:xfrm>
          <a:prstGeom prst="rect">
            <a:avLst/>
          </a:prstGeom>
          <a:noFill/>
          <a:ln/>
        </p:spPr>
        <p:txBody>
          <a:bodyPr wrap="square" lIns="0" tIns="0" rIns="0" bIns="0" rtlCol="0" anchor="ctr"/>
          <a:lstStyle/>
          <a:p>
            <a:pPr indent="0" marL="0">
              <a:buNone/>
            </a:pPr>
            <a:r>
              <a:rPr lang="en-US" sz="2000" dirty="0">
                <a:solidFill>
                  <a:schemeClr val="tx1"/>
                </a:solidFill>
              </a:rPr>
              <a:t>J’ouvre Google Docs</a:t>
            </a:r>
            <a:endParaRPr lang="en-US" sz="2000" dirty="0"/>
          </a:p>
        </p:txBody>
      </p:sp>
      <p:sp>
        <p:nvSpPr>
          <p:cNvPr id="18" name="Carte"/>
          <p:cNvSpPr/>
          <p:nvPr/>
        </p:nvSpPr>
        <p:spPr>
          <a:xfrm>
            <a:off x="6233008" y="2788920"/>
            <a:ext cx="5410048" cy="1051560"/>
          </a:xfrm>
          <a:prstGeom prst="roundRect">
            <a:avLst>
              <a:gd name="adj" fmla="val 10435"/>
            </a:avLst>
          </a:prstGeom>
          <a:solidFill>
            <a:schemeClr val="bg2"/>
          </a:solidFill>
          <a:ln w="12700">
            <a:solidFill>
              <a:schemeClr val="bg2"/>
            </a:solidFill>
            <a:prstDash val="solid"/>
          </a:ln>
        </p:spPr>
      </p:sp>
      <p:sp>
        <p:nvSpPr>
          <p:cNvPr id="19" name="Badge icône"/>
          <p:cNvSpPr/>
          <p:nvPr/>
        </p:nvSpPr>
        <p:spPr>
          <a:xfrm>
            <a:off x="6461608" y="3017520"/>
            <a:ext cx="594360" cy="594360"/>
          </a:xfrm>
          <a:prstGeom prst="ellipse">
            <a:avLst/>
          </a:prstGeom>
          <a:solidFill>
            <a:srgbClr val="2E9E6B"/>
          </a:solidFill>
          <a:ln w="12700">
            <a:solidFill>
              <a:srgbClr val="2E9E6B"/>
            </a:solidFill>
            <a:prstDash val="solid"/>
          </a:ln>
        </p:spPr>
      </p:sp>
      <p:pic>
        <p:nvPicPr>
          <p:cNvPr id="20" name="Image 3" descr="FaCheck">    </p:cNvPr>
          <p:cNvPicPr>
            <a:picLocks noChangeAspect="1"/>
          </p:cNvPicPr>
          <p:nvPr/>
        </p:nvPicPr>
        <p:blipFill>
          <a:blip r:embed="rId4"/>
          <a:stretch>
            <a:fillRect/>
          </a:stretch>
        </p:blipFill>
        <p:spPr>
          <a:xfrm>
            <a:off x="6604254" y="3160166"/>
            <a:ext cx="309067" cy="309067"/>
          </a:xfrm>
          <a:prstGeom prst="rect">
            <a:avLst/>
          </a:prstGeom>
        </p:spPr>
      </p:pic>
      <p:sp>
        <p:nvSpPr>
          <p:cNvPr id="21" name="Text 15"/>
          <p:cNvSpPr txBox="1"/>
          <p:nvPr/>
        </p:nvSpPr>
        <p:spPr>
          <a:xfrm>
            <a:off x="7238848" y="2788920"/>
            <a:ext cx="4221328" cy="1051560"/>
          </a:xfrm>
          <a:prstGeom prst="rect">
            <a:avLst/>
          </a:prstGeom>
          <a:noFill/>
          <a:ln/>
        </p:spPr>
        <p:txBody>
          <a:bodyPr wrap="square" lIns="0" tIns="0" rIns="0" bIns="0" rtlCol="0" anchor="ctr"/>
          <a:lstStyle/>
          <a:p>
            <a:pPr indent="0" marL="0">
              <a:buNone/>
            </a:pPr>
            <a:r>
              <a:rPr lang="en-US" sz="2000" dirty="0">
                <a:solidFill>
                  <a:schemeClr val="tx1"/>
                </a:solidFill>
              </a:rPr>
              <a:t>Je vois les skills « Monter son CV » et « Ma fiche profil »</a:t>
            </a:r>
            <a:endParaRPr lang="en-US" sz="2000" dirty="0"/>
          </a:p>
        </p:txBody>
      </p:sp>
      <p:sp>
        <p:nvSpPr>
          <p:cNvPr id="22" name="Carte"/>
          <p:cNvSpPr/>
          <p:nvPr/>
        </p:nvSpPr>
        <p:spPr>
          <a:xfrm>
            <a:off x="548640" y="4023360"/>
            <a:ext cx="5410048" cy="1051560"/>
          </a:xfrm>
          <a:prstGeom prst="roundRect">
            <a:avLst>
              <a:gd name="adj" fmla="val 10435"/>
            </a:avLst>
          </a:prstGeom>
          <a:solidFill>
            <a:schemeClr val="bg2"/>
          </a:solidFill>
          <a:ln w="12700">
            <a:solidFill>
              <a:schemeClr val="bg2"/>
            </a:solidFill>
            <a:prstDash val="solid"/>
          </a:ln>
        </p:spPr>
      </p:sp>
      <p:sp>
        <p:nvSpPr>
          <p:cNvPr id="23" name="Badge icône"/>
          <p:cNvSpPr/>
          <p:nvPr/>
        </p:nvSpPr>
        <p:spPr>
          <a:xfrm>
            <a:off x="777240" y="4251960"/>
            <a:ext cx="594360" cy="594360"/>
          </a:xfrm>
          <a:prstGeom prst="ellipse">
            <a:avLst/>
          </a:prstGeom>
          <a:solidFill>
            <a:srgbClr val="2E9E6B"/>
          </a:solidFill>
          <a:ln w="12700">
            <a:solidFill>
              <a:srgbClr val="2E9E6B"/>
            </a:solidFill>
            <a:prstDash val="solid"/>
          </a:ln>
        </p:spPr>
      </p:sp>
      <p:pic>
        <p:nvPicPr>
          <p:cNvPr id="24" name="Image 4" descr="FaCheck">    </p:cNvPr>
          <p:cNvPicPr>
            <a:picLocks noChangeAspect="1"/>
          </p:cNvPicPr>
          <p:nvPr/>
        </p:nvPicPr>
        <p:blipFill>
          <a:blip r:embed="rId5"/>
          <a:stretch>
            <a:fillRect/>
          </a:stretch>
        </p:blipFill>
        <p:spPr>
          <a:xfrm>
            <a:off x="919886" y="4394606"/>
            <a:ext cx="309067" cy="309067"/>
          </a:xfrm>
          <a:prstGeom prst="rect">
            <a:avLst/>
          </a:prstGeom>
        </p:spPr>
      </p:pic>
      <p:sp>
        <p:nvSpPr>
          <p:cNvPr id="25" name="Text 18"/>
          <p:cNvSpPr txBox="1"/>
          <p:nvPr/>
        </p:nvSpPr>
        <p:spPr>
          <a:xfrm>
            <a:off x="1554480" y="4023360"/>
            <a:ext cx="4221328" cy="1051560"/>
          </a:xfrm>
          <a:prstGeom prst="rect">
            <a:avLst/>
          </a:prstGeom>
          <a:noFill/>
          <a:ln/>
        </p:spPr>
        <p:txBody>
          <a:bodyPr wrap="square" lIns="0" tIns="0" rIns="0" bIns="0" rtlCol="0" anchor="ctr"/>
          <a:lstStyle/>
          <a:p>
            <a:pPr indent="0" marL="0">
              <a:buNone/>
            </a:pPr>
            <a:r>
              <a:rPr lang="en-US" sz="2000" dirty="0">
                <a:solidFill>
                  <a:schemeClr val="tx1"/>
                </a:solidFill>
              </a:rPr>
              <a:t>J’ai ma photo sur l’ordinateur ou sur mon téléphone</a:t>
            </a:r>
            <a:endParaRPr lang="en-US" sz="2000" dirty="0"/>
          </a:p>
        </p:txBody>
      </p:sp>
      <p:sp>
        <p:nvSpPr>
          <p:cNvPr id="26" name="Carte"/>
          <p:cNvSpPr/>
          <p:nvPr/>
        </p:nvSpPr>
        <p:spPr>
          <a:xfrm>
            <a:off x="6233008" y="4023360"/>
            <a:ext cx="5410048" cy="1051560"/>
          </a:xfrm>
          <a:prstGeom prst="roundRect">
            <a:avLst>
              <a:gd name="adj" fmla="val 10435"/>
            </a:avLst>
          </a:prstGeom>
          <a:solidFill>
            <a:schemeClr val="bg2"/>
          </a:solidFill>
          <a:ln w="12700">
            <a:solidFill>
              <a:schemeClr val="bg2"/>
            </a:solidFill>
            <a:prstDash val="solid"/>
          </a:ln>
        </p:spPr>
      </p:sp>
      <p:sp>
        <p:nvSpPr>
          <p:cNvPr id="27" name="Badge icône"/>
          <p:cNvSpPr/>
          <p:nvPr/>
        </p:nvSpPr>
        <p:spPr>
          <a:xfrm>
            <a:off x="6461608" y="4251960"/>
            <a:ext cx="594360" cy="594360"/>
          </a:xfrm>
          <a:prstGeom prst="ellipse">
            <a:avLst/>
          </a:prstGeom>
          <a:solidFill>
            <a:srgbClr val="2E9E6B"/>
          </a:solidFill>
          <a:ln w="12700">
            <a:solidFill>
              <a:srgbClr val="2E9E6B"/>
            </a:solidFill>
            <a:prstDash val="solid"/>
          </a:ln>
        </p:spPr>
      </p:sp>
      <p:pic>
        <p:nvPicPr>
          <p:cNvPr id="28" name="Image 5" descr="FaCheck">    </p:cNvPr>
          <p:cNvPicPr>
            <a:picLocks noChangeAspect="1"/>
          </p:cNvPicPr>
          <p:nvPr/>
        </p:nvPicPr>
        <p:blipFill>
          <a:blip r:embed="rId6"/>
          <a:stretch>
            <a:fillRect/>
          </a:stretch>
        </p:blipFill>
        <p:spPr>
          <a:xfrm>
            <a:off x="6604254" y="4394606"/>
            <a:ext cx="309067" cy="309067"/>
          </a:xfrm>
          <a:prstGeom prst="rect">
            <a:avLst/>
          </a:prstGeom>
        </p:spPr>
      </p:pic>
      <p:sp>
        <p:nvSpPr>
          <p:cNvPr id="29" name="Text 21"/>
          <p:cNvSpPr txBox="1"/>
          <p:nvPr/>
        </p:nvSpPr>
        <p:spPr>
          <a:xfrm>
            <a:off x="7238848" y="4023360"/>
            <a:ext cx="4221328" cy="1051560"/>
          </a:xfrm>
          <a:prstGeom prst="rect">
            <a:avLst/>
          </a:prstGeom>
          <a:noFill/>
          <a:ln/>
        </p:spPr>
        <p:txBody>
          <a:bodyPr wrap="square" lIns="0" tIns="0" rIns="0" bIns="0" rtlCol="0" anchor="ctr"/>
          <a:lstStyle/>
          <a:p>
            <a:pPr indent="0" marL="0">
              <a:buNone/>
            </a:pPr>
            <a:r>
              <a:rPr lang="en-US" sz="2000" dirty="0">
                <a:solidFill>
                  <a:schemeClr val="tx1"/>
                </a:solidFill>
              </a:rPr>
              <a:t>J’ai signé la présence et le consentement</a:t>
            </a:r>
            <a:endParaRPr lang="en-US" sz="2000" dirty="0"/>
          </a:p>
        </p:txBody>
      </p:sp>
      <p:sp>
        <p:nvSpPr>
          <p:cNvPr id="30" name="Text 22"/>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b="1" dirty="0">
                <a:solidFill>
                  <a:schemeClr val="tx2"/>
                </a:solidFill>
              </a:rPr>
              <a:t>Un point ne marche pas ? Je lève la main tout de suite.</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1</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1</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Comprendre l’IA et ses limites</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15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Aucun fichier. Les 4 limites de l’IA et la règle d’or sont comprises (c’est le socle de tous les TP).</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Comprendre ce que l’IA fait bien, ce qu’elle fait mal, et adopter une règle d’or d’usage responsable.</a:t>
            </a:r>
            <a:endParaRPr lang="en-US" sz="2000" dirty="0"/>
          </a:p>
        </p:txBody>
      </p:sp>
      <p:pic>
        <p:nvPicPr>
          <p:cNvPr id="9" name="Image 0" descr="Comprendre l’IA et ses limites">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Un assistant IA, c’est quoi ?</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Carte"/>
          <p:cNvSpPr/>
          <p:nvPr/>
        </p:nvSpPr>
        <p:spPr>
          <a:xfrm>
            <a:off x="548640" y="1554480"/>
            <a:ext cx="3515258" cy="4206240"/>
          </a:xfrm>
          <a:prstGeom prst="roundRect">
            <a:avLst>
              <a:gd name="adj" fmla="val 3121"/>
            </a:avLst>
          </a:prstGeom>
          <a:solidFill>
            <a:schemeClr val="bg2"/>
          </a:solidFill>
          <a:ln w="12700">
            <a:solidFill>
              <a:schemeClr val="bg2"/>
            </a:solidFill>
            <a:prstDash val="solid"/>
          </a:ln>
        </p:spPr>
      </p:sp>
      <p:sp>
        <p:nvSpPr>
          <p:cNvPr id="7" name="Badge icône"/>
          <p:cNvSpPr/>
          <p:nvPr/>
        </p:nvSpPr>
        <p:spPr>
          <a:xfrm>
            <a:off x="1757629" y="1828800"/>
            <a:ext cx="1097280" cy="1097280"/>
          </a:xfrm>
          <a:prstGeom prst="ellipse">
            <a:avLst/>
          </a:prstGeom>
          <a:solidFill>
            <a:srgbClr val="2E9E6B"/>
          </a:solidFill>
          <a:ln w="12700">
            <a:solidFill>
              <a:srgbClr val="2E9E6B"/>
            </a:solidFill>
            <a:prstDash val="solid"/>
          </a:ln>
        </p:spPr>
      </p:sp>
      <p:pic>
        <p:nvPicPr>
          <p:cNvPr id="8" name="Image 0" descr="FaMagic">    </p:cNvPr>
          <p:cNvPicPr>
            <a:picLocks noChangeAspect="1"/>
          </p:cNvPicPr>
          <p:nvPr/>
        </p:nvPicPr>
        <p:blipFill>
          <a:blip r:embed="rId1"/>
          <a:stretch>
            <a:fillRect/>
          </a:stretch>
        </p:blipFill>
        <p:spPr>
          <a:xfrm>
            <a:off x="2020976" y="2092147"/>
            <a:ext cx="570586" cy="570586"/>
          </a:xfrm>
          <a:prstGeom prst="rect">
            <a:avLst/>
          </a:prstGeom>
        </p:spPr>
      </p:pic>
      <p:sp>
        <p:nvSpPr>
          <p:cNvPr id="9" name="Text 6"/>
          <p:cNvSpPr txBox="1"/>
          <p:nvPr/>
        </p:nvSpPr>
        <p:spPr>
          <a:xfrm>
            <a:off x="822960" y="3108960"/>
            <a:ext cx="2966618" cy="822960"/>
          </a:xfrm>
          <a:prstGeom prst="rect">
            <a:avLst/>
          </a:prstGeom>
          <a:noFill/>
          <a:ln/>
        </p:spPr>
        <p:txBody>
          <a:bodyPr wrap="square" lIns="0" tIns="0" rIns="0" bIns="0" rtlCol="0" anchor="ctr"/>
          <a:lstStyle/>
          <a:p>
            <a:pPr algn="ctr" indent="0" marL="0">
              <a:buNone/>
            </a:pPr>
            <a:r>
              <a:rPr lang="en-US" sz="2400" b="1" dirty="0">
                <a:solidFill>
                  <a:schemeClr val="tx2"/>
                </a:solidFill>
              </a:rPr>
              <a:t>Il est fort pour</a:t>
            </a:r>
            <a:endParaRPr lang="en-US" sz="2400" dirty="0"/>
          </a:p>
        </p:txBody>
      </p:sp>
      <p:sp>
        <p:nvSpPr>
          <p:cNvPr id="10" name="Text 7"/>
          <p:cNvSpPr txBox="1"/>
          <p:nvPr/>
        </p:nvSpPr>
        <p:spPr>
          <a:xfrm>
            <a:off x="822960" y="3977640"/>
            <a:ext cx="2966618" cy="1645920"/>
          </a:xfrm>
          <a:prstGeom prst="rect">
            <a:avLst/>
          </a:prstGeom>
          <a:noFill/>
          <a:ln/>
        </p:spPr>
        <p:txBody>
          <a:bodyPr wrap="square" lIns="0" tIns="0" rIns="0" bIns="0" rtlCol="0" anchor="t"/>
          <a:lstStyle/>
          <a:p>
            <a:pPr algn="ctr" indent="0" marL="0">
              <a:buNone/>
            </a:pPr>
            <a:r>
              <a:rPr lang="en-US" sz="2000" dirty="0">
                <a:solidFill>
                  <a:schemeClr val="tx1"/>
                </a:solidFill>
              </a:rPr>
              <a:t>Reformuler, organiser, expliquer, proposer des idées.</a:t>
            </a:r>
            <a:endParaRPr lang="en-US" sz="2000" dirty="0"/>
          </a:p>
        </p:txBody>
      </p:sp>
      <p:sp>
        <p:nvSpPr>
          <p:cNvPr id="11" name="Carte"/>
          <p:cNvSpPr/>
          <p:nvPr/>
        </p:nvSpPr>
        <p:spPr>
          <a:xfrm>
            <a:off x="4338218" y="1554480"/>
            <a:ext cx="3515258" cy="4206240"/>
          </a:xfrm>
          <a:prstGeom prst="roundRect">
            <a:avLst>
              <a:gd name="adj" fmla="val 3121"/>
            </a:avLst>
          </a:prstGeom>
          <a:solidFill>
            <a:schemeClr val="bg2"/>
          </a:solidFill>
          <a:ln w="12700">
            <a:solidFill>
              <a:schemeClr val="bg2"/>
            </a:solidFill>
            <a:prstDash val="solid"/>
          </a:ln>
        </p:spPr>
      </p:sp>
      <p:sp>
        <p:nvSpPr>
          <p:cNvPr id="12" name="Badge icône"/>
          <p:cNvSpPr/>
          <p:nvPr/>
        </p:nvSpPr>
        <p:spPr>
          <a:xfrm>
            <a:off x="5547208" y="1828800"/>
            <a:ext cx="1097280" cy="1097280"/>
          </a:xfrm>
          <a:prstGeom prst="ellipse">
            <a:avLst/>
          </a:prstGeom>
          <a:solidFill>
            <a:srgbClr val="2F7BD0"/>
          </a:solidFill>
          <a:ln w="12700">
            <a:solidFill>
              <a:srgbClr val="2F7BD0"/>
            </a:solidFill>
            <a:prstDash val="solid"/>
          </a:ln>
        </p:spPr>
      </p:sp>
      <p:pic>
        <p:nvPicPr>
          <p:cNvPr id="13" name="Image 1" descr="FaRobot">    </p:cNvPr>
          <p:cNvPicPr>
            <a:picLocks noChangeAspect="1"/>
          </p:cNvPicPr>
          <p:nvPr/>
        </p:nvPicPr>
        <p:blipFill>
          <a:blip r:embed="rId2"/>
          <a:stretch>
            <a:fillRect/>
          </a:stretch>
        </p:blipFill>
        <p:spPr>
          <a:xfrm>
            <a:off x="5810555" y="2092147"/>
            <a:ext cx="570586" cy="570586"/>
          </a:xfrm>
          <a:prstGeom prst="rect">
            <a:avLst/>
          </a:prstGeom>
        </p:spPr>
      </p:pic>
      <p:sp>
        <p:nvSpPr>
          <p:cNvPr id="14" name="Text 10"/>
          <p:cNvSpPr txBox="1"/>
          <p:nvPr/>
        </p:nvSpPr>
        <p:spPr>
          <a:xfrm>
            <a:off x="4612538" y="3108960"/>
            <a:ext cx="2966618" cy="822960"/>
          </a:xfrm>
          <a:prstGeom prst="rect">
            <a:avLst/>
          </a:prstGeom>
          <a:noFill/>
          <a:ln/>
        </p:spPr>
        <p:txBody>
          <a:bodyPr wrap="square" lIns="0" tIns="0" rIns="0" bIns="0" rtlCol="0" anchor="ctr"/>
          <a:lstStyle/>
          <a:p>
            <a:pPr algn="ctr" indent="0" marL="0">
              <a:buNone/>
            </a:pPr>
            <a:r>
              <a:rPr lang="en-US" sz="2400" b="1" dirty="0">
                <a:solidFill>
                  <a:schemeClr val="tx2"/>
                </a:solidFill>
              </a:rPr>
              <a:t>Ce n’est pas une personne</a:t>
            </a:r>
            <a:endParaRPr lang="en-US" sz="2400" dirty="0"/>
          </a:p>
        </p:txBody>
      </p:sp>
      <p:sp>
        <p:nvSpPr>
          <p:cNvPr id="15" name="Text 11"/>
          <p:cNvSpPr txBox="1"/>
          <p:nvPr/>
        </p:nvSpPr>
        <p:spPr>
          <a:xfrm>
            <a:off x="4612538" y="3977640"/>
            <a:ext cx="2966618" cy="1645920"/>
          </a:xfrm>
          <a:prstGeom prst="rect">
            <a:avLst/>
          </a:prstGeom>
          <a:noFill/>
          <a:ln/>
        </p:spPr>
        <p:txBody>
          <a:bodyPr wrap="square" lIns="0" tIns="0" rIns="0" bIns="0" rtlCol="0" anchor="t"/>
          <a:lstStyle/>
          <a:p>
            <a:pPr algn="ctr" indent="0" marL="0">
              <a:buNone/>
            </a:pPr>
            <a:r>
              <a:rPr lang="en-US" sz="2000" dirty="0">
                <a:solidFill>
                  <a:schemeClr val="tx1"/>
                </a:solidFill>
              </a:rPr>
              <a:t>Il n’a rien vécu. Il prédit des mots à partir de ce qu’il a lu.</a:t>
            </a:r>
            <a:endParaRPr lang="en-US" sz="2000" dirty="0"/>
          </a:p>
        </p:txBody>
      </p:sp>
      <p:sp>
        <p:nvSpPr>
          <p:cNvPr id="16" name="Carte"/>
          <p:cNvSpPr/>
          <p:nvPr/>
        </p:nvSpPr>
        <p:spPr>
          <a:xfrm>
            <a:off x="8127797" y="1554480"/>
            <a:ext cx="3515258" cy="4206240"/>
          </a:xfrm>
          <a:prstGeom prst="roundRect">
            <a:avLst>
              <a:gd name="adj" fmla="val 3121"/>
            </a:avLst>
          </a:prstGeom>
          <a:solidFill>
            <a:schemeClr val="bg2"/>
          </a:solidFill>
          <a:ln w="12700">
            <a:solidFill>
              <a:schemeClr val="bg2"/>
            </a:solidFill>
            <a:prstDash val="solid"/>
          </a:ln>
        </p:spPr>
      </p:sp>
      <p:sp>
        <p:nvSpPr>
          <p:cNvPr id="17" name="Badge icône"/>
          <p:cNvSpPr/>
          <p:nvPr/>
        </p:nvSpPr>
        <p:spPr>
          <a:xfrm>
            <a:off x="9336786" y="1828800"/>
            <a:ext cx="1097280" cy="1097280"/>
          </a:xfrm>
          <a:prstGeom prst="ellipse">
            <a:avLst/>
          </a:prstGeom>
          <a:solidFill>
            <a:srgbClr val="F5A524"/>
          </a:solidFill>
          <a:ln w="12700">
            <a:solidFill>
              <a:srgbClr val="F5A524"/>
            </a:solidFill>
            <a:prstDash val="solid"/>
          </a:ln>
        </p:spPr>
      </p:sp>
      <p:pic>
        <p:nvPicPr>
          <p:cNvPr id="18" name="Image 2" descr="FaExclamationTriangle">    </p:cNvPr>
          <p:cNvPicPr>
            <a:picLocks noChangeAspect="1"/>
          </p:cNvPicPr>
          <p:nvPr/>
        </p:nvPicPr>
        <p:blipFill>
          <a:blip r:embed="rId3"/>
          <a:stretch>
            <a:fillRect/>
          </a:stretch>
        </p:blipFill>
        <p:spPr>
          <a:xfrm>
            <a:off x="9600133" y="2092147"/>
            <a:ext cx="570586" cy="570586"/>
          </a:xfrm>
          <a:prstGeom prst="rect">
            <a:avLst/>
          </a:prstGeom>
        </p:spPr>
      </p:pic>
      <p:sp>
        <p:nvSpPr>
          <p:cNvPr id="19" name="Text 14"/>
          <p:cNvSpPr txBox="1"/>
          <p:nvPr/>
        </p:nvSpPr>
        <p:spPr>
          <a:xfrm>
            <a:off x="8402117" y="3108960"/>
            <a:ext cx="2966618" cy="822960"/>
          </a:xfrm>
          <a:prstGeom prst="rect">
            <a:avLst/>
          </a:prstGeom>
          <a:noFill/>
          <a:ln/>
        </p:spPr>
        <p:txBody>
          <a:bodyPr wrap="square" lIns="0" tIns="0" rIns="0" bIns="0" rtlCol="0" anchor="ctr"/>
          <a:lstStyle/>
          <a:p>
            <a:pPr algn="ctr" indent="0" marL="0">
              <a:buNone/>
            </a:pPr>
            <a:r>
              <a:rPr lang="en-US" sz="2400" b="1" dirty="0">
                <a:solidFill>
                  <a:schemeClr val="tx2"/>
                </a:solidFill>
              </a:rPr>
              <a:t>Il peut se tromper</a:t>
            </a:r>
            <a:endParaRPr lang="en-US" sz="2400" dirty="0"/>
          </a:p>
        </p:txBody>
      </p:sp>
      <p:sp>
        <p:nvSpPr>
          <p:cNvPr id="20" name="Text 15"/>
          <p:cNvSpPr txBox="1"/>
          <p:nvPr/>
        </p:nvSpPr>
        <p:spPr>
          <a:xfrm>
            <a:off x="8402117" y="3977640"/>
            <a:ext cx="2966618" cy="1645920"/>
          </a:xfrm>
          <a:prstGeom prst="rect">
            <a:avLst/>
          </a:prstGeom>
          <a:noFill/>
          <a:ln/>
        </p:spPr>
        <p:txBody>
          <a:bodyPr wrap="square" lIns="0" tIns="0" rIns="0" bIns="0" rtlCol="0" anchor="t"/>
          <a:lstStyle/>
          <a:p>
            <a:pPr algn="ctr" indent="0" marL="0">
              <a:buNone/>
            </a:pPr>
            <a:r>
              <a:rPr lang="en-US" sz="2000" dirty="0">
                <a:solidFill>
                  <a:schemeClr val="tx1"/>
                </a:solidFill>
              </a:rPr>
              <a:t>Et le dire avec beaucoup d’assurance. Je vérifie toujours.</a:t>
            </a:r>
            <a:endParaRPr lang="en-US" sz="2000" dirty="0"/>
          </a:p>
        </p:txBody>
      </p:sp>
      <p:sp>
        <p:nvSpPr>
          <p:cNvPr id="21" name="Text 16"/>
          <p:cNvSpPr txBox="1"/>
          <p:nvPr/>
        </p:nvSpPr>
        <p:spPr>
          <a:xfrm>
            <a:off x="548640" y="5852160"/>
            <a:ext cx="11094415" cy="457200"/>
          </a:xfrm>
          <a:prstGeom prst="rect">
            <a:avLst/>
          </a:prstGeom>
          <a:noFill/>
          <a:ln/>
        </p:spPr>
        <p:txBody>
          <a:bodyPr wrap="square" lIns="0" tIns="0" rIns="0" bIns="0" rtlCol="0" anchor="ctr"/>
          <a:lstStyle/>
          <a:p>
            <a:pPr indent="0" marL="0">
              <a:buNone/>
            </a:pPr>
            <a:r>
              <a:rPr lang="en-US" sz="1800" dirty="0">
                <a:solidFill>
                  <a:schemeClr val="accent5"/>
                </a:solidFill>
              </a:rPr>
              <a:t>Claude et Gemini sont des assistants : j’écris une consigne (un « prompt »), ils répondent.</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Les 4 limites (1/2)</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Carte"/>
          <p:cNvSpPr/>
          <p:nvPr/>
        </p:nvSpPr>
        <p:spPr>
          <a:xfrm>
            <a:off x="548640" y="1463040"/>
            <a:ext cx="5410048" cy="4709160"/>
          </a:xfrm>
          <a:prstGeom prst="roundRect">
            <a:avLst>
              <a:gd name="adj" fmla="val 2330"/>
            </a:avLst>
          </a:prstGeom>
          <a:solidFill>
            <a:schemeClr val="bg2"/>
          </a:solidFill>
          <a:ln w="12700">
            <a:solidFill>
              <a:schemeClr val="bg2"/>
            </a:solidFill>
            <a:prstDash val="solid"/>
          </a:ln>
        </p:spPr>
      </p:sp>
      <p:sp>
        <p:nvSpPr>
          <p:cNvPr id="7" name="Badge icône"/>
          <p:cNvSpPr/>
          <p:nvPr/>
        </p:nvSpPr>
        <p:spPr>
          <a:xfrm>
            <a:off x="822960" y="1691640"/>
            <a:ext cx="822960" cy="822960"/>
          </a:xfrm>
          <a:prstGeom prst="ellipse">
            <a:avLst/>
          </a:prstGeom>
          <a:solidFill>
            <a:srgbClr val="14305A"/>
          </a:solidFill>
          <a:ln w="12700">
            <a:solidFill>
              <a:srgbClr val="14305A"/>
            </a:solidFill>
            <a:prstDash val="solid"/>
          </a:ln>
        </p:spPr>
      </p:sp>
      <p:pic>
        <p:nvPicPr>
          <p:cNvPr id="8" name="Image 0" descr="FaLock">    </p:cNvPr>
          <p:cNvPicPr>
            <a:picLocks noChangeAspect="1"/>
          </p:cNvPicPr>
          <p:nvPr/>
        </p:nvPicPr>
        <p:blipFill>
          <a:blip r:embed="rId1"/>
          <a:stretch>
            <a:fillRect/>
          </a:stretch>
        </p:blipFill>
        <p:spPr>
          <a:xfrm>
            <a:off x="1020470" y="1889150"/>
            <a:ext cx="427939" cy="427939"/>
          </a:xfrm>
          <a:prstGeom prst="rect">
            <a:avLst/>
          </a:prstGeom>
        </p:spPr>
      </p:pic>
      <p:sp>
        <p:nvSpPr>
          <p:cNvPr id="9" name="Text 6"/>
          <p:cNvSpPr txBox="1"/>
          <p:nvPr/>
        </p:nvSpPr>
        <p:spPr>
          <a:xfrm>
            <a:off x="1828800" y="1691640"/>
            <a:ext cx="3855568" cy="822960"/>
          </a:xfrm>
          <a:prstGeom prst="rect">
            <a:avLst/>
          </a:prstGeom>
          <a:noFill/>
          <a:ln/>
        </p:spPr>
        <p:txBody>
          <a:bodyPr wrap="square" lIns="0" tIns="0" rIns="0" bIns="0" rtlCol="0" anchor="ctr"/>
          <a:lstStyle/>
          <a:p>
            <a:pPr indent="0" marL="0">
              <a:buNone/>
            </a:pPr>
            <a:r>
              <a:rPr lang="en-US" sz="2800" b="1" dirty="0">
                <a:solidFill>
                  <a:schemeClr val="tx2"/>
                </a:solidFill>
              </a:rPr>
              <a:t>Confidentialité</a:t>
            </a:r>
            <a:endParaRPr lang="en-US" sz="2800" dirty="0"/>
          </a:p>
        </p:txBody>
      </p:sp>
      <p:sp>
        <p:nvSpPr>
          <p:cNvPr id="10" name="Text 7"/>
          <p:cNvSpPr txBox="1"/>
          <p:nvPr/>
        </p:nvSpPr>
        <p:spPr>
          <a:xfrm>
            <a:off x="868680" y="2743200"/>
            <a:ext cx="4769968" cy="1280160"/>
          </a:xfrm>
          <a:prstGeom prst="rect">
            <a:avLst/>
          </a:prstGeom>
          <a:noFill/>
          <a:ln/>
        </p:spPr>
        <p:txBody>
          <a:bodyPr wrap="square" lIns="0" tIns="0" rIns="0" bIns="0" rtlCol="0" anchor="t"/>
          <a:lstStyle/>
          <a:p>
            <a:pPr indent="0" marL="0">
              <a:buNone/>
            </a:pPr>
            <a:r>
              <a:rPr lang="en-US" sz="2000" dirty="0">
                <a:solidFill>
                  <a:schemeClr val="tx1"/>
                </a:solidFill>
              </a:rPr>
              <a:t>Ce que je tape peut être conservé par l’outil.</a:t>
            </a:r>
            <a:endParaRPr lang="en-US" sz="2000" dirty="0"/>
          </a:p>
        </p:txBody>
      </p:sp>
      <p:sp>
        <p:nvSpPr>
          <p:cNvPr id="11" name="Text 8"/>
          <p:cNvSpPr txBox="1"/>
          <p:nvPr/>
        </p:nvSpPr>
        <p:spPr>
          <a:xfrm>
            <a:off x="868680" y="4114800"/>
            <a:ext cx="4769968" cy="1920240"/>
          </a:xfrm>
          <a:prstGeom prst="rect">
            <a:avLst/>
          </a:prstGeom>
          <a:noFill/>
          <a:ln/>
        </p:spPr>
        <p:txBody>
          <a:bodyPr wrap="square" lIns="0" tIns="0" rIns="0" bIns="0" rtlCol="0" anchor="t"/>
          <a:lstStyle/>
          <a:p>
            <a:pPr indent="0" marL="0">
              <a:buNone/>
            </a:pPr>
            <a:r>
              <a:rPr lang="en-US" sz="2000" b="1" dirty="0">
                <a:solidFill>
                  <a:schemeClr val="accent1"/>
                </a:solidFill>
              </a:rPr>
              <a:t>Ma règle : </a:t>
            </a:r>
            <a:pPr indent="0" marL="0">
              <a:buNone/>
            </a:pPr>
            <a:r>
              <a:rPr lang="en-US" sz="2000" dirty="0">
                <a:solidFill>
                  <a:schemeClr val="tx1"/>
                </a:solidFill>
              </a:rPr>
              <a:t>Je ne donne jamais : mots de passe, codes de paiement mobile, numéro de pièce d’identité, secrets d’un employeur, informations sur une autre personne sans son accord.</a:t>
            </a:r>
            <a:endParaRPr lang="en-US" sz="2000" dirty="0"/>
          </a:p>
        </p:txBody>
      </p:sp>
      <p:sp>
        <p:nvSpPr>
          <p:cNvPr id="12" name="Carte"/>
          <p:cNvSpPr/>
          <p:nvPr/>
        </p:nvSpPr>
        <p:spPr>
          <a:xfrm>
            <a:off x="6233008" y="1463040"/>
            <a:ext cx="5410048" cy="4709160"/>
          </a:xfrm>
          <a:prstGeom prst="roundRect">
            <a:avLst>
              <a:gd name="adj" fmla="val 2330"/>
            </a:avLst>
          </a:prstGeom>
          <a:solidFill>
            <a:schemeClr val="bg2"/>
          </a:solidFill>
          <a:ln w="12700">
            <a:solidFill>
              <a:schemeClr val="bg2"/>
            </a:solidFill>
            <a:prstDash val="solid"/>
          </a:ln>
        </p:spPr>
      </p:sp>
      <p:sp>
        <p:nvSpPr>
          <p:cNvPr id="13" name="Badge icône"/>
          <p:cNvSpPr/>
          <p:nvPr/>
        </p:nvSpPr>
        <p:spPr>
          <a:xfrm>
            <a:off x="6507328" y="1691640"/>
            <a:ext cx="822960" cy="822960"/>
          </a:xfrm>
          <a:prstGeom prst="ellipse">
            <a:avLst/>
          </a:prstGeom>
          <a:solidFill>
            <a:srgbClr val="14305A"/>
          </a:solidFill>
          <a:ln w="12700">
            <a:solidFill>
              <a:srgbClr val="14305A"/>
            </a:solidFill>
            <a:prstDash val="solid"/>
          </a:ln>
        </p:spPr>
      </p:sp>
      <p:pic>
        <p:nvPicPr>
          <p:cNvPr id="14" name="Image 1" descr="FaBalanceScale">    </p:cNvPr>
          <p:cNvPicPr>
            <a:picLocks noChangeAspect="1"/>
          </p:cNvPicPr>
          <p:nvPr/>
        </p:nvPicPr>
        <p:blipFill>
          <a:blip r:embed="rId2"/>
          <a:stretch>
            <a:fillRect/>
          </a:stretch>
        </p:blipFill>
        <p:spPr>
          <a:xfrm>
            <a:off x="6704838" y="1889150"/>
            <a:ext cx="427939" cy="427939"/>
          </a:xfrm>
          <a:prstGeom prst="rect">
            <a:avLst/>
          </a:prstGeom>
        </p:spPr>
      </p:pic>
      <p:sp>
        <p:nvSpPr>
          <p:cNvPr id="15" name="Text 11"/>
          <p:cNvSpPr txBox="1"/>
          <p:nvPr/>
        </p:nvSpPr>
        <p:spPr>
          <a:xfrm>
            <a:off x="7513168" y="1691640"/>
            <a:ext cx="3855568" cy="822960"/>
          </a:xfrm>
          <a:prstGeom prst="rect">
            <a:avLst/>
          </a:prstGeom>
          <a:noFill/>
          <a:ln/>
        </p:spPr>
        <p:txBody>
          <a:bodyPr wrap="square" lIns="0" tIns="0" rIns="0" bIns="0" rtlCol="0" anchor="ctr"/>
          <a:lstStyle/>
          <a:p>
            <a:pPr indent="0" marL="0">
              <a:buNone/>
            </a:pPr>
            <a:r>
              <a:rPr lang="en-US" sz="2800" b="1" dirty="0">
                <a:solidFill>
                  <a:schemeClr val="tx2"/>
                </a:solidFill>
              </a:rPr>
              <a:t>Biais</a:t>
            </a:r>
            <a:endParaRPr lang="en-US" sz="2800" dirty="0"/>
          </a:p>
        </p:txBody>
      </p:sp>
      <p:sp>
        <p:nvSpPr>
          <p:cNvPr id="16" name="Text 12"/>
          <p:cNvSpPr txBox="1"/>
          <p:nvPr/>
        </p:nvSpPr>
        <p:spPr>
          <a:xfrm>
            <a:off x="6553048" y="2743200"/>
            <a:ext cx="4769968" cy="1280160"/>
          </a:xfrm>
          <a:prstGeom prst="rect">
            <a:avLst/>
          </a:prstGeom>
          <a:noFill/>
          <a:ln/>
        </p:spPr>
        <p:txBody>
          <a:bodyPr wrap="square" lIns="0" tIns="0" rIns="0" bIns="0" rtlCol="0" anchor="t"/>
          <a:lstStyle/>
          <a:p>
            <a:pPr indent="0" marL="0">
              <a:buNone/>
            </a:pPr>
            <a:r>
              <a:rPr lang="en-US" sz="2000" dirty="0">
                <a:solidFill>
                  <a:schemeClr val="tx1"/>
                </a:solidFill>
              </a:rPr>
              <a:t>L’IA reprend les idées toutes faites des textes qu’elle a lus. Elle connaît souvent moins bien notre contexte local.</a:t>
            </a:r>
            <a:endParaRPr lang="en-US" sz="2000" dirty="0"/>
          </a:p>
        </p:txBody>
      </p:sp>
      <p:sp>
        <p:nvSpPr>
          <p:cNvPr id="17" name="Text 13"/>
          <p:cNvSpPr txBox="1"/>
          <p:nvPr/>
        </p:nvSpPr>
        <p:spPr>
          <a:xfrm>
            <a:off x="6553048" y="4114800"/>
            <a:ext cx="4769968" cy="1920240"/>
          </a:xfrm>
          <a:prstGeom prst="rect">
            <a:avLst/>
          </a:prstGeom>
          <a:noFill/>
          <a:ln/>
        </p:spPr>
        <p:txBody>
          <a:bodyPr wrap="square" lIns="0" tIns="0" rIns="0" bIns="0" rtlCol="0" anchor="t"/>
          <a:lstStyle/>
          <a:p>
            <a:pPr indent="0" marL="0">
              <a:buNone/>
            </a:pPr>
            <a:r>
              <a:rPr lang="en-US" sz="2000" b="1" dirty="0">
                <a:solidFill>
                  <a:schemeClr val="accent1"/>
                </a:solidFill>
              </a:rPr>
              <a:t>Ma règle : </a:t>
            </a:r>
            <a:pPr indent="0" marL="0">
              <a:buNone/>
            </a:pPr>
            <a:r>
              <a:rPr lang="en-US" sz="2000" dirty="0">
                <a:solidFill>
                  <a:schemeClr val="tx1"/>
                </a:solidFill>
              </a:rPr>
              <a:t>Je me demande : est-ce juste pour tout le monde (femme ou homme, jeune ou âgé, ville ou village) ? Je corrige ce qui ne correspond pas à la réalité d’ici.</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Les 4 limites (2/2)</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Carte"/>
          <p:cNvSpPr/>
          <p:nvPr/>
        </p:nvSpPr>
        <p:spPr>
          <a:xfrm>
            <a:off x="548640" y="1463040"/>
            <a:ext cx="5410048" cy="4709160"/>
          </a:xfrm>
          <a:prstGeom prst="roundRect">
            <a:avLst>
              <a:gd name="adj" fmla="val 2330"/>
            </a:avLst>
          </a:prstGeom>
          <a:solidFill>
            <a:schemeClr val="bg2"/>
          </a:solidFill>
          <a:ln w="12700">
            <a:solidFill>
              <a:schemeClr val="bg2"/>
            </a:solidFill>
            <a:prstDash val="solid"/>
          </a:ln>
        </p:spPr>
      </p:sp>
      <p:sp>
        <p:nvSpPr>
          <p:cNvPr id="7" name="Badge icône"/>
          <p:cNvSpPr/>
          <p:nvPr/>
        </p:nvSpPr>
        <p:spPr>
          <a:xfrm>
            <a:off x="822960" y="1691640"/>
            <a:ext cx="822960" cy="822960"/>
          </a:xfrm>
          <a:prstGeom prst="ellipse">
            <a:avLst/>
          </a:prstGeom>
          <a:solidFill>
            <a:srgbClr val="14305A"/>
          </a:solidFill>
          <a:ln w="12700">
            <a:solidFill>
              <a:srgbClr val="14305A"/>
            </a:solidFill>
            <a:prstDash val="solid"/>
          </a:ln>
        </p:spPr>
      </p:sp>
      <p:pic>
        <p:nvPicPr>
          <p:cNvPr id="8" name="Image 0" descr="FaExclamationTriangle">    </p:cNvPr>
          <p:cNvPicPr>
            <a:picLocks noChangeAspect="1"/>
          </p:cNvPicPr>
          <p:nvPr/>
        </p:nvPicPr>
        <p:blipFill>
          <a:blip r:embed="rId1"/>
          <a:stretch>
            <a:fillRect/>
          </a:stretch>
        </p:blipFill>
        <p:spPr>
          <a:xfrm>
            <a:off x="1020470" y="1889150"/>
            <a:ext cx="427939" cy="427939"/>
          </a:xfrm>
          <a:prstGeom prst="rect">
            <a:avLst/>
          </a:prstGeom>
        </p:spPr>
      </p:pic>
      <p:sp>
        <p:nvSpPr>
          <p:cNvPr id="9" name="Text 6"/>
          <p:cNvSpPr txBox="1"/>
          <p:nvPr/>
        </p:nvSpPr>
        <p:spPr>
          <a:xfrm>
            <a:off x="1828800" y="1691640"/>
            <a:ext cx="3855568" cy="822960"/>
          </a:xfrm>
          <a:prstGeom prst="rect">
            <a:avLst/>
          </a:prstGeom>
          <a:noFill/>
          <a:ln/>
        </p:spPr>
        <p:txBody>
          <a:bodyPr wrap="square" lIns="0" tIns="0" rIns="0" bIns="0" rtlCol="0" anchor="ctr"/>
          <a:lstStyle/>
          <a:p>
            <a:pPr indent="0" marL="0">
              <a:buNone/>
            </a:pPr>
            <a:r>
              <a:rPr lang="en-US" sz="2800" b="1" dirty="0">
                <a:solidFill>
                  <a:schemeClr val="tx2"/>
                </a:solidFill>
              </a:rPr>
              <a:t>Fiabilité</a:t>
            </a:r>
            <a:endParaRPr lang="en-US" sz="2800" dirty="0"/>
          </a:p>
        </p:txBody>
      </p:sp>
      <p:sp>
        <p:nvSpPr>
          <p:cNvPr id="10" name="Text 7"/>
          <p:cNvSpPr txBox="1"/>
          <p:nvPr/>
        </p:nvSpPr>
        <p:spPr>
          <a:xfrm>
            <a:off x="868680" y="2743200"/>
            <a:ext cx="4769968" cy="1280160"/>
          </a:xfrm>
          <a:prstGeom prst="rect">
            <a:avLst/>
          </a:prstGeom>
          <a:noFill/>
          <a:ln/>
        </p:spPr>
        <p:txBody>
          <a:bodyPr wrap="square" lIns="0" tIns="0" rIns="0" bIns="0" rtlCol="0" anchor="t"/>
          <a:lstStyle/>
          <a:p>
            <a:pPr indent="0" marL="0">
              <a:buNone/>
            </a:pPr>
            <a:r>
              <a:rPr lang="en-US" sz="2000" dirty="0">
                <a:solidFill>
                  <a:schemeClr val="tx1"/>
                </a:solidFill>
              </a:rPr>
              <a:t>L’IA répond avec assurance, même quand elle se trompe. Elle peut inventer un chiffre, un lien, un diplôme.</a:t>
            </a:r>
            <a:endParaRPr lang="en-US" sz="2000" dirty="0"/>
          </a:p>
        </p:txBody>
      </p:sp>
      <p:sp>
        <p:nvSpPr>
          <p:cNvPr id="11" name="Text 8"/>
          <p:cNvSpPr txBox="1"/>
          <p:nvPr/>
        </p:nvSpPr>
        <p:spPr>
          <a:xfrm>
            <a:off x="868680" y="4114800"/>
            <a:ext cx="4769968" cy="1920240"/>
          </a:xfrm>
          <a:prstGeom prst="rect">
            <a:avLst/>
          </a:prstGeom>
          <a:noFill/>
          <a:ln/>
        </p:spPr>
        <p:txBody>
          <a:bodyPr wrap="square" lIns="0" tIns="0" rIns="0" bIns="0" rtlCol="0" anchor="t"/>
          <a:lstStyle/>
          <a:p>
            <a:pPr indent="0" marL="0">
              <a:buNone/>
            </a:pPr>
            <a:r>
              <a:rPr lang="en-US" sz="2000" b="1" dirty="0">
                <a:solidFill>
                  <a:schemeClr val="accent1"/>
                </a:solidFill>
              </a:rPr>
              <a:t>Ma règle : </a:t>
            </a:r>
            <a:pPr indent="0" marL="0">
              <a:buNone/>
            </a:pPr>
            <a:r>
              <a:rPr lang="en-US" sz="2000" dirty="0">
                <a:solidFill>
                  <a:schemeClr val="tx1"/>
                </a:solidFill>
              </a:rPr>
              <a:t>Je vérifie chaque nom, date, chiffre et lien avant de l’utiliser.</a:t>
            </a:r>
            <a:endParaRPr lang="en-US" sz="2000" dirty="0"/>
          </a:p>
        </p:txBody>
      </p:sp>
      <p:sp>
        <p:nvSpPr>
          <p:cNvPr id="12" name="Carte"/>
          <p:cNvSpPr/>
          <p:nvPr/>
        </p:nvSpPr>
        <p:spPr>
          <a:xfrm>
            <a:off x="6233008" y="1463040"/>
            <a:ext cx="5410048" cy="4709160"/>
          </a:xfrm>
          <a:prstGeom prst="roundRect">
            <a:avLst>
              <a:gd name="adj" fmla="val 2330"/>
            </a:avLst>
          </a:prstGeom>
          <a:solidFill>
            <a:schemeClr val="bg2"/>
          </a:solidFill>
          <a:ln w="12700">
            <a:solidFill>
              <a:schemeClr val="bg2"/>
            </a:solidFill>
            <a:prstDash val="solid"/>
          </a:ln>
        </p:spPr>
      </p:sp>
      <p:sp>
        <p:nvSpPr>
          <p:cNvPr id="13" name="Badge icône"/>
          <p:cNvSpPr/>
          <p:nvPr/>
        </p:nvSpPr>
        <p:spPr>
          <a:xfrm>
            <a:off x="6507328" y="1691640"/>
            <a:ext cx="822960" cy="822960"/>
          </a:xfrm>
          <a:prstGeom prst="ellipse">
            <a:avLst/>
          </a:prstGeom>
          <a:solidFill>
            <a:srgbClr val="14305A"/>
          </a:solidFill>
          <a:ln w="12700">
            <a:solidFill>
              <a:srgbClr val="14305A"/>
            </a:solidFill>
            <a:prstDash val="solid"/>
          </a:ln>
        </p:spPr>
      </p:sp>
      <p:pic>
        <p:nvPicPr>
          <p:cNvPr id="14" name="Image 1" descr="FaCopyright">    </p:cNvPr>
          <p:cNvPicPr>
            <a:picLocks noChangeAspect="1"/>
          </p:cNvPicPr>
          <p:nvPr/>
        </p:nvPicPr>
        <p:blipFill>
          <a:blip r:embed="rId2"/>
          <a:stretch>
            <a:fillRect/>
          </a:stretch>
        </p:blipFill>
        <p:spPr>
          <a:xfrm>
            <a:off x="6704838" y="1889150"/>
            <a:ext cx="427939" cy="427939"/>
          </a:xfrm>
          <a:prstGeom prst="rect">
            <a:avLst/>
          </a:prstGeom>
        </p:spPr>
      </p:pic>
      <p:sp>
        <p:nvSpPr>
          <p:cNvPr id="15" name="Text 11"/>
          <p:cNvSpPr txBox="1"/>
          <p:nvPr/>
        </p:nvSpPr>
        <p:spPr>
          <a:xfrm>
            <a:off x="7513168" y="1691640"/>
            <a:ext cx="3855568" cy="822960"/>
          </a:xfrm>
          <a:prstGeom prst="rect">
            <a:avLst/>
          </a:prstGeom>
          <a:noFill/>
          <a:ln/>
        </p:spPr>
        <p:txBody>
          <a:bodyPr wrap="square" lIns="0" tIns="0" rIns="0" bIns="0" rtlCol="0" anchor="ctr"/>
          <a:lstStyle/>
          <a:p>
            <a:pPr indent="0" marL="0">
              <a:buNone/>
            </a:pPr>
            <a:r>
              <a:rPr lang="en-US" sz="2800" b="1" dirty="0">
                <a:solidFill>
                  <a:schemeClr val="tx2"/>
                </a:solidFill>
              </a:rPr>
              <a:t>Propriété intellectuelle</a:t>
            </a:r>
            <a:endParaRPr lang="en-US" sz="2800" dirty="0"/>
          </a:p>
        </p:txBody>
      </p:sp>
      <p:sp>
        <p:nvSpPr>
          <p:cNvPr id="16" name="Text 12"/>
          <p:cNvSpPr txBox="1"/>
          <p:nvPr/>
        </p:nvSpPr>
        <p:spPr>
          <a:xfrm>
            <a:off x="6553048" y="2743200"/>
            <a:ext cx="4769968" cy="1280160"/>
          </a:xfrm>
          <a:prstGeom prst="rect">
            <a:avLst/>
          </a:prstGeom>
          <a:noFill/>
          <a:ln/>
        </p:spPr>
        <p:txBody>
          <a:bodyPr wrap="square" lIns="0" tIns="0" rIns="0" bIns="0" rtlCol="0" anchor="t"/>
          <a:lstStyle/>
          <a:p>
            <a:pPr indent="0" marL="0">
              <a:buNone/>
            </a:pPr>
            <a:r>
              <a:rPr lang="en-US" sz="2000" dirty="0">
                <a:solidFill>
                  <a:schemeClr val="tx1"/>
                </a:solidFill>
              </a:rPr>
              <a:t>Un texte ou une image trouvé ou créé n’est pas forcément libre d’usage.</a:t>
            </a:r>
            <a:endParaRPr lang="en-US" sz="2000" dirty="0"/>
          </a:p>
        </p:txBody>
      </p:sp>
      <p:sp>
        <p:nvSpPr>
          <p:cNvPr id="17" name="Text 13"/>
          <p:cNvSpPr txBox="1"/>
          <p:nvPr/>
        </p:nvSpPr>
        <p:spPr>
          <a:xfrm>
            <a:off x="6553048" y="4114800"/>
            <a:ext cx="4769968" cy="1920240"/>
          </a:xfrm>
          <a:prstGeom prst="rect">
            <a:avLst/>
          </a:prstGeom>
          <a:noFill/>
          <a:ln/>
        </p:spPr>
        <p:txBody>
          <a:bodyPr wrap="square" lIns="0" tIns="0" rIns="0" bIns="0" rtlCol="0" anchor="t"/>
          <a:lstStyle/>
          <a:p>
            <a:pPr indent="0" marL="0">
              <a:buNone/>
            </a:pPr>
            <a:r>
              <a:rPr lang="en-US" sz="2000" b="1" dirty="0">
                <a:solidFill>
                  <a:schemeClr val="accent1"/>
                </a:solidFill>
              </a:rPr>
              <a:t>Ma règle : </a:t>
            </a:r>
            <a:pPr indent="0" marL="0">
              <a:buNone/>
            </a:pPr>
            <a:r>
              <a:rPr lang="en-US" sz="2000" dirty="0">
                <a:solidFill>
                  <a:schemeClr val="tx1"/>
                </a:solidFill>
              </a:rPr>
              <a:t>J’utilise ma photo et mes mots. Je cite mes sources. Je ne copie pas le CV d’une autre personne ni sa photo sans son accord.</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peux ou je ne peux pas ?</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Carte"/>
          <p:cNvSpPr/>
          <p:nvPr/>
        </p:nvSpPr>
        <p:spPr>
          <a:xfrm>
            <a:off x="548640" y="1508760"/>
            <a:ext cx="3515258" cy="2057400"/>
          </a:xfrm>
          <a:prstGeom prst="roundRect">
            <a:avLst>
              <a:gd name="adj" fmla="val 5333"/>
            </a:avLst>
          </a:prstGeom>
          <a:solidFill>
            <a:schemeClr val="bg2"/>
          </a:solidFill>
          <a:ln w="12700">
            <a:solidFill>
              <a:schemeClr val="bg2"/>
            </a:solidFill>
            <a:prstDash val="solid"/>
          </a:ln>
        </p:spPr>
      </p:sp>
      <p:sp>
        <p:nvSpPr>
          <p:cNvPr id="7" name="Text 5"/>
          <p:cNvSpPr txBox="1"/>
          <p:nvPr/>
        </p:nvSpPr>
        <p:spPr>
          <a:xfrm>
            <a:off x="777240" y="1600200"/>
            <a:ext cx="3058058" cy="1463040"/>
          </a:xfrm>
          <a:prstGeom prst="rect">
            <a:avLst/>
          </a:prstGeom>
          <a:noFill/>
          <a:ln/>
        </p:spPr>
        <p:txBody>
          <a:bodyPr wrap="square" lIns="0" tIns="0" rIns="0" bIns="0" rtlCol="0" anchor="t"/>
          <a:lstStyle/>
          <a:p>
            <a:pPr indent="0" marL="0">
              <a:buNone/>
            </a:pPr>
            <a:r>
              <a:rPr lang="en-US" sz="1800" dirty="0">
                <a:solidFill>
                  <a:schemeClr val="tx1"/>
                </a:solidFill>
              </a:rPr>
              <a:t>a. Mon numéro de carte d’identité</a:t>
            </a:r>
            <a:endParaRPr lang="en-US" sz="1800" dirty="0"/>
          </a:p>
        </p:txBody>
      </p:sp>
      <p:sp>
        <p:nvSpPr>
          <p:cNvPr id="8" name="Text 6"/>
          <p:cNvSpPr txBox="1"/>
          <p:nvPr/>
        </p:nvSpPr>
        <p:spPr>
          <a:xfrm>
            <a:off x="777240" y="3063240"/>
            <a:ext cx="3058058" cy="365760"/>
          </a:xfrm>
          <a:prstGeom prst="rect">
            <a:avLst/>
          </a:prstGeom>
          <a:noFill/>
          <a:ln/>
        </p:spPr>
        <p:txBody>
          <a:bodyPr wrap="square" lIns="0" tIns="0" rIns="0" bIns="0" rtlCol="0" anchor="ctr"/>
          <a:lstStyle/>
          <a:p>
            <a:pPr indent="0" marL="0">
              <a:buNone/>
            </a:pPr>
            <a:r>
              <a:rPr lang="en-US" sz="2000" b="1" dirty="0">
                <a:solidFill>
                  <a:schemeClr val="accent1"/>
                </a:solidFill>
              </a:rPr>
              <a:t>OUI ?   NON ?</a:t>
            </a:r>
            <a:endParaRPr lang="en-US" sz="2000" dirty="0"/>
          </a:p>
        </p:txBody>
      </p:sp>
      <p:sp>
        <p:nvSpPr>
          <p:cNvPr id="9" name="Carte"/>
          <p:cNvSpPr/>
          <p:nvPr/>
        </p:nvSpPr>
        <p:spPr>
          <a:xfrm>
            <a:off x="4338218" y="1508760"/>
            <a:ext cx="3515258" cy="2057400"/>
          </a:xfrm>
          <a:prstGeom prst="roundRect">
            <a:avLst>
              <a:gd name="adj" fmla="val 5333"/>
            </a:avLst>
          </a:prstGeom>
          <a:solidFill>
            <a:schemeClr val="bg2"/>
          </a:solidFill>
          <a:ln w="12700">
            <a:solidFill>
              <a:schemeClr val="bg2"/>
            </a:solidFill>
            <a:prstDash val="solid"/>
          </a:ln>
        </p:spPr>
      </p:sp>
      <p:sp>
        <p:nvSpPr>
          <p:cNvPr id="10" name="Text 8"/>
          <p:cNvSpPr txBox="1"/>
          <p:nvPr/>
        </p:nvSpPr>
        <p:spPr>
          <a:xfrm>
            <a:off x="4566818" y="1600200"/>
            <a:ext cx="3058058" cy="1463040"/>
          </a:xfrm>
          <a:prstGeom prst="rect">
            <a:avLst/>
          </a:prstGeom>
          <a:noFill/>
          <a:ln/>
        </p:spPr>
        <p:txBody>
          <a:bodyPr wrap="square" lIns="0" tIns="0" rIns="0" bIns="0" rtlCol="0" anchor="t"/>
          <a:lstStyle/>
          <a:p>
            <a:pPr indent="0" marL="0">
              <a:buNone/>
            </a:pPr>
            <a:r>
              <a:rPr lang="en-US" sz="1800" dirty="0">
                <a:solidFill>
                  <a:schemeClr val="tx1"/>
                </a:solidFill>
              </a:rPr>
              <a:t>b. Mon parcours scolaire et professionnel, pour faire mon CV</a:t>
            </a:r>
            <a:endParaRPr lang="en-US" sz="1800" dirty="0"/>
          </a:p>
        </p:txBody>
      </p:sp>
      <p:sp>
        <p:nvSpPr>
          <p:cNvPr id="11" name="Text 9"/>
          <p:cNvSpPr txBox="1"/>
          <p:nvPr/>
        </p:nvSpPr>
        <p:spPr>
          <a:xfrm>
            <a:off x="4566818" y="3063240"/>
            <a:ext cx="3058058" cy="365760"/>
          </a:xfrm>
          <a:prstGeom prst="rect">
            <a:avLst/>
          </a:prstGeom>
          <a:noFill/>
          <a:ln/>
        </p:spPr>
        <p:txBody>
          <a:bodyPr wrap="square" lIns="0" tIns="0" rIns="0" bIns="0" rtlCol="0" anchor="ctr"/>
          <a:lstStyle/>
          <a:p>
            <a:pPr indent="0" marL="0">
              <a:buNone/>
            </a:pPr>
            <a:r>
              <a:rPr lang="en-US" sz="2000" b="1" dirty="0">
                <a:solidFill>
                  <a:schemeClr val="accent1"/>
                </a:solidFill>
              </a:rPr>
              <a:t>OUI ?   NON ?</a:t>
            </a:r>
            <a:endParaRPr lang="en-US" sz="2000" dirty="0"/>
          </a:p>
        </p:txBody>
      </p:sp>
      <p:sp>
        <p:nvSpPr>
          <p:cNvPr id="12" name="Carte"/>
          <p:cNvSpPr/>
          <p:nvPr/>
        </p:nvSpPr>
        <p:spPr>
          <a:xfrm>
            <a:off x="8127797" y="1508760"/>
            <a:ext cx="3515258" cy="2057400"/>
          </a:xfrm>
          <a:prstGeom prst="roundRect">
            <a:avLst>
              <a:gd name="adj" fmla="val 5333"/>
            </a:avLst>
          </a:prstGeom>
          <a:solidFill>
            <a:schemeClr val="bg2"/>
          </a:solidFill>
          <a:ln w="12700">
            <a:solidFill>
              <a:schemeClr val="bg2"/>
            </a:solidFill>
            <a:prstDash val="solid"/>
          </a:ln>
        </p:spPr>
      </p:sp>
      <p:sp>
        <p:nvSpPr>
          <p:cNvPr id="13" name="Text 11"/>
          <p:cNvSpPr txBox="1"/>
          <p:nvPr/>
        </p:nvSpPr>
        <p:spPr>
          <a:xfrm>
            <a:off x="8356397" y="1600200"/>
            <a:ext cx="3058058" cy="1463040"/>
          </a:xfrm>
          <a:prstGeom prst="rect">
            <a:avLst/>
          </a:prstGeom>
          <a:noFill/>
          <a:ln/>
        </p:spPr>
        <p:txBody>
          <a:bodyPr wrap="square" lIns="0" tIns="0" rIns="0" bIns="0" rtlCol="0" anchor="t"/>
          <a:lstStyle/>
          <a:p>
            <a:pPr indent="0" marL="0">
              <a:buNone/>
            </a:pPr>
            <a:r>
              <a:rPr lang="en-US" sz="1800" dirty="0">
                <a:solidFill>
                  <a:schemeClr val="tx1"/>
                </a:solidFill>
              </a:rPr>
              <a:t>c. Le contrat confidentiel de mon employeur</a:t>
            </a:r>
            <a:endParaRPr lang="en-US" sz="1800" dirty="0"/>
          </a:p>
        </p:txBody>
      </p:sp>
      <p:sp>
        <p:nvSpPr>
          <p:cNvPr id="14" name="Text 12"/>
          <p:cNvSpPr txBox="1"/>
          <p:nvPr/>
        </p:nvSpPr>
        <p:spPr>
          <a:xfrm>
            <a:off x="8356397" y="3063240"/>
            <a:ext cx="3058058" cy="365760"/>
          </a:xfrm>
          <a:prstGeom prst="rect">
            <a:avLst/>
          </a:prstGeom>
          <a:noFill/>
          <a:ln/>
        </p:spPr>
        <p:txBody>
          <a:bodyPr wrap="square" lIns="0" tIns="0" rIns="0" bIns="0" rtlCol="0" anchor="ctr"/>
          <a:lstStyle/>
          <a:p>
            <a:pPr indent="0" marL="0">
              <a:buNone/>
            </a:pPr>
            <a:r>
              <a:rPr lang="en-US" sz="2000" b="1" dirty="0">
                <a:solidFill>
                  <a:schemeClr val="accent1"/>
                </a:solidFill>
              </a:rPr>
              <a:t>OUI ?   NON ?</a:t>
            </a:r>
            <a:endParaRPr lang="en-US" sz="2000" dirty="0"/>
          </a:p>
        </p:txBody>
      </p:sp>
      <p:sp>
        <p:nvSpPr>
          <p:cNvPr id="15" name="Carte"/>
          <p:cNvSpPr/>
          <p:nvPr/>
        </p:nvSpPr>
        <p:spPr>
          <a:xfrm>
            <a:off x="548640" y="3840480"/>
            <a:ext cx="3515258" cy="2057400"/>
          </a:xfrm>
          <a:prstGeom prst="roundRect">
            <a:avLst>
              <a:gd name="adj" fmla="val 5333"/>
            </a:avLst>
          </a:prstGeom>
          <a:solidFill>
            <a:schemeClr val="bg2"/>
          </a:solidFill>
          <a:ln w="12700">
            <a:solidFill>
              <a:schemeClr val="bg2"/>
            </a:solidFill>
            <a:prstDash val="solid"/>
          </a:ln>
        </p:spPr>
      </p:sp>
      <p:sp>
        <p:nvSpPr>
          <p:cNvPr id="16" name="Text 14"/>
          <p:cNvSpPr txBox="1"/>
          <p:nvPr/>
        </p:nvSpPr>
        <p:spPr>
          <a:xfrm>
            <a:off x="777240" y="3931920"/>
            <a:ext cx="3058058" cy="1463040"/>
          </a:xfrm>
          <a:prstGeom prst="rect">
            <a:avLst/>
          </a:prstGeom>
          <a:noFill/>
          <a:ln/>
        </p:spPr>
        <p:txBody>
          <a:bodyPr wrap="square" lIns="0" tIns="0" rIns="0" bIns="0" rtlCol="0" anchor="t"/>
          <a:lstStyle/>
          <a:p>
            <a:pPr indent="0" marL="0">
              <a:buNone/>
            </a:pPr>
            <a:r>
              <a:rPr lang="en-US" sz="1800" dirty="0">
                <a:solidFill>
                  <a:schemeClr val="tx1"/>
                </a:solidFill>
              </a:rPr>
              <a:t>d. Une offre d’emploi publique</a:t>
            </a:r>
            <a:endParaRPr lang="en-US" sz="1800" dirty="0"/>
          </a:p>
        </p:txBody>
      </p:sp>
      <p:sp>
        <p:nvSpPr>
          <p:cNvPr id="17" name="Text 15"/>
          <p:cNvSpPr txBox="1"/>
          <p:nvPr/>
        </p:nvSpPr>
        <p:spPr>
          <a:xfrm>
            <a:off x="777240" y="5394960"/>
            <a:ext cx="3058058" cy="365760"/>
          </a:xfrm>
          <a:prstGeom prst="rect">
            <a:avLst/>
          </a:prstGeom>
          <a:noFill/>
          <a:ln/>
        </p:spPr>
        <p:txBody>
          <a:bodyPr wrap="square" lIns="0" tIns="0" rIns="0" bIns="0" rtlCol="0" anchor="ctr"/>
          <a:lstStyle/>
          <a:p>
            <a:pPr indent="0" marL="0">
              <a:buNone/>
            </a:pPr>
            <a:r>
              <a:rPr lang="en-US" sz="2000" b="1" dirty="0">
                <a:solidFill>
                  <a:schemeClr val="accent1"/>
                </a:solidFill>
              </a:rPr>
              <a:t>OUI ?   NON ?</a:t>
            </a:r>
            <a:endParaRPr lang="en-US" sz="2000" dirty="0"/>
          </a:p>
        </p:txBody>
      </p:sp>
      <p:sp>
        <p:nvSpPr>
          <p:cNvPr id="18" name="Carte"/>
          <p:cNvSpPr/>
          <p:nvPr/>
        </p:nvSpPr>
        <p:spPr>
          <a:xfrm>
            <a:off x="4338218" y="3840480"/>
            <a:ext cx="3515258" cy="2057400"/>
          </a:xfrm>
          <a:prstGeom prst="roundRect">
            <a:avLst>
              <a:gd name="adj" fmla="val 5333"/>
            </a:avLst>
          </a:prstGeom>
          <a:solidFill>
            <a:schemeClr val="bg2"/>
          </a:solidFill>
          <a:ln w="12700">
            <a:solidFill>
              <a:schemeClr val="bg2"/>
            </a:solidFill>
            <a:prstDash val="solid"/>
          </a:ln>
        </p:spPr>
      </p:sp>
      <p:sp>
        <p:nvSpPr>
          <p:cNvPr id="19" name="Text 17"/>
          <p:cNvSpPr txBox="1"/>
          <p:nvPr/>
        </p:nvSpPr>
        <p:spPr>
          <a:xfrm>
            <a:off x="4566818" y="3931920"/>
            <a:ext cx="3058058" cy="1463040"/>
          </a:xfrm>
          <a:prstGeom prst="rect">
            <a:avLst/>
          </a:prstGeom>
          <a:noFill/>
          <a:ln/>
        </p:spPr>
        <p:txBody>
          <a:bodyPr wrap="square" lIns="0" tIns="0" rIns="0" bIns="0" rtlCol="0" anchor="t"/>
          <a:lstStyle/>
          <a:p>
            <a:pPr indent="0" marL="0">
              <a:buNone/>
            </a:pPr>
            <a:r>
              <a:rPr lang="en-US" sz="1800" dirty="0">
                <a:solidFill>
                  <a:schemeClr val="tx1"/>
                </a:solidFill>
              </a:rPr>
              <a:t>e. Le mot de passe de mon compte de paiement mobile</a:t>
            </a:r>
            <a:endParaRPr lang="en-US" sz="1800" dirty="0"/>
          </a:p>
        </p:txBody>
      </p:sp>
      <p:sp>
        <p:nvSpPr>
          <p:cNvPr id="20" name="Text 18"/>
          <p:cNvSpPr txBox="1"/>
          <p:nvPr/>
        </p:nvSpPr>
        <p:spPr>
          <a:xfrm>
            <a:off x="4566818" y="5394960"/>
            <a:ext cx="3058058" cy="365760"/>
          </a:xfrm>
          <a:prstGeom prst="rect">
            <a:avLst/>
          </a:prstGeom>
          <a:noFill/>
          <a:ln/>
        </p:spPr>
        <p:txBody>
          <a:bodyPr wrap="square" lIns="0" tIns="0" rIns="0" bIns="0" rtlCol="0" anchor="ctr"/>
          <a:lstStyle/>
          <a:p>
            <a:pPr indent="0" marL="0">
              <a:buNone/>
            </a:pPr>
            <a:r>
              <a:rPr lang="en-US" sz="2000" b="1" dirty="0">
                <a:solidFill>
                  <a:schemeClr val="accent1"/>
                </a:solidFill>
              </a:rPr>
              <a:t>OUI ?   NON ?</a:t>
            </a:r>
            <a:endParaRPr lang="en-US" sz="2000" dirty="0"/>
          </a:p>
        </p:txBody>
      </p:sp>
      <p:sp>
        <p:nvSpPr>
          <p:cNvPr id="21" name="Carte"/>
          <p:cNvSpPr/>
          <p:nvPr/>
        </p:nvSpPr>
        <p:spPr>
          <a:xfrm>
            <a:off x="8127797" y="3840480"/>
            <a:ext cx="3515258" cy="2057400"/>
          </a:xfrm>
          <a:prstGeom prst="roundRect">
            <a:avLst>
              <a:gd name="adj" fmla="val 5333"/>
            </a:avLst>
          </a:prstGeom>
          <a:solidFill>
            <a:schemeClr val="bg2"/>
          </a:solidFill>
          <a:ln w="12700">
            <a:solidFill>
              <a:schemeClr val="bg2"/>
            </a:solidFill>
            <a:prstDash val="solid"/>
          </a:ln>
        </p:spPr>
      </p:sp>
      <p:sp>
        <p:nvSpPr>
          <p:cNvPr id="22" name="Text 20"/>
          <p:cNvSpPr txBox="1"/>
          <p:nvPr/>
        </p:nvSpPr>
        <p:spPr>
          <a:xfrm>
            <a:off x="8356397" y="3931920"/>
            <a:ext cx="3058058" cy="1463040"/>
          </a:xfrm>
          <a:prstGeom prst="rect">
            <a:avLst/>
          </a:prstGeom>
          <a:noFill/>
          <a:ln/>
        </p:spPr>
        <p:txBody>
          <a:bodyPr wrap="square" lIns="0" tIns="0" rIns="0" bIns="0" rtlCol="0" anchor="t"/>
          <a:lstStyle/>
          <a:p>
            <a:pPr indent="0" marL="0">
              <a:buNone/>
            </a:pPr>
            <a:r>
              <a:rPr lang="en-US" sz="1800" dirty="0">
                <a:solidFill>
                  <a:schemeClr val="tx1"/>
                </a:solidFill>
              </a:rPr>
              <a:t>f. La photo d’une collègue, sans lui demander</a:t>
            </a:r>
            <a:endParaRPr lang="en-US" sz="1800" dirty="0"/>
          </a:p>
        </p:txBody>
      </p:sp>
      <p:sp>
        <p:nvSpPr>
          <p:cNvPr id="23" name="Text 21"/>
          <p:cNvSpPr txBox="1"/>
          <p:nvPr/>
        </p:nvSpPr>
        <p:spPr>
          <a:xfrm>
            <a:off x="8356397" y="5394960"/>
            <a:ext cx="3058058" cy="365760"/>
          </a:xfrm>
          <a:prstGeom prst="rect">
            <a:avLst/>
          </a:prstGeom>
          <a:noFill/>
          <a:ln/>
        </p:spPr>
        <p:txBody>
          <a:bodyPr wrap="square" lIns="0" tIns="0" rIns="0" bIns="0" rtlCol="0" anchor="ctr"/>
          <a:lstStyle/>
          <a:p>
            <a:pPr indent="0" marL="0">
              <a:buNone/>
            </a:pPr>
            <a:r>
              <a:rPr lang="en-US" sz="2000" b="1" dirty="0">
                <a:solidFill>
                  <a:schemeClr val="accent1"/>
                </a:solidFill>
              </a:rPr>
              <a:t>OUI ?   NON ?</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Les réponses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Carte"/>
          <p:cNvSpPr/>
          <p:nvPr/>
        </p:nvSpPr>
        <p:spPr>
          <a:xfrm>
            <a:off x="548640" y="1508760"/>
            <a:ext cx="3515258" cy="2057400"/>
          </a:xfrm>
          <a:prstGeom prst="roundRect">
            <a:avLst>
              <a:gd name="adj" fmla="val 5333"/>
            </a:avLst>
          </a:prstGeom>
          <a:solidFill>
            <a:schemeClr val="accent4">
              <a:alpha val="18000"/>
            </a:schemeClr>
          </a:solidFill>
          <a:ln w="19050">
            <a:solidFill>
              <a:schemeClr val="accent4"/>
            </a:solidFill>
            <a:prstDash val="solid"/>
          </a:ln>
        </p:spPr>
      </p:sp>
      <p:sp>
        <p:nvSpPr>
          <p:cNvPr id="7" name="Text 5"/>
          <p:cNvSpPr txBox="1"/>
          <p:nvPr/>
        </p:nvSpPr>
        <p:spPr>
          <a:xfrm>
            <a:off x="777240" y="1600200"/>
            <a:ext cx="3058058" cy="960120"/>
          </a:xfrm>
          <a:prstGeom prst="rect">
            <a:avLst/>
          </a:prstGeom>
          <a:noFill/>
          <a:ln/>
        </p:spPr>
        <p:txBody>
          <a:bodyPr wrap="square" lIns="0" tIns="0" rIns="0" bIns="0" rtlCol="0" anchor="t"/>
          <a:lstStyle/>
          <a:p>
            <a:pPr indent="0" marL="0">
              <a:buNone/>
            </a:pPr>
            <a:r>
              <a:rPr lang="en-US" sz="1800" dirty="0">
                <a:solidFill>
                  <a:schemeClr val="tx1"/>
                </a:solidFill>
              </a:rPr>
              <a:t>a. Mon numéro de carte d’identité</a:t>
            </a:r>
            <a:endParaRPr lang="en-US" sz="1800" dirty="0"/>
          </a:p>
        </p:txBody>
      </p:sp>
      <p:sp>
        <p:nvSpPr>
          <p:cNvPr id="8" name="Text 6"/>
          <p:cNvSpPr txBox="1"/>
          <p:nvPr/>
        </p:nvSpPr>
        <p:spPr>
          <a:xfrm>
            <a:off x="777240" y="2514600"/>
            <a:ext cx="1097280" cy="365760"/>
          </a:xfrm>
          <a:prstGeom prst="rect">
            <a:avLst/>
          </a:prstGeom>
          <a:noFill/>
          <a:ln/>
        </p:spPr>
        <p:txBody>
          <a:bodyPr wrap="square" lIns="0" tIns="0" rIns="0" bIns="0" rtlCol="0" anchor="ctr"/>
          <a:lstStyle/>
          <a:p>
            <a:pPr indent="0" marL="0">
              <a:buNone/>
            </a:pPr>
            <a:r>
              <a:rPr lang="en-US" sz="2200" b="1" dirty="0">
                <a:solidFill>
                  <a:schemeClr val="accent4"/>
                </a:solidFill>
              </a:rPr>
              <a:t>NON</a:t>
            </a:r>
            <a:endParaRPr lang="en-US" sz="2200" dirty="0"/>
          </a:p>
        </p:txBody>
      </p:sp>
      <p:sp>
        <p:nvSpPr>
          <p:cNvPr id="9" name="Text 7"/>
          <p:cNvSpPr txBox="1"/>
          <p:nvPr/>
        </p:nvSpPr>
        <p:spPr>
          <a:xfrm>
            <a:off x="777240" y="2880360"/>
            <a:ext cx="3058058" cy="594360"/>
          </a:xfrm>
          <a:prstGeom prst="rect">
            <a:avLst/>
          </a:prstGeom>
          <a:noFill/>
          <a:ln/>
        </p:spPr>
        <p:txBody>
          <a:bodyPr wrap="square" lIns="0" tIns="0" rIns="0" bIns="0" rtlCol="0" anchor="t"/>
          <a:lstStyle/>
          <a:p>
            <a:pPr indent="0" marL="0">
              <a:buNone/>
            </a:pPr>
            <a:r>
              <a:rPr lang="en-US" sz="1400" dirty="0">
                <a:solidFill>
                  <a:schemeClr val="tx1"/>
                </a:solidFill>
              </a:rPr>
              <a:t>Information d’identité sensible, inutile pour un CV.</a:t>
            </a:r>
            <a:endParaRPr lang="en-US" sz="1400" dirty="0"/>
          </a:p>
        </p:txBody>
      </p:sp>
      <p:sp>
        <p:nvSpPr>
          <p:cNvPr id="10" name="Carte"/>
          <p:cNvSpPr/>
          <p:nvPr/>
        </p:nvSpPr>
        <p:spPr>
          <a:xfrm>
            <a:off x="4338218" y="1508760"/>
            <a:ext cx="3515258" cy="2057400"/>
          </a:xfrm>
          <a:prstGeom prst="roundRect">
            <a:avLst>
              <a:gd name="adj" fmla="val 5333"/>
            </a:avLst>
          </a:prstGeom>
          <a:solidFill>
            <a:schemeClr val="accent3">
              <a:alpha val="18000"/>
            </a:schemeClr>
          </a:solidFill>
          <a:ln w="19050">
            <a:solidFill>
              <a:schemeClr val="accent3"/>
            </a:solidFill>
            <a:prstDash val="solid"/>
          </a:ln>
        </p:spPr>
      </p:sp>
      <p:sp>
        <p:nvSpPr>
          <p:cNvPr id="11" name="Text 9"/>
          <p:cNvSpPr txBox="1"/>
          <p:nvPr/>
        </p:nvSpPr>
        <p:spPr>
          <a:xfrm>
            <a:off x="4566818" y="1600200"/>
            <a:ext cx="3058058" cy="960120"/>
          </a:xfrm>
          <a:prstGeom prst="rect">
            <a:avLst/>
          </a:prstGeom>
          <a:noFill/>
          <a:ln/>
        </p:spPr>
        <p:txBody>
          <a:bodyPr wrap="square" lIns="0" tIns="0" rIns="0" bIns="0" rtlCol="0" anchor="t"/>
          <a:lstStyle/>
          <a:p>
            <a:pPr indent="0" marL="0">
              <a:buNone/>
            </a:pPr>
            <a:r>
              <a:rPr lang="en-US" sz="1800" dirty="0">
                <a:solidFill>
                  <a:schemeClr val="tx1"/>
                </a:solidFill>
              </a:rPr>
              <a:t>b. Mon parcours scolaire et professionnel, pour faire mon CV</a:t>
            </a:r>
            <a:endParaRPr lang="en-US" sz="1800" dirty="0"/>
          </a:p>
        </p:txBody>
      </p:sp>
      <p:sp>
        <p:nvSpPr>
          <p:cNvPr id="12" name="Text 10"/>
          <p:cNvSpPr txBox="1"/>
          <p:nvPr/>
        </p:nvSpPr>
        <p:spPr>
          <a:xfrm>
            <a:off x="4566818" y="2514600"/>
            <a:ext cx="1097280" cy="365760"/>
          </a:xfrm>
          <a:prstGeom prst="rect">
            <a:avLst/>
          </a:prstGeom>
          <a:noFill/>
          <a:ln/>
        </p:spPr>
        <p:txBody>
          <a:bodyPr wrap="square" lIns="0" tIns="0" rIns="0" bIns="0" rtlCol="0" anchor="ctr"/>
          <a:lstStyle/>
          <a:p>
            <a:pPr indent="0" marL="0">
              <a:buNone/>
            </a:pPr>
            <a:r>
              <a:rPr lang="en-US" sz="2200" b="1" dirty="0">
                <a:solidFill>
                  <a:schemeClr val="accent3"/>
                </a:solidFill>
              </a:rPr>
              <a:t>OUI</a:t>
            </a:r>
            <a:endParaRPr lang="en-US" sz="2200" dirty="0"/>
          </a:p>
        </p:txBody>
      </p:sp>
      <p:sp>
        <p:nvSpPr>
          <p:cNvPr id="13" name="Text 11"/>
          <p:cNvSpPr txBox="1"/>
          <p:nvPr/>
        </p:nvSpPr>
        <p:spPr>
          <a:xfrm>
            <a:off x="4566818" y="2880360"/>
            <a:ext cx="3058058" cy="594360"/>
          </a:xfrm>
          <a:prstGeom prst="rect">
            <a:avLst/>
          </a:prstGeom>
          <a:noFill/>
          <a:ln/>
        </p:spPr>
        <p:txBody>
          <a:bodyPr wrap="square" lIns="0" tIns="0" rIns="0" bIns="0" rtlCol="0" anchor="t"/>
          <a:lstStyle/>
          <a:p>
            <a:pPr indent="0" marL="0">
              <a:buNone/>
            </a:pPr>
            <a:r>
              <a:rPr lang="en-US" sz="1400" dirty="0">
                <a:solidFill>
                  <a:schemeClr val="tx1"/>
                </a:solidFill>
              </a:rPr>
              <a:t>C’est le contenu du CV. Je donne seulement le nécessaire.</a:t>
            </a:r>
            <a:endParaRPr lang="en-US" sz="1400" dirty="0"/>
          </a:p>
        </p:txBody>
      </p:sp>
      <p:sp>
        <p:nvSpPr>
          <p:cNvPr id="14" name="Carte"/>
          <p:cNvSpPr/>
          <p:nvPr/>
        </p:nvSpPr>
        <p:spPr>
          <a:xfrm>
            <a:off x="8127797" y="1508760"/>
            <a:ext cx="3515258" cy="2057400"/>
          </a:xfrm>
          <a:prstGeom prst="roundRect">
            <a:avLst>
              <a:gd name="adj" fmla="val 5333"/>
            </a:avLst>
          </a:prstGeom>
          <a:solidFill>
            <a:schemeClr val="accent4">
              <a:alpha val="18000"/>
            </a:schemeClr>
          </a:solidFill>
          <a:ln w="19050">
            <a:solidFill>
              <a:schemeClr val="accent4"/>
            </a:solidFill>
            <a:prstDash val="solid"/>
          </a:ln>
        </p:spPr>
      </p:sp>
      <p:sp>
        <p:nvSpPr>
          <p:cNvPr id="15" name="Text 13"/>
          <p:cNvSpPr txBox="1"/>
          <p:nvPr/>
        </p:nvSpPr>
        <p:spPr>
          <a:xfrm>
            <a:off x="8356397" y="1600200"/>
            <a:ext cx="3058058" cy="960120"/>
          </a:xfrm>
          <a:prstGeom prst="rect">
            <a:avLst/>
          </a:prstGeom>
          <a:noFill/>
          <a:ln/>
        </p:spPr>
        <p:txBody>
          <a:bodyPr wrap="square" lIns="0" tIns="0" rIns="0" bIns="0" rtlCol="0" anchor="t"/>
          <a:lstStyle/>
          <a:p>
            <a:pPr indent="0" marL="0">
              <a:buNone/>
            </a:pPr>
            <a:r>
              <a:rPr lang="en-US" sz="1800" dirty="0">
                <a:solidFill>
                  <a:schemeClr val="tx1"/>
                </a:solidFill>
              </a:rPr>
              <a:t>c. Le contrat confidentiel de mon employeur</a:t>
            </a:r>
            <a:endParaRPr lang="en-US" sz="1800" dirty="0"/>
          </a:p>
        </p:txBody>
      </p:sp>
      <p:sp>
        <p:nvSpPr>
          <p:cNvPr id="16" name="Text 14"/>
          <p:cNvSpPr txBox="1"/>
          <p:nvPr/>
        </p:nvSpPr>
        <p:spPr>
          <a:xfrm>
            <a:off x="8356397" y="2514600"/>
            <a:ext cx="1097280" cy="365760"/>
          </a:xfrm>
          <a:prstGeom prst="rect">
            <a:avLst/>
          </a:prstGeom>
          <a:noFill/>
          <a:ln/>
        </p:spPr>
        <p:txBody>
          <a:bodyPr wrap="square" lIns="0" tIns="0" rIns="0" bIns="0" rtlCol="0" anchor="ctr"/>
          <a:lstStyle/>
          <a:p>
            <a:pPr indent="0" marL="0">
              <a:buNone/>
            </a:pPr>
            <a:r>
              <a:rPr lang="en-US" sz="2200" b="1" dirty="0">
                <a:solidFill>
                  <a:schemeClr val="accent4"/>
                </a:solidFill>
              </a:rPr>
              <a:t>NON</a:t>
            </a:r>
            <a:endParaRPr lang="en-US" sz="2200" dirty="0"/>
          </a:p>
        </p:txBody>
      </p:sp>
      <p:sp>
        <p:nvSpPr>
          <p:cNvPr id="17" name="Text 15"/>
          <p:cNvSpPr txBox="1"/>
          <p:nvPr/>
        </p:nvSpPr>
        <p:spPr>
          <a:xfrm>
            <a:off x="8356397" y="2880360"/>
            <a:ext cx="3058058" cy="594360"/>
          </a:xfrm>
          <a:prstGeom prst="rect">
            <a:avLst/>
          </a:prstGeom>
          <a:noFill/>
          <a:ln/>
        </p:spPr>
        <p:txBody>
          <a:bodyPr wrap="square" lIns="0" tIns="0" rIns="0" bIns="0" rtlCol="0" anchor="t"/>
          <a:lstStyle/>
          <a:p>
            <a:pPr indent="0" marL="0">
              <a:buNone/>
            </a:pPr>
            <a:r>
              <a:rPr lang="en-US" sz="1400" dirty="0">
                <a:solidFill>
                  <a:schemeClr val="tx1"/>
                </a:solidFill>
              </a:rPr>
              <a:t>Ce n’est pas à moi de le partager.</a:t>
            </a:r>
            <a:endParaRPr lang="en-US" sz="1400" dirty="0"/>
          </a:p>
        </p:txBody>
      </p:sp>
      <p:sp>
        <p:nvSpPr>
          <p:cNvPr id="18" name="Carte"/>
          <p:cNvSpPr/>
          <p:nvPr/>
        </p:nvSpPr>
        <p:spPr>
          <a:xfrm>
            <a:off x="548640" y="3840480"/>
            <a:ext cx="3515258" cy="2057400"/>
          </a:xfrm>
          <a:prstGeom prst="roundRect">
            <a:avLst>
              <a:gd name="adj" fmla="val 5333"/>
            </a:avLst>
          </a:prstGeom>
          <a:solidFill>
            <a:schemeClr val="accent3">
              <a:alpha val="18000"/>
            </a:schemeClr>
          </a:solidFill>
          <a:ln w="19050">
            <a:solidFill>
              <a:schemeClr val="accent3"/>
            </a:solidFill>
            <a:prstDash val="solid"/>
          </a:ln>
        </p:spPr>
      </p:sp>
      <p:sp>
        <p:nvSpPr>
          <p:cNvPr id="19" name="Text 17"/>
          <p:cNvSpPr txBox="1"/>
          <p:nvPr/>
        </p:nvSpPr>
        <p:spPr>
          <a:xfrm>
            <a:off x="777240" y="3931920"/>
            <a:ext cx="3058058" cy="960120"/>
          </a:xfrm>
          <a:prstGeom prst="rect">
            <a:avLst/>
          </a:prstGeom>
          <a:noFill/>
          <a:ln/>
        </p:spPr>
        <p:txBody>
          <a:bodyPr wrap="square" lIns="0" tIns="0" rIns="0" bIns="0" rtlCol="0" anchor="t"/>
          <a:lstStyle/>
          <a:p>
            <a:pPr indent="0" marL="0">
              <a:buNone/>
            </a:pPr>
            <a:r>
              <a:rPr lang="en-US" sz="1800" dirty="0">
                <a:solidFill>
                  <a:schemeClr val="tx1"/>
                </a:solidFill>
              </a:rPr>
              <a:t>d. Une offre d’emploi publique</a:t>
            </a:r>
            <a:endParaRPr lang="en-US" sz="1800" dirty="0"/>
          </a:p>
        </p:txBody>
      </p:sp>
      <p:sp>
        <p:nvSpPr>
          <p:cNvPr id="20" name="Text 18"/>
          <p:cNvSpPr txBox="1"/>
          <p:nvPr/>
        </p:nvSpPr>
        <p:spPr>
          <a:xfrm>
            <a:off x="777240" y="4846320"/>
            <a:ext cx="1097280" cy="365760"/>
          </a:xfrm>
          <a:prstGeom prst="rect">
            <a:avLst/>
          </a:prstGeom>
          <a:noFill/>
          <a:ln/>
        </p:spPr>
        <p:txBody>
          <a:bodyPr wrap="square" lIns="0" tIns="0" rIns="0" bIns="0" rtlCol="0" anchor="ctr"/>
          <a:lstStyle/>
          <a:p>
            <a:pPr indent="0" marL="0">
              <a:buNone/>
            </a:pPr>
            <a:r>
              <a:rPr lang="en-US" sz="2200" b="1" dirty="0">
                <a:solidFill>
                  <a:schemeClr val="accent3"/>
                </a:solidFill>
              </a:rPr>
              <a:t>OUI</a:t>
            </a:r>
            <a:endParaRPr lang="en-US" sz="2200" dirty="0"/>
          </a:p>
        </p:txBody>
      </p:sp>
      <p:sp>
        <p:nvSpPr>
          <p:cNvPr id="21" name="Text 19"/>
          <p:cNvSpPr txBox="1"/>
          <p:nvPr/>
        </p:nvSpPr>
        <p:spPr>
          <a:xfrm>
            <a:off x="777240" y="5212080"/>
            <a:ext cx="3058058" cy="594360"/>
          </a:xfrm>
          <a:prstGeom prst="rect">
            <a:avLst/>
          </a:prstGeom>
          <a:noFill/>
          <a:ln/>
        </p:spPr>
        <p:txBody>
          <a:bodyPr wrap="square" lIns="0" tIns="0" rIns="0" bIns="0" rtlCol="0" anchor="t"/>
          <a:lstStyle/>
          <a:p>
            <a:pPr indent="0" marL="0">
              <a:buNone/>
            </a:pPr>
            <a:r>
              <a:rPr lang="en-US" sz="1400" dirty="0">
                <a:solidFill>
                  <a:schemeClr val="tx1"/>
                </a:solidFill>
              </a:rPr>
              <a:t>Elle est publique.</a:t>
            </a:r>
            <a:endParaRPr lang="en-US" sz="1400" dirty="0"/>
          </a:p>
        </p:txBody>
      </p:sp>
      <p:sp>
        <p:nvSpPr>
          <p:cNvPr id="22" name="Carte"/>
          <p:cNvSpPr/>
          <p:nvPr/>
        </p:nvSpPr>
        <p:spPr>
          <a:xfrm>
            <a:off x="4338218" y="3840480"/>
            <a:ext cx="3515258" cy="2057400"/>
          </a:xfrm>
          <a:prstGeom prst="roundRect">
            <a:avLst>
              <a:gd name="adj" fmla="val 5333"/>
            </a:avLst>
          </a:prstGeom>
          <a:solidFill>
            <a:schemeClr val="accent4">
              <a:alpha val="18000"/>
            </a:schemeClr>
          </a:solidFill>
          <a:ln w="19050">
            <a:solidFill>
              <a:schemeClr val="accent4"/>
            </a:solidFill>
            <a:prstDash val="solid"/>
          </a:ln>
        </p:spPr>
      </p:sp>
      <p:sp>
        <p:nvSpPr>
          <p:cNvPr id="23" name="Text 21"/>
          <p:cNvSpPr txBox="1"/>
          <p:nvPr/>
        </p:nvSpPr>
        <p:spPr>
          <a:xfrm>
            <a:off x="4566818" y="3931920"/>
            <a:ext cx="3058058" cy="960120"/>
          </a:xfrm>
          <a:prstGeom prst="rect">
            <a:avLst/>
          </a:prstGeom>
          <a:noFill/>
          <a:ln/>
        </p:spPr>
        <p:txBody>
          <a:bodyPr wrap="square" lIns="0" tIns="0" rIns="0" bIns="0" rtlCol="0" anchor="t"/>
          <a:lstStyle/>
          <a:p>
            <a:pPr indent="0" marL="0">
              <a:buNone/>
            </a:pPr>
            <a:r>
              <a:rPr lang="en-US" sz="1800" dirty="0">
                <a:solidFill>
                  <a:schemeClr val="tx1"/>
                </a:solidFill>
              </a:rPr>
              <a:t>e. Le mot de passe de mon compte de paiement mobile</a:t>
            </a:r>
            <a:endParaRPr lang="en-US" sz="1800" dirty="0"/>
          </a:p>
        </p:txBody>
      </p:sp>
      <p:sp>
        <p:nvSpPr>
          <p:cNvPr id="24" name="Text 22"/>
          <p:cNvSpPr txBox="1"/>
          <p:nvPr/>
        </p:nvSpPr>
        <p:spPr>
          <a:xfrm>
            <a:off x="4566818" y="4846320"/>
            <a:ext cx="1097280" cy="365760"/>
          </a:xfrm>
          <a:prstGeom prst="rect">
            <a:avLst/>
          </a:prstGeom>
          <a:noFill/>
          <a:ln/>
        </p:spPr>
        <p:txBody>
          <a:bodyPr wrap="square" lIns="0" tIns="0" rIns="0" bIns="0" rtlCol="0" anchor="ctr"/>
          <a:lstStyle/>
          <a:p>
            <a:pPr indent="0" marL="0">
              <a:buNone/>
            </a:pPr>
            <a:r>
              <a:rPr lang="en-US" sz="2200" b="1" dirty="0">
                <a:solidFill>
                  <a:schemeClr val="accent4"/>
                </a:solidFill>
              </a:rPr>
              <a:t>NON</a:t>
            </a:r>
            <a:endParaRPr lang="en-US" sz="2200" dirty="0"/>
          </a:p>
        </p:txBody>
      </p:sp>
      <p:sp>
        <p:nvSpPr>
          <p:cNvPr id="25" name="Text 23"/>
          <p:cNvSpPr txBox="1"/>
          <p:nvPr/>
        </p:nvSpPr>
        <p:spPr>
          <a:xfrm>
            <a:off x="4566818" y="5212080"/>
            <a:ext cx="3058058" cy="594360"/>
          </a:xfrm>
          <a:prstGeom prst="rect">
            <a:avLst/>
          </a:prstGeom>
          <a:noFill/>
          <a:ln/>
        </p:spPr>
        <p:txBody>
          <a:bodyPr wrap="square" lIns="0" tIns="0" rIns="0" bIns="0" rtlCol="0" anchor="t"/>
          <a:lstStyle/>
          <a:p>
            <a:pPr indent="0" marL="0">
              <a:buNone/>
            </a:pPr>
            <a:r>
              <a:rPr lang="en-US" sz="1400" dirty="0">
                <a:solidFill>
                  <a:schemeClr val="tx1"/>
                </a:solidFill>
              </a:rPr>
              <a:t>Ne jamais donner un mot de passe ou un code à une IA.</a:t>
            </a:r>
            <a:endParaRPr lang="en-US" sz="1400" dirty="0"/>
          </a:p>
        </p:txBody>
      </p:sp>
      <p:sp>
        <p:nvSpPr>
          <p:cNvPr id="26" name="Carte"/>
          <p:cNvSpPr/>
          <p:nvPr/>
        </p:nvSpPr>
        <p:spPr>
          <a:xfrm>
            <a:off x="8127797" y="3840480"/>
            <a:ext cx="3515258" cy="2057400"/>
          </a:xfrm>
          <a:prstGeom prst="roundRect">
            <a:avLst>
              <a:gd name="adj" fmla="val 5333"/>
            </a:avLst>
          </a:prstGeom>
          <a:solidFill>
            <a:schemeClr val="accent4">
              <a:alpha val="18000"/>
            </a:schemeClr>
          </a:solidFill>
          <a:ln w="19050">
            <a:solidFill>
              <a:schemeClr val="accent4"/>
            </a:solidFill>
            <a:prstDash val="solid"/>
          </a:ln>
        </p:spPr>
      </p:sp>
      <p:sp>
        <p:nvSpPr>
          <p:cNvPr id="27" name="Text 25"/>
          <p:cNvSpPr txBox="1"/>
          <p:nvPr/>
        </p:nvSpPr>
        <p:spPr>
          <a:xfrm>
            <a:off x="8356397" y="3931920"/>
            <a:ext cx="3058058" cy="960120"/>
          </a:xfrm>
          <a:prstGeom prst="rect">
            <a:avLst/>
          </a:prstGeom>
          <a:noFill/>
          <a:ln/>
        </p:spPr>
        <p:txBody>
          <a:bodyPr wrap="square" lIns="0" tIns="0" rIns="0" bIns="0" rtlCol="0" anchor="t"/>
          <a:lstStyle/>
          <a:p>
            <a:pPr indent="0" marL="0">
              <a:buNone/>
            </a:pPr>
            <a:r>
              <a:rPr lang="en-US" sz="1800" dirty="0">
                <a:solidFill>
                  <a:schemeClr val="tx1"/>
                </a:solidFill>
              </a:rPr>
              <a:t>f. La photo d’une collègue, sans lui demander</a:t>
            </a:r>
            <a:endParaRPr lang="en-US" sz="1800" dirty="0"/>
          </a:p>
        </p:txBody>
      </p:sp>
      <p:sp>
        <p:nvSpPr>
          <p:cNvPr id="28" name="Text 26"/>
          <p:cNvSpPr txBox="1"/>
          <p:nvPr/>
        </p:nvSpPr>
        <p:spPr>
          <a:xfrm>
            <a:off x="8356397" y="4846320"/>
            <a:ext cx="1097280" cy="365760"/>
          </a:xfrm>
          <a:prstGeom prst="rect">
            <a:avLst/>
          </a:prstGeom>
          <a:noFill/>
          <a:ln/>
        </p:spPr>
        <p:txBody>
          <a:bodyPr wrap="square" lIns="0" tIns="0" rIns="0" bIns="0" rtlCol="0" anchor="ctr"/>
          <a:lstStyle/>
          <a:p>
            <a:pPr indent="0" marL="0">
              <a:buNone/>
            </a:pPr>
            <a:r>
              <a:rPr lang="en-US" sz="2200" b="1" dirty="0">
                <a:solidFill>
                  <a:schemeClr val="accent4"/>
                </a:solidFill>
              </a:rPr>
              <a:t>NON</a:t>
            </a:r>
            <a:endParaRPr lang="en-US" sz="2200" dirty="0"/>
          </a:p>
        </p:txBody>
      </p:sp>
      <p:sp>
        <p:nvSpPr>
          <p:cNvPr id="29" name="Text 27"/>
          <p:cNvSpPr txBox="1"/>
          <p:nvPr/>
        </p:nvSpPr>
        <p:spPr>
          <a:xfrm>
            <a:off x="8356397" y="5212080"/>
            <a:ext cx="3058058" cy="594360"/>
          </a:xfrm>
          <a:prstGeom prst="rect">
            <a:avLst/>
          </a:prstGeom>
          <a:noFill/>
          <a:ln/>
        </p:spPr>
        <p:txBody>
          <a:bodyPr wrap="square" lIns="0" tIns="0" rIns="0" bIns="0" rtlCol="0" anchor="t"/>
          <a:lstStyle/>
          <a:p>
            <a:pPr indent="0" marL="0">
              <a:buNone/>
            </a:pPr>
            <a:r>
              <a:rPr lang="en-US" sz="1400" dirty="0">
                <a:solidFill>
                  <a:schemeClr val="tx1"/>
                </a:solidFill>
              </a:rPr>
              <a:t>Il faut l’accord de la personne.</a:t>
            </a:r>
            <a:endParaRPr lang="en-US" sz="14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Skill ou prompt ?</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Carte"/>
          <p:cNvSpPr/>
          <p:nvPr/>
        </p:nvSpPr>
        <p:spPr>
          <a:xfrm>
            <a:off x="548640" y="1463040"/>
            <a:ext cx="5318608" cy="4023360"/>
          </a:xfrm>
          <a:prstGeom prst="roundRect">
            <a:avLst>
              <a:gd name="adj" fmla="val 2727"/>
            </a:avLst>
          </a:prstGeom>
          <a:solidFill>
            <a:schemeClr val="bg2"/>
          </a:solidFill>
          <a:ln w="12700">
            <a:solidFill>
              <a:schemeClr val="bg2"/>
            </a:solidFill>
            <a:prstDash val="solid"/>
          </a:ln>
        </p:spPr>
      </p:sp>
      <p:sp>
        <p:nvSpPr>
          <p:cNvPr id="7" name="Badge icône"/>
          <p:cNvSpPr/>
          <p:nvPr/>
        </p:nvSpPr>
        <p:spPr>
          <a:xfrm>
            <a:off x="822960" y="1691640"/>
            <a:ext cx="731520" cy="731520"/>
          </a:xfrm>
          <a:prstGeom prst="ellipse">
            <a:avLst/>
          </a:prstGeom>
          <a:solidFill>
            <a:srgbClr val="5B6573"/>
          </a:solidFill>
          <a:ln w="12700">
            <a:solidFill>
              <a:srgbClr val="5B6573"/>
            </a:solidFill>
            <a:prstDash val="solid"/>
          </a:ln>
        </p:spPr>
      </p:sp>
      <p:pic>
        <p:nvPicPr>
          <p:cNvPr id="8" name="Image 0" descr="FaComments">    </p:cNvPr>
          <p:cNvPicPr>
            <a:picLocks noChangeAspect="1"/>
          </p:cNvPicPr>
          <p:nvPr/>
        </p:nvPicPr>
        <p:blipFill>
          <a:blip r:embed="rId1"/>
          <a:stretch>
            <a:fillRect/>
          </a:stretch>
        </p:blipFill>
        <p:spPr>
          <a:xfrm>
            <a:off x="998525" y="1867205"/>
            <a:ext cx="380390" cy="380390"/>
          </a:xfrm>
          <a:prstGeom prst="rect">
            <a:avLst/>
          </a:prstGeom>
        </p:spPr>
      </p:pic>
      <p:sp>
        <p:nvSpPr>
          <p:cNvPr id="9" name="Text 6"/>
          <p:cNvSpPr txBox="1"/>
          <p:nvPr/>
        </p:nvSpPr>
        <p:spPr>
          <a:xfrm>
            <a:off x="1737360" y="1691640"/>
            <a:ext cx="3947008" cy="731520"/>
          </a:xfrm>
          <a:prstGeom prst="rect">
            <a:avLst/>
          </a:prstGeom>
          <a:noFill/>
          <a:ln/>
        </p:spPr>
        <p:txBody>
          <a:bodyPr wrap="square" lIns="0" tIns="0" rIns="0" bIns="0" rtlCol="0" anchor="ctr"/>
          <a:lstStyle/>
          <a:p>
            <a:pPr indent="0" marL="0">
              <a:buNone/>
            </a:pPr>
            <a:r>
              <a:rPr lang="en-US" sz="2800" b="1" dirty="0">
                <a:solidFill>
                  <a:schemeClr val="tx2"/>
                </a:solidFill>
              </a:rPr>
              <a:t>Un prompt</a:t>
            </a:r>
            <a:endParaRPr lang="en-US" sz="2800" dirty="0"/>
          </a:p>
        </p:txBody>
      </p:sp>
      <p:sp>
        <p:nvSpPr>
          <p:cNvPr id="10" name="Text 7"/>
          <p:cNvSpPr txBox="1"/>
          <p:nvPr/>
        </p:nvSpPr>
        <p:spPr>
          <a:xfrm>
            <a:off x="868680" y="2697480"/>
            <a:ext cx="4678528" cy="26517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Je l’écris moi-même, à chaque fois.</a:t>
            </a:r>
            <a:endParaRPr lang="en-US" sz="2000" dirty="0"/>
          </a:p>
          <a:p>
            <a:pPr marL="342900" indent="-342900">
              <a:spcAft>
                <a:spcPts val="800"/>
              </a:spcAft>
              <a:buSzPct val="100000"/>
              <a:buChar char="•"/>
            </a:pPr>
            <a:r>
              <a:rPr lang="en-US" sz="2000" dirty="0">
                <a:solidFill>
                  <a:schemeClr val="tx1"/>
                </a:solidFill>
              </a:rPr>
              <a:t>Le résultat dépend de ma façon de demander.</a:t>
            </a:r>
            <a:endParaRPr lang="en-US" sz="2000" dirty="0"/>
          </a:p>
          <a:p>
            <a:pPr marL="342900" indent="-342900">
              <a:spcAft>
                <a:spcPts val="800"/>
              </a:spcAft>
              <a:buSzPct val="100000"/>
              <a:buChar char="•"/>
            </a:pPr>
            <a:r>
              <a:rPr lang="en-US" sz="2000" dirty="0">
                <a:solidFill>
                  <a:schemeClr val="tx1"/>
                </a:solidFill>
              </a:rPr>
              <a:t>Je dois savoir quoi demander.</a:t>
            </a:r>
            <a:endParaRPr lang="en-US" sz="2000" dirty="0"/>
          </a:p>
        </p:txBody>
      </p:sp>
      <p:sp>
        <p:nvSpPr>
          <p:cNvPr id="11" name="Carte"/>
          <p:cNvSpPr/>
          <p:nvPr/>
        </p:nvSpPr>
        <p:spPr>
          <a:xfrm>
            <a:off x="6324448" y="1463040"/>
            <a:ext cx="5318608" cy="4023360"/>
          </a:xfrm>
          <a:prstGeom prst="roundRect">
            <a:avLst>
              <a:gd name="adj" fmla="val 2727"/>
            </a:avLst>
          </a:prstGeom>
          <a:solidFill>
            <a:schemeClr val="accent1">
              <a:alpha val="12000"/>
            </a:schemeClr>
          </a:solidFill>
          <a:ln w="19050">
            <a:solidFill>
              <a:schemeClr val="accent1"/>
            </a:solidFill>
            <a:prstDash val="solid"/>
          </a:ln>
        </p:spPr>
      </p:sp>
      <p:sp>
        <p:nvSpPr>
          <p:cNvPr id="12" name="Badge icône"/>
          <p:cNvSpPr/>
          <p:nvPr/>
        </p:nvSpPr>
        <p:spPr>
          <a:xfrm>
            <a:off x="6598768" y="1691640"/>
            <a:ext cx="731520" cy="731520"/>
          </a:xfrm>
          <a:prstGeom prst="ellipse">
            <a:avLst/>
          </a:prstGeom>
          <a:solidFill>
            <a:srgbClr val="2F7BD0"/>
          </a:solidFill>
          <a:ln w="12700">
            <a:solidFill>
              <a:srgbClr val="2F7BD0"/>
            </a:solidFill>
            <a:prstDash val="solid"/>
          </a:ln>
        </p:spPr>
      </p:sp>
      <p:pic>
        <p:nvPicPr>
          <p:cNvPr id="13" name="Image 1" descr="FaMagic">    </p:cNvPr>
          <p:cNvPicPr>
            <a:picLocks noChangeAspect="1"/>
          </p:cNvPicPr>
          <p:nvPr/>
        </p:nvPicPr>
        <p:blipFill>
          <a:blip r:embed="rId2"/>
          <a:stretch>
            <a:fillRect/>
          </a:stretch>
        </p:blipFill>
        <p:spPr>
          <a:xfrm>
            <a:off x="6774332" y="1867205"/>
            <a:ext cx="380390" cy="380390"/>
          </a:xfrm>
          <a:prstGeom prst="rect">
            <a:avLst/>
          </a:prstGeom>
        </p:spPr>
      </p:pic>
      <p:sp>
        <p:nvSpPr>
          <p:cNvPr id="14" name="Text 10"/>
          <p:cNvSpPr txBox="1"/>
          <p:nvPr/>
        </p:nvSpPr>
        <p:spPr>
          <a:xfrm>
            <a:off x="7513168" y="1691640"/>
            <a:ext cx="3947008" cy="731520"/>
          </a:xfrm>
          <a:prstGeom prst="rect">
            <a:avLst/>
          </a:prstGeom>
          <a:noFill/>
          <a:ln/>
        </p:spPr>
        <p:txBody>
          <a:bodyPr wrap="square" lIns="0" tIns="0" rIns="0" bIns="0" rtlCol="0" anchor="ctr"/>
          <a:lstStyle/>
          <a:p>
            <a:pPr indent="0" marL="0">
              <a:buNone/>
            </a:pPr>
            <a:r>
              <a:rPr lang="en-US" sz="2800" b="1" dirty="0">
                <a:solidFill>
                  <a:schemeClr val="tx2"/>
                </a:solidFill>
              </a:rPr>
              <a:t>Un skill</a:t>
            </a:r>
            <a:endParaRPr lang="en-US" sz="2800" dirty="0"/>
          </a:p>
        </p:txBody>
      </p:sp>
      <p:sp>
        <p:nvSpPr>
          <p:cNvPr id="15" name="Text 11"/>
          <p:cNvSpPr txBox="1"/>
          <p:nvPr/>
        </p:nvSpPr>
        <p:spPr>
          <a:xfrm>
            <a:off x="6644488" y="2697480"/>
            <a:ext cx="4678528" cy="265176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ia.lab l’a écrit une seule fois.</a:t>
            </a:r>
            <a:endParaRPr lang="en-US" sz="2000" dirty="0"/>
          </a:p>
          <a:p>
            <a:pPr marL="342900" indent="-342900">
              <a:spcAft>
                <a:spcPts val="800"/>
              </a:spcAft>
              <a:buSzPct val="100000"/>
              <a:buChar char="•"/>
            </a:pPr>
            <a:r>
              <a:rPr lang="en-US" sz="2000" dirty="0">
                <a:solidFill>
                  <a:schemeClr val="tx1"/>
                </a:solidFill>
              </a:rPr>
              <a:t>Même structure, même ton, même longueur pour tous.</a:t>
            </a:r>
            <a:endParaRPr lang="en-US" sz="2000" dirty="0"/>
          </a:p>
          <a:p>
            <a:pPr marL="342900" indent="-342900">
              <a:spcAft>
                <a:spcPts val="800"/>
              </a:spcAft>
              <a:buSzPct val="100000"/>
              <a:buChar char="•"/>
            </a:pPr>
            <a:r>
              <a:rPr lang="en-US" sz="2000" dirty="0">
                <a:solidFill>
                  <a:schemeClr val="tx1"/>
                </a:solidFill>
              </a:rPr>
              <a:t>Il ne cherche rien sur internet et n’ajoute aucun fait.</a:t>
            </a:r>
            <a:endParaRPr lang="en-US" sz="2000" dirty="0"/>
          </a:p>
          <a:p>
            <a:pPr marL="342900" indent="-342900">
              <a:spcAft>
                <a:spcPts val="800"/>
              </a:spcAft>
              <a:buSzPct val="100000"/>
              <a:buChar char="•"/>
            </a:pPr>
            <a:r>
              <a:rPr lang="en-US" sz="2000" dirty="0">
                <a:solidFill>
                  <a:schemeClr val="tx1"/>
                </a:solidFill>
              </a:rPr>
              <a:t>Il produit des fichiers à télécharger.</a:t>
            </a:r>
            <a:endParaRPr lang="en-US" sz="2000" dirty="0"/>
          </a:p>
        </p:txBody>
      </p:sp>
      <p:sp>
        <p:nvSpPr>
          <p:cNvPr id="16" name="Text 12"/>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2000" b="1" dirty="0">
                <a:solidFill>
                  <a:schemeClr val="tx2"/>
                </a:solidFill>
              </a:rPr>
              <a:t>Le skill produit un brouillon solide, jamais un document final.</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Ma règle d’or : l’IA propose, je décide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Carte"/>
          <p:cNvSpPr/>
          <p:nvPr/>
        </p:nvSpPr>
        <p:spPr>
          <a:xfrm>
            <a:off x="548640" y="1828800"/>
            <a:ext cx="2072579" cy="3108960"/>
          </a:xfrm>
          <a:prstGeom prst="roundRect">
            <a:avLst>
              <a:gd name="adj" fmla="val 5294"/>
            </a:avLst>
          </a:prstGeom>
          <a:solidFill>
            <a:schemeClr val="bg2"/>
          </a:solidFill>
          <a:ln w="12700">
            <a:solidFill>
              <a:schemeClr val="bg2"/>
            </a:solidFill>
            <a:prstDash val="solid"/>
          </a:ln>
        </p:spPr>
      </p:sp>
      <p:sp>
        <p:nvSpPr>
          <p:cNvPr id="7" name="Text 5"/>
          <p:cNvSpPr txBox="1"/>
          <p:nvPr/>
        </p:nvSpPr>
        <p:spPr>
          <a:xfrm>
            <a:off x="548640" y="1965960"/>
            <a:ext cx="2072579" cy="1005840"/>
          </a:xfrm>
          <a:prstGeom prst="rect">
            <a:avLst/>
          </a:prstGeom>
          <a:noFill/>
          <a:ln/>
        </p:spPr>
        <p:txBody>
          <a:bodyPr wrap="square" lIns="0" tIns="0" rIns="0" bIns="0" rtlCol="0" anchor="ctr"/>
          <a:lstStyle/>
          <a:p>
            <a:pPr algn="ctr" indent="0" marL="0">
              <a:buNone/>
            </a:pPr>
            <a:r>
              <a:rPr lang="en-US" sz="5400" b="1" dirty="0">
                <a:solidFill>
                  <a:schemeClr val="accent1"/>
                </a:solidFill>
              </a:rPr>
              <a:t>1</a:t>
            </a:r>
            <a:endParaRPr lang="en-US" sz="5400" dirty="0"/>
          </a:p>
        </p:txBody>
      </p:sp>
      <p:sp>
        <p:nvSpPr>
          <p:cNvPr id="8" name="Text 6"/>
          <p:cNvSpPr txBox="1"/>
          <p:nvPr/>
        </p:nvSpPr>
        <p:spPr>
          <a:xfrm>
            <a:off x="685800" y="3017520"/>
            <a:ext cx="1798259" cy="1737360"/>
          </a:xfrm>
          <a:prstGeom prst="rect">
            <a:avLst/>
          </a:prstGeom>
          <a:noFill/>
          <a:ln/>
        </p:spPr>
        <p:txBody>
          <a:bodyPr wrap="square" lIns="0" tIns="0" rIns="0" bIns="0" rtlCol="0" anchor="t"/>
          <a:lstStyle/>
          <a:p>
            <a:pPr algn="ctr" indent="0" marL="0">
              <a:buNone/>
            </a:pPr>
            <a:r>
              <a:rPr lang="en-US" sz="2000" b="1" dirty="0">
                <a:solidFill>
                  <a:schemeClr val="tx2"/>
                </a:solidFill>
              </a:rPr>
              <a:t>Je donne des faits vrais</a:t>
            </a:r>
            <a:endParaRPr lang="en-US" sz="2000" dirty="0"/>
          </a:p>
        </p:txBody>
      </p:sp>
      <p:sp>
        <p:nvSpPr>
          <p:cNvPr id="9" name="Carte"/>
          <p:cNvSpPr/>
          <p:nvPr/>
        </p:nvSpPr>
        <p:spPr>
          <a:xfrm>
            <a:off x="2804099" y="1828800"/>
            <a:ext cx="2072579" cy="3108960"/>
          </a:xfrm>
          <a:prstGeom prst="roundRect">
            <a:avLst>
              <a:gd name="adj" fmla="val 5294"/>
            </a:avLst>
          </a:prstGeom>
          <a:solidFill>
            <a:schemeClr val="bg2"/>
          </a:solidFill>
          <a:ln w="12700">
            <a:solidFill>
              <a:schemeClr val="bg2"/>
            </a:solidFill>
            <a:prstDash val="solid"/>
          </a:ln>
        </p:spPr>
      </p:sp>
      <p:sp>
        <p:nvSpPr>
          <p:cNvPr id="10" name="Text 8"/>
          <p:cNvSpPr txBox="1"/>
          <p:nvPr/>
        </p:nvSpPr>
        <p:spPr>
          <a:xfrm>
            <a:off x="2804099" y="1965960"/>
            <a:ext cx="2072579" cy="1005840"/>
          </a:xfrm>
          <a:prstGeom prst="rect">
            <a:avLst/>
          </a:prstGeom>
          <a:noFill/>
          <a:ln/>
        </p:spPr>
        <p:txBody>
          <a:bodyPr wrap="square" lIns="0" tIns="0" rIns="0" bIns="0" rtlCol="0" anchor="ctr"/>
          <a:lstStyle/>
          <a:p>
            <a:pPr algn="ctr" indent="0" marL="0">
              <a:buNone/>
            </a:pPr>
            <a:r>
              <a:rPr lang="en-US" sz="5400" b="1" dirty="0">
                <a:solidFill>
                  <a:schemeClr val="accent1"/>
                </a:solidFill>
              </a:rPr>
              <a:t>2</a:t>
            </a:r>
            <a:endParaRPr lang="en-US" sz="5400" dirty="0"/>
          </a:p>
        </p:txBody>
      </p:sp>
      <p:sp>
        <p:nvSpPr>
          <p:cNvPr id="11" name="Text 9"/>
          <p:cNvSpPr txBox="1"/>
          <p:nvPr/>
        </p:nvSpPr>
        <p:spPr>
          <a:xfrm>
            <a:off x="2941259" y="3017520"/>
            <a:ext cx="1798259" cy="1737360"/>
          </a:xfrm>
          <a:prstGeom prst="rect">
            <a:avLst/>
          </a:prstGeom>
          <a:noFill/>
          <a:ln/>
        </p:spPr>
        <p:txBody>
          <a:bodyPr wrap="square" lIns="0" tIns="0" rIns="0" bIns="0" rtlCol="0" anchor="t"/>
          <a:lstStyle/>
          <a:p>
            <a:pPr algn="ctr" indent="0" marL="0">
              <a:buNone/>
            </a:pPr>
            <a:r>
              <a:rPr lang="en-US" sz="2000" b="1" dirty="0">
                <a:solidFill>
                  <a:schemeClr val="tx2"/>
                </a:solidFill>
              </a:rPr>
              <a:t>L’IA met en forme</a:t>
            </a:r>
            <a:endParaRPr lang="en-US" sz="2000" dirty="0"/>
          </a:p>
        </p:txBody>
      </p:sp>
      <p:sp>
        <p:nvSpPr>
          <p:cNvPr id="12" name="Carte"/>
          <p:cNvSpPr/>
          <p:nvPr/>
        </p:nvSpPr>
        <p:spPr>
          <a:xfrm>
            <a:off x="5059558" y="1828800"/>
            <a:ext cx="2072579" cy="3108960"/>
          </a:xfrm>
          <a:prstGeom prst="roundRect">
            <a:avLst>
              <a:gd name="adj" fmla="val 5294"/>
            </a:avLst>
          </a:prstGeom>
          <a:solidFill>
            <a:schemeClr val="bg2"/>
          </a:solidFill>
          <a:ln w="12700">
            <a:solidFill>
              <a:schemeClr val="bg2"/>
            </a:solidFill>
            <a:prstDash val="solid"/>
          </a:ln>
        </p:spPr>
      </p:sp>
      <p:sp>
        <p:nvSpPr>
          <p:cNvPr id="13" name="Text 11"/>
          <p:cNvSpPr txBox="1"/>
          <p:nvPr/>
        </p:nvSpPr>
        <p:spPr>
          <a:xfrm>
            <a:off x="5059558" y="1965960"/>
            <a:ext cx="2072579" cy="1005840"/>
          </a:xfrm>
          <a:prstGeom prst="rect">
            <a:avLst/>
          </a:prstGeom>
          <a:noFill/>
          <a:ln/>
        </p:spPr>
        <p:txBody>
          <a:bodyPr wrap="square" lIns="0" tIns="0" rIns="0" bIns="0" rtlCol="0" anchor="ctr"/>
          <a:lstStyle/>
          <a:p>
            <a:pPr algn="ctr" indent="0" marL="0">
              <a:buNone/>
            </a:pPr>
            <a:r>
              <a:rPr lang="en-US" sz="5400" b="1" dirty="0">
                <a:solidFill>
                  <a:schemeClr val="accent1"/>
                </a:solidFill>
              </a:rPr>
              <a:t>3</a:t>
            </a:r>
            <a:endParaRPr lang="en-US" sz="5400" dirty="0"/>
          </a:p>
        </p:txBody>
      </p:sp>
      <p:sp>
        <p:nvSpPr>
          <p:cNvPr id="14" name="Text 12"/>
          <p:cNvSpPr txBox="1"/>
          <p:nvPr/>
        </p:nvSpPr>
        <p:spPr>
          <a:xfrm>
            <a:off x="5196718" y="3017520"/>
            <a:ext cx="1798259" cy="1737360"/>
          </a:xfrm>
          <a:prstGeom prst="rect">
            <a:avLst/>
          </a:prstGeom>
          <a:noFill/>
          <a:ln/>
        </p:spPr>
        <p:txBody>
          <a:bodyPr wrap="square" lIns="0" tIns="0" rIns="0" bIns="0" rtlCol="0" anchor="t"/>
          <a:lstStyle/>
          <a:p>
            <a:pPr algn="ctr" indent="0" marL="0">
              <a:buNone/>
            </a:pPr>
            <a:r>
              <a:rPr lang="en-US" sz="2000" b="1" dirty="0">
                <a:solidFill>
                  <a:schemeClr val="tx2"/>
                </a:solidFill>
              </a:rPr>
              <a:t>Je relis</a:t>
            </a:r>
            <a:endParaRPr lang="en-US" sz="2000" dirty="0"/>
          </a:p>
        </p:txBody>
      </p:sp>
      <p:sp>
        <p:nvSpPr>
          <p:cNvPr id="15" name="Carte"/>
          <p:cNvSpPr/>
          <p:nvPr/>
        </p:nvSpPr>
        <p:spPr>
          <a:xfrm>
            <a:off x="7315017" y="1828800"/>
            <a:ext cx="2072579" cy="3108960"/>
          </a:xfrm>
          <a:prstGeom prst="roundRect">
            <a:avLst>
              <a:gd name="adj" fmla="val 5294"/>
            </a:avLst>
          </a:prstGeom>
          <a:solidFill>
            <a:schemeClr val="bg2"/>
          </a:solidFill>
          <a:ln w="12700">
            <a:solidFill>
              <a:schemeClr val="bg2"/>
            </a:solidFill>
            <a:prstDash val="solid"/>
          </a:ln>
        </p:spPr>
      </p:sp>
      <p:sp>
        <p:nvSpPr>
          <p:cNvPr id="16" name="Text 14"/>
          <p:cNvSpPr txBox="1"/>
          <p:nvPr/>
        </p:nvSpPr>
        <p:spPr>
          <a:xfrm>
            <a:off x="7315017" y="1965960"/>
            <a:ext cx="2072579" cy="1005840"/>
          </a:xfrm>
          <a:prstGeom prst="rect">
            <a:avLst/>
          </a:prstGeom>
          <a:noFill/>
          <a:ln/>
        </p:spPr>
        <p:txBody>
          <a:bodyPr wrap="square" lIns="0" tIns="0" rIns="0" bIns="0" rtlCol="0" anchor="ctr"/>
          <a:lstStyle/>
          <a:p>
            <a:pPr algn="ctr" indent="0" marL="0">
              <a:buNone/>
            </a:pPr>
            <a:r>
              <a:rPr lang="en-US" sz="5400" b="1" dirty="0">
                <a:solidFill>
                  <a:schemeClr val="accent1"/>
                </a:solidFill>
              </a:rPr>
              <a:t>4</a:t>
            </a:r>
            <a:endParaRPr lang="en-US" sz="5400" dirty="0"/>
          </a:p>
        </p:txBody>
      </p:sp>
      <p:sp>
        <p:nvSpPr>
          <p:cNvPr id="17" name="Text 15"/>
          <p:cNvSpPr txBox="1"/>
          <p:nvPr/>
        </p:nvSpPr>
        <p:spPr>
          <a:xfrm>
            <a:off x="7452177" y="3017520"/>
            <a:ext cx="1798259" cy="1737360"/>
          </a:xfrm>
          <a:prstGeom prst="rect">
            <a:avLst/>
          </a:prstGeom>
          <a:noFill/>
          <a:ln/>
        </p:spPr>
        <p:txBody>
          <a:bodyPr wrap="square" lIns="0" tIns="0" rIns="0" bIns="0" rtlCol="0" anchor="t"/>
          <a:lstStyle/>
          <a:p>
            <a:pPr algn="ctr" indent="0" marL="0">
              <a:buNone/>
            </a:pPr>
            <a:r>
              <a:rPr lang="en-US" sz="2000" b="1" dirty="0">
                <a:solidFill>
                  <a:schemeClr val="tx2"/>
                </a:solidFill>
              </a:rPr>
              <a:t>Je corrige</a:t>
            </a:r>
            <a:endParaRPr lang="en-US" sz="2000" dirty="0"/>
          </a:p>
        </p:txBody>
      </p:sp>
      <p:sp>
        <p:nvSpPr>
          <p:cNvPr id="18" name="Carte"/>
          <p:cNvSpPr/>
          <p:nvPr/>
        </p:nvSpPr>
        <p:spPr>
          <a:xfrm>
            <a:off x="9570476" y="1828800"/>
            <a:ext cx="2072579" cy="3108960"/>
          </a:xfrm>
          <a:prstGeom prst="roundRect">
            <a:avLst>
              <a:gd name="adj" fmla="val 5294"/>
            </a:avLst>
          </a:prstGeom>
          <a:solidFill>
            <a:schemeClr val="tx2"/>
          </a:solidFill>
          <a:ln w="12700">
            <a:solidFill>
              <a:schemeClr val="tx2"/>
            </a:solidFill>
            <a:prstDash val="solid"/>
          </a:ln>
        </p:spPr>
      </p:sp>
      <p:sp>
        <p:nvSpPr>
          <p:cNvPr id="19" name="Text 17"/>
          <p:cNvSpPr txBox="1"/>
          <p:nvPr/>
        </p:nvSpPr>
        <p:spPr>
          <a:xfrm>
            <a:off x="9570476" y="1965960"/>
            <a:ext cx="2072579" cy="1005840"/>
          </a:xfrm>
          <a:prstGeom prst="rect">
            <a:avLst/>
          </a:prstGeom>
          <a:noFill/>
          <a:ln/>
        </p:spPr>
        <p:txBody>
          <a:bodyPr wrap="square" lIns="0" tIns="0" rIns="0" bIns="0" rtlCol="0" anchor="ctr"/>
          <a:lstStyle/>
          <a:p>
            <a:pPr algn="ctr" indent="0" marL="0">
              <a:buNone/>
            </a:pPr>
            <a:r>
              <a:rPr lang="en-US" sz="5400" b="1" dirty="0">
                <a:solidFill>
                  <a:schemeClr val="bg1"/>
                </a:solidFill>
              </a:rPr>
              <a:t>5</a:t>
            </a:r>
            <a:endParaRPr lang="en-US" sz="5400" dirty="0"/>
          </a:p>
        </p:txBody>
      </p:sp>
      <p:sp>
        <p:nvSpPr>
          <p:cNvPr id="20" name="Text 18"/>
          <p:cNvSpPr txBox="1"/>
          <p:nvPr/>
        </p:nvSpPr>
        <p:spPr>
          <a:xfrm>
            <a:off x="9707636" y="3017520"/>
            <a:ext cx="1798259" cy="1737360"/>
          </a:xfrm>
          <a:prstGeom prst="rect">
            <a:avLst/>
          </a:prstGeom>
          <a:noFill/>
          <a:ln/>
        </p:spPr>
        <p:txBody>
          <a:bodyPr wrap="square" lIns="0" tIns="0" rIns="0" bIns="0" rtlCol="0" anchor="t"/>
          <a:lstStyle/>
          <a:p>
            <a:pPr algn="ctr" indent="0" marL="0">
              <a:buNone/>
            </a:pPr>
            <a:r>
              <a:rPr lang="en-US" sz="2000" b="1" dirty="0">
                <a:solidFill>
                  <a:schemeClr val="bg1"/>
                </a:solidFill>
              </a:rPr>
              <a:t>Je retire ce que je n’ai pas vécu</a:t>
            </a:r>
            <a:endParaRPr lang="en-US" sz="2000" dirty="0"/>
          </a:p>
        </p:txBody>
      </p:sp>
      <p:sp>
        <p:nvSpPr>
          <p:cNvPr id="21" name="Text 19"/>
          <p:cNvSpPr txBox="1"/>
          <p:nvPr/>
        </p:nvSpPr>
        <p:spPr>
          <a:xfrm>
            <a:off x="548640" y="5303520"/>
            <a:ext cx="11094415" cy="548640"/>
          </a:xfrm>
          <a:prstGeom prst="rect">
            <a:avLst/>
          </a:prstGeom>
          <a:noFill/>
          <a:ln/>
        </p:spPr>
        <p:txBody>
          <a:bodyPr wrap="square" lIns="0" tIns="0" rIns="0" bIns="0" rtlCol="0" anchor="ctr"/>
          <a:lstStyle/>
          <a:p>
            <a:pPr indent="0" marL="0">
              <a:buNone/>
            </a:pPr>
            <a:r>
              <a:rPr lang="en-US" sz="2000" dirty="0">
                <a:solidFill>
                  <a:schemeClr val="tx1"/>
                </a:solidFill>
              </a:rPr>
              <a:t>Cette règle sera notée dans chaque TP (critères « vérifié » et « responsable »).</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5 — Ma règle d’or et la formule en 4 lignes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Consigne 1"/>
          <p:cNvSpPr/>
          <p:nvPr/>
        </p:nvSpPr>
        <p:spPr>
          <a:xfrm>
            <a:off x="548640" y="1463040"/>
            <a:ext cx="11094415" cy="1728216"/>
          </a:xfrm>
          <a:prstGeom prst="roundRect">
            <a:avLst>
              <a:gd name="adj" fmla="val 5291"/>
            </a:avLst>
          </a:prstGeom>
          <a:solidFill>
            <a:schemeClr val="bg2"/>
          </a:solidFill>
          <a:ln w="19050">
            <a:solidFill>
              <a:schemeClr val="accent1"/>
            </a:solidFill>
            <a:prstDash val="solid"/>
          </a:ln>
        </p:spPr>
      </p:sp>
      <p:sp>
        <p:nvSpPr>
          <p:cNvPr id="7" name="Titre consigne 1"/>
          <p:cNvSpPr/>
          <p:nvPr/>
        </p:nvSpPr>
        <p:spPr>
          <a:xfrm>
            <a:off x="548640" y="1463040"/>
            <a:ext cx="11094415" cy="384048"/>
          </a:xfrm>
          <a:prstGeom prst="roundRect">
            <a:avLst>
              <a:gd name="adj" fmla="val 23810"/>
            </a:avLst>
          </a:prstGeom>
          <a:solidFill>
            <a:schemeClr val="accent1"/>
          </a:solidFill>
          <a:ln w="12700">
            <a:solidFill>
              <a:schemeClr val="accent1"/>
            </a:solidFill>
            <a:prstDash val="solid"/>
          </a:ln>
        </p:spPr>
      </p:sp>
      <p:sp>
        <p:nvSpPr>
          <p:cNvPr id="8" name="Text 6"/>
          <p:cNvSpPr txBox="1"/>
          <p:nvPr/>
        </p:nvSpPr>
        <p:spPr>
          <a:xfrm>
            <a:off x="731520" y="1463040"/>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   La formule en 4 lignes  ·  Claude ou Gemini</a:t>
            </a:r>
            <a:endParaRPr lang="en-US" sz="1500" dirty="0"/>
          </a:p>
        </p:txBody>
      </p:sp>
      <p:sp>
        <p:nvSpPr>
          <p:cNvPr id="9" name="Text 7"/>
          <p:cNvSpPr txBox="1"/>
          <p:nvPr/>
        </p:nvSpPr>
        <p:spPr>
          <a:xfrm>
            <a:off x="777240" y="1920240"/>
            <a:ext cx="10637215" cy="1252728"/>
          </a:xfrm>
          <a:prstGeom prst="rect">
            <a:avLst/>
          </a:prstGeom>
          <a:noFill/>
          <a:ln/>
        </p:spPr>
        <p:txBody>
          <a:bodyPr wrap="square" lIns="0" tIns="0" rIns="0" bIns="0" rtlCol="0" anchor="t"/>
          <a:lstStyle/>
          <a:p>
            <a:pPr indent="0" marL="0">
              <a:buNone/>
            </a:pPr>
            <a:r>
              <a:rPr lang="en-US" sz="1800" dirty="0">
                <a:solidFill>
                  <a:schemeClr val="tx1"/>
                </a:solidFill>
              </a:rPr>
              <a:t>QUI : Je suis </a:t>
            </a:r>
            <a:pPr indent="0" marL="0">
              <a:buNone/>
            </a:pPr>
            <a:r>
              <a:rPr lang="en-US" sz="1800" b="1" dirty="0">
                <a:solidFill>
                  <a:schemeClr val="accent1"/>
                </a:solidFill>
              </a:rPr>
              <a:t>[ma situation en une phrase]</a:t>
            </a:r>
            <a:pPr indent="0" marL="0">
              <a:buNone/>
            </a:pPr>
            <a:r>
              <a:rPr lang="en-US" sz="1800" dirty="0">
                <a:solidFill>
                  <a:schemeClr val="tx1"/>
                </a:solidFill>
              </a:rPr>
              <a:t>.</a:t>
            </a:r>
            <a:endParaRPr lang="en-US" sz="1800" dirty="0"/>
          </a:p>
          <a:p>
            <a:pPr indent="0" marL="0">
              <a:buNone/>
            </a:pPr>
            <a:r>
              <a:rPr lang="en-US" sz="1800" dirty="0">
                <a:solidFill>
                  <a:schemeClr val="tx1"/>
                </a:solidFill>
              </a:rPr>
              <a:t>QUOI : Je veux </a:t>
            </a:r>
            <a:pPr indent="0" marL="0">
              <a:buNone/>
            </a:pPr>
            <a:r>
              <a:rPr lang="en-US" sz="1800" b="1" dirty="0">
                <a:solidFill>
                  <a:schemeClr val="accent1"/>
                </a:solidFill>
              </a:rPr>
              <a:t>[ce que je veux obtenir]</a:t>
            </a:r>
            <a:pPr indent="0" marL="0">
              <a:buNone/>
            </a:pPr>
            <a:r>
              <a:rPr lang="en-US" sz="1800" dirty="0">
                <a:solidFill>
                  <a:schemeClr val="tx1"/>
                </a:solidFill>
              </a:rPr>
              <a:t>.</a:t>
            </a:r>
            <a:endParaRPr lang="en-US" sz="1800" dirty="0"/>
          </a:p>
          <a:p>
            <a:pPr indent="0" marL="0">
              <a:buNone/>
            </a:pPr>
            <a:r>
              <a:rPr lang="en-US" sz="1800" dirty="0">
                <a:solidFill>
                  <a:schemeClr val="tx1"/>
                </a:solidFill>
              </a:rPr>
              <a:t>COMMENT : </a:t>
            </a:r>
            <a:pPr indent="0" marL="0">
              <a:buNone/>
            </a:pPr>
            <a:r>
              <a:rPr lang="en-US" sz="1800" b="1" dirty="0">
                <a:solidFill>
                  <a:schemeClr val="accent1"/>
                </a:solidFill>
              </a:rPr>
              <a:t>[ton, longueur, langue]</a:t>
            </a:r>
            <a:pPr indent="0" marL="0">
              <a:buNone/>
            </a:pPr>
            <a:r>
              <a:rPr lang="en-US" sz="1800" dirty="0">
                <a:solidFill>
                  <a:schemeClr val="tx1"/>
                </a:solidFill>
              </a:rPr>
              <a:t>.</a:t>
            </a:r>
            <a:endParaRPr lang="en-US" sz="1800" dirty="0"/>
          </a:p>
          <a:p>
            <a:pPr indent="0" marL="0">
              <a:buNone/>
            </a:pPr>
            <a:r>
              <a:rPr lang="en-US" sz="1800" dirty="0">
                <a:solidFill>
                  <a:schemeClr val="tx1"/>
                </a:solidFill>
              </a:rPr>
              <a:t>FORMAT : Donne-moi le résultat sous forme de </a:t>
            </a:r>
            <a:pPr indent="0" marL="0">
              <a:buNone/>
            </a:pPr>
            <a:r>
              <a:rPr lang="en-US" sz="1800" b="1" dirty="0">
                <a:solidFill>
                  <a:schemeClr val="accent1"/>
                </a:solidFill>
              </a:rPr>
              <a:t>[liste / tableau / texte court]</a:t>
            </a:r>
            <a:pPr indent="0" marL="0">
              <a:buNone/>
            </a:pPr>
            <a:r>
              <a:rPr lang="en-US" sz="1800" dirty="0">
                <a:solidFill>
                  <a:schemeClr val="tx1"/>
                </a:solidFill>
              </a:rPr>
              <a:t>.</a:t>
            </a:r>
            <a:endParaRPr lang="en-US" sz="1800" dirty="0"/>
          </a:p>
        </p:txBody>
      </p:sp>
      <p:sp>
        <p:nvSpPr>
          <p:cNvPr id="10" name="Text 8"/>
          <p:cNvSpPr txBox="1"/>
          <p:nvPr/>
        </p:nvSpPr>
        <p:spPr>
          <a:xfrm>
            <a:off x="548640" y="3419856"/>
            <a:ext cx="11094415" cy="822960"/>
          </a:xfrm>
          <a:prstGeom prst="rect">
            <a:avLst/>
          </a:prstGeom>
          <a:noFill/>
          <a:ln/>
        </p:spPr>
        <p:txBody>
          <a:bodyPr wrap="square" lIns="0" tIns="0" rIns="0" bIns="0" rtlCol="0" anchor="t"/>
          <a:lstStyle/>
          <a:p>
            <a:pPr indent="0" marL="0">
              <a:buNone/>
            </a:pPr>
            <a:r>
              <a:rPr lang="en-US" sz="2200" dirty="0">
                <a:solidFill>
                  <a:schemeClr val="tx1"/>
                </a:solidFill>
              </a:rPr>
              <a:t>Pour demander clairement, utilisez la formule en 4 lignes (Consigne 1).</a:t>
            </a:r>
            <a:endParaRPr lang="en-US" sz="2200" dirty="0"/>
          </a:p>
        </p:txBody>
      </p:sp>
      <p:sp>
        <p:nvSpPr>
          <p:cNvPr id="11" name="Text 9"/>
          <p:cNvSpPr txBox="1"/>
          <p:nvPr/>
        </p:nvSpPr>
        <p:spPr>
          <a:xfrm>
            <a:off x="548640" y="4288536"/>
            <a:ext cx="11094415" cy="457200"/>
          </a:xfrm>
          <a:prstGeom prst="rect">
            <a:avLst/>
          </a:prstGeom>
          <a:noFill/>
          <a:ln/>
        </p:spPr>
        <p:txBody>
          <a:bodyPr wrap="square" lIns="0" tIns="0" rIns="0" bIns="0" rtlCol="0" anchor="ctr"/>
          <a:lstStyle/>
          <a:p>
            <a:pPr indent="0" marL="0">
              <a:buNone/>
            </a:pPr>
            <a:r>
              <a:rPr lang="en-US" sz="1800" dirty="0">
                <a:solidFill>
                  <a:schemeClr val="accent5"/>
                </a:solidFill>
              </a:rPr>
              <a:t>Les mots entre [crochets] sont à remplacer par mes informations.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Je peux citer les 4 limites de l’IA.</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Je sais ce que je ne donne jamais à une IA.</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Je connais la différence entre un prompt et un skill.</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Je connais ma règle d’or.</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2</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2 · TP1</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Ma veille professionnelle</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20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1_Veille_NOM</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Savoir suivre les offres, les mots-clés et les compétences demandées pour mon métier, avec l’aide de l’IA.</a:t>
            </a:r>
            <a:endParaRPr lang="en-US" sz="2000" dirty="0"/>
          </a:p>
        </p:txBody>
      </p:sp>
      <p:pic>
        <p:nvPicPr>
          <p:cNvPr id="9" name="Image 0" descr="Ma veille professionnelle">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Je choisis mon cap</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83489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Écrivez en haut de votre fiche : le poste ou l’activité que vous visez + la ville.</a:t>
            </a:r>
            <a:endParaRPr lang="en-US" sz="2400" dirty="0"/>
          </a:p>
          <a:p>
            <a:pPr marL="342900" indent="-342900">
              <a:spcAft>
                <a:spcPts val="1000"/>
              </a:spcAft>
              <a:buSzPct val="100000"/>
              <a:buFont typeface="+mj-lt"/>
              <a:buAutoNum type="arabicPeriod" startAt="1"/>
            </a:pPr>
            <a:r>
              <a:rPr lang="en-US" sz="2400" dirty="0">
                <a:solidFill>
                  <a:schemeClr val="tx1"/>
                </a:solidFill>
              </a:rPr>
              <a:t>Pas d’idée précise ? Prenez une des offres de l’Annexe B.</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Search">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 trouve mes mots-clés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6 min</a:t>
            </a:r>
            <a:endParaRPr lang="en-US" sz="1800" dirty="0"/>
          </a:p>
        </p:txBody>
      </p:sp>
      <p:sp>
        <p:nvSpPr>
          <p:cNvPr id="6" name="Text 4"/>
          <p:cNvSpPr txBox="1"/>
          <p:nvPr/>
        </p:nvSpPr>
        <p:spPr>
          <a:xfrm>
            <a:off x="548640" y="1463040"/>
            <a:ext cx="11094415" cy="184302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000" dirty="0">
                <a:solidFill>
                  <a:schemeClr val="tx1"/>
                </a:solidFill>
              </a:rPr>
              <a:t>Ouvrez Claude.</a:t>
            </a:r>
            <a:endParaRPr lang="en-US" sz="2000" dirty="0"/>
          </a:p>
          <a:p>
            <a:pPr marL="342900" indent="-342900">
              <a:spcAft>
                <a:spcPts val="1000"/>
              </a:spcAft>
              <a:buSzPct val="100000"/>
              <a:buFont typeface="+mj-lt"/>
              <a:buAutoNum type="arabicPeriod" startAt="1"/>
            </a:pPr>
            <a:r>
              <a:rPr lang="en-US" sz="2000" dirty="0">
                <a:solidFill>
                  <a:schemeClr val="tx1"/>
                </a:solidFill>
              </a:rPr>
              <a:t>Copiez la Consigne 2. Remplacez les [crochets] par votre poste et votre ville.</a:t>
            </a:r>
            <a:endParaRPr lang="en-US" sz="2000" dirty="0"/>
          </a:p>
          <a:p>
            <a:pPr marL="342900" indent="-342900">
              <a:spcAft>
                <a:spcPts val="1000"/>
              </a:spcAft>
              <a:buSzPct val="100000"/>
              <a:buFont typeface="+mj-lt"/>
              <a:buAutoNum type="arabicPeriod" startAt="1"/>
            </a:pPr>
            <a:r>
              <a:rPr lang="en-US" sz="2000" dirty="0">
                <a:solidFill>
                  <a:schemeClr val="tx1"/>
                </a:solidFill>
              </a:rPr>
              <a:t>Lisez le tableau. Choisissez les 5 mots-clés qui vous ressemblent le plus.</a:t>
            </a:r>
            <a:endParaRPr lang="en-US" sz="2000" dirty="0"/>
          </a:p>
          <a:p>
            <a:pPr marL="342900" indent="-342900">
              <a:spcAft>
                <a:spcPts val="1000"/>
              </a:spcAft>
              <a:buSzPct val="100000"/>
              <a:buFont typeface="+mj-lt"/>
              <a:buAutoNum type="arabicPeriod" startAt="1"/>
            </a:pPr>
            <a:r>
              <a:rPr lang="en-US" sz="2000" dirty="0">
                <a:solidFill>
                  <a:schemeClr val="tx1"/>
                </a:solidFill>
              </a:rPr>
              <a:t>Recopiez-les dans votre fiche de veille.</a:t>
            </a:r>
            <a:endParaRPr lang="en-US" sz="2000" dirty="0"/>
          </a:p>
        </p:txBody>
      </p:sp>
      <p:sp>
        <p:nvSpPr>
          <p:cNvPr id="7" name="Consigne 2"/>
          <p:cNvSpPr/>
          <p:nvPr/>
        </p:nvSpPr>
        <p:spPr>
          <a:xfrm>
            <a:off x="548640" y="3488944"/>
            <a:ext cx="11094415" cy="1449324"/>
          </a:xfrm>
          <a:prstGeom prst="roundRect">
            <a:avLst>
              <a:gd name="adj" fmla="val 6309"/>
            </a:avLst>
          </a:prstGeom>
          <a:solidFill>
            <a:schemeClr val="bg2"/>
          </a:solidFill>
          <a:ln w="19050">
            <a:solidFill>
              <a:schemeClr val="accent1"/>
            </a:solidFill>
            <a:prstDash val="solid"/>
          </a:ln>
        </p:spPr>
      </p:sp>
      <p:sp>
        <p:nvSpPr>
          <p:cNvPr id="8" name="Titre consigne 2"/>
          <p:cNvSpPr/>
          <p:nvPr/>
        </p:nvSpPr>
        <p:spPr>
          <a:xfrm>
            <a:off x="548640" y="3488944"/>
            <a:ext cx="11094415" cy="384048"/>
          </a:xfrm>
          <a:prstGeom prst="roundRect">
            <a:avLst>
              <a:gd name="adj" fmla="val 23810"/>
            </a:avLst>
          </a:prstGeom>
          <a:solidFill>
            <a:schemeClr val="accent1"/>
          </a:solidFill>
          <a:ln w="12700">
            <a:solidFill>
              <a:schemeClr val="accent1"/>
            </a:solidFill>
            <a:prstDash val="solid"/>
          </a:ln>
        </p:spPr>
      </p:sp>
      <p:sp>
        <p:nvSpPr>
          <p:cNvPr id="9" name="Text 7"/>
          <p:cNvSpPr txBox="1"/>
          <p:nvPr/>
        </p:nvSpPr>
        <p:spPr>
          <a:xfrm>
            <a:off x="731520" y="3488944"/>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2   Mes mots-clés  ·  Claude</a:t>
            </a:r>
            <a:endParaRPr lang="en-US" sz="1500" dirty="0"/>
          </a:p>
        </p:txBody>
      </p:sp>
      <p:sp>
        <p:nvSpPr>
          <p:cNvPr id="10" name="Text 8"/>
          <p:cNvSpPr txBox="1"/>
          <p:nvPr/>
        </p:nvSpPr>
        <p:spPr>
          <a:xfrm>
            <a:off x="777240" y="3946144"/>
            <a:ext cx="10637215" cy="973836"/>
          </a:xfrm>
          <a:prstGeom prst="rect">
            <a:avLst/>
          </a:prstGeom>
          <a:noFill/>
          <a:ln/>
        </p:spPr>
        <p:txBody>
          <a:bodyPr wrap="square" lIns="0" tIns="0" rIns="0" bIns="0" rtlCol="0" anchor="t"/>
          <a:lstStyle/>
          <a:p>
            <a:pPr indent="0" marL="0">
              <a:buNone/>
            </a:pPr>
            <a:r>
              <a:rPr lang="en-US" sz="1800" dirty="0">
                <a:solidFill>
                  <a:schemeClr val="tx1"/>
                </a:solidFill>
              </a:rPr>
              <a:t>Je cherche un poste de </a:t>
            </a:r>
            <a:pPr indent="0" marL="0">
              <a:buNone/>
            </a:pPr>
            <a:r>
              <a:rPr lang="en-US" sz="1800" b="1" dirty="0">
                <a:solidFill>
                  <a:schemeClr val="accent1"/>
                </a:solidFill>
              </a:rPr>
              <a:t>[poste visé]</a:t>
            </a:r>
            <a:pPr indent="0" marL="0">
              <a:buNone/>
            </a:pPr>
            <a:r>
              <a:rPr lang="en-US" sz="1800" dirty="0">
                <a:solidFill>
                  <a:schemeClr val="tx1"/>
                </a:solidFill>
              </a:rPr>
              <a:t> à </a:t>
            </a:r>
            <a:pPr indent="0" marL="0">
              <a:buNone/>
            </a:pPr>
            <a:r>
              <a:rPr lang="en-US" sz="1800" b="1" dirty="0">
                <a:solidFill>
                  <a:schemeClr val="accent1"/>
                </a:solidFill>
              </a:rPr>
              <a:t>[ville, pays]</a:t>
            </a:r>
            <a:pPr indent="0" marL="0">
              <a:buNone/>
            </a:pPr>
            <a:r>
              <a:rPr lang="en-US" sz="1800" dirty="0">
                <a:solidFill>
                  <a:schemeClr val="tx1"/>
                </a:solidFill>
              </a:rPr>
              <a:t>. Donne-moi 10 mots-clés, en français et en anglais, que les recruteurs utilisent pour ce métier. Présente-les dans un tableau : mot-clé / ce que ça veut dire en une phrase simple.</a:t>
            </a:r>
            <a:endParaRPr lang="en-US" sz="1800" dirty="0"/>
          </a:p>
        </p:txBody>
      </p:sp>
      <p:sp>
        <p:nvSpPr>
          <p:cNvPr id="11" name="Attention"/>
          <p:cNvSpPr/>
          <p:nvPr/>
        </p:nvSpPr>
        <p:spPr>
          <a:xfrm>
            <a:off x="548640" y="5166868"/>
            <a:ext cx="11094415" cy="777240"/>
          </a:xfrm>
          <a:prstGeom prst="roundRect">
            <a:avLst>
              <a:gd name="adj" fmla="val 11765"/>
            </a:avLst>
          </a:prstGeom>
          <a:solidFill>
            <a:schemeClr val="accent2">
              <a:alpha val="20000"/>
            </a:schemeClr>
          </a:solidFill>
          <a:ln w="15875">
            <a:solidFill>
              <a:schemeClr val="accent2"/>
            </a:solidFill>
            <a:prstDash val="solid"/>
          </a:ln>
        </p:spPr>
      </p:sp>
      <p:pic>
        <p:nvPicPr>
          <p:cNvPr id="12" name="Image 0" descr="Attention">    </p:cNvPr>
          <p:cNvPicPr>
            <a:picLocks noChangeAspect="1"/>
          </p:cNvPicPr>
          <p:nvPr/>
        </p:nvPicPr>
        <p:blipFill>
          <a:blip r:embed="rId1"/>
          <a:stretch>
            <a:fillRect/>
          </a:stretch>
        </p:blipFill>
        <p:spPr>
          <a:xfrm>
            <a:off x="777240" y="5349748"/>
            <a:ext cx="411480" cy="411480"/>
          </a:xfrm>
          <a:prstGeom prst="rect">
            <a:avLst/>
          </a:prstGeom>
        </p:spPr>
      </p:pic>
      <p:sp>
        <p:nvSpPr>
          <p:cNvPr id="13" name="Text 10"/>
          <p:cNvSpPr txBox="1"/>
          <p:nvPr/>
        </p:nvSpPr>
        <p:spPr>
          <a:xfrm>
            <a:off x="1417320" y="5166868"/>
            <a:ext cx="9997135" cy="777240"/>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Un mot-clé que vous ne comprenez pas ? Demandez : « Explique-moi ce mot simplement. »</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choisis mes sources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6 min</a:t>
            </a:r>
            <a:endParaRPr lang="en-US" sz="1800" dirty="0"/>
          </a:p>
        </p:txBody>
      </p:sp>
      <p:sp>
        <p:nvSpPr>
          <p:cNvPr id="6" name="Text 4"/>
          <p:cNvSpPr txBox="1"/>
          <p:nvPr/>
        </p:nvSpPr>
        <p:spPr>
          <a:xfrm>
            <a:off x="548640" y="1463040"/>
            <a:ext cx="8991295" cy="2179828"/>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200" dirty="0">
                <a:solidFill>
                  <a:schemeClr val="tx1"/>
                </a:solidFill>
              </a:rPr>
              <a:t>Copiez la Consigne 3.</a:t>
            </a:r>
            <a:endParaRPr lang="en-US" sz="2200" dirty="0"/>
          </a:p>
          <a:p>
            <a:pPr marL="342900" indent="-342900">
              <a:spcAft>
                <a:spcPts val="1000"/>
              </a:spcAft>
              <a:buSzPct val="100000"/>
              <a:buFont typeface="+mj-lt"/>
              <a:buAutoNum type="arabicPeriod" startAt="1"/>
            </a:pPr>
            <a:r>
              <a:rPr lang="en-US" sz="2200" dirty="0">
                <a:solidFill>
                  <a:schemeClr val="tx1"/>
                </a:solidFill>
              </a:rPr>
              <a:t>Gardez 3 sources que vous pouvez vraiment consulter (téléphone ou ordinateur).</a:t>
            </a:r>
            <a:endParaRPr lang="en-US" sz="2200" dirty="0"/>
          </a:p>
          <a:p>
            <a:pPr marL="342900" indent="-342900">
              <a:spcAft>
                <a:spcPts val="1000"/>
              </a:spcAft>
              <a:buSzPct val="100000"/>
              <a:buFont typeface="+mj-lt"/>
              <a:buAutoNum type="arabicPeriod" startAt="1"/>
            </a:pPr>
            <a:r>
              <a:rPr lang="en-US" sz="2200" dirty="0">
                <a:solidFill>
                  <a:schemeClr val="tx1"/>
                </a:solidFill>
              </a:rPr>
              <a:t>Notez pour chacune : son nom et quand vous la consultez (ex. : le lundi matin).</a:t>
            </a:r>
            <a:endParaRPr lang="en-US" sz="22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Search">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3"/>
          <p:cNvSpPr/>
          <p:nvPr/>
        </p:nvSpPr>
        <p:spPr>
          <a:xfrm>
            <a:off x="548640" y="3825748"/>
            <a:ext cx="11094415" cy="1449324"/>
          </a:xfrm>
          <a:prstGeom prst="roundRect">
            <a:avLst>
              <a:gd name="adj" fmla="val 6309"/>
            </a:avLst>
          </a:prstGeom>
          <a:solidFill>
            <a:schemeClr val="bg2"/>
          </a:solidFill>
          <a:ln w="19050">
            <a:solidFill>
              <a:schemeClr val="accent1"/>
            </a:solidFill>
            <a:prstDash val="solid"/>
          </a:ln>
        </p:spPr>
      </p:sp>
      <p:sp>
        <p:nvSpPr>
          <p:cNvPr id="10" name="Titre consigne 3"/>
          <p:cNvSpPr/>
          <p:nvPr/>
        </p:nvSpPr>
        <p:spPr>
          <a:xfrm>
            <a:off x="548640" y="3825748"/>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825748"/>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3   Mes sources  ·  Claude</a:t>
            </a:r>
            <a:endParaRPr lang="en-US" sz="1500" dirty="0"/>
          </a:p>
        </p:txBody>
      </p:sp>
      <p:sp>
        <p:nvSpPr>
          <p:cNvPr id="12" name="Text 9"/>
          <p:cNvSpPr txBox="1"/>
          <p:nvPr/>
        </p:nvSpPr>
        <p:spPr>
          <a:xfrm>
            <a:off x="777240" y="4282948"/>
            <a:ext cx="10637215" cy="973836"/>
          </a:xfrm>
          <a:prstGeom prst="rect">
            <a:avLst/>
          </a:prstGeom>
          <a:noFill/>
          <a:ln/>
        </p:spPr>
        <p:txBody>
          <a:bodyPr wrap="square" lIns="0" tIns="0" rIns="0" bIns="0" rtlCol="0" anchor="t"/>
          <a:lstStyle/>
          <a:p>
            <a:pPr indent="0" marL="0">
              <a:buNone/>
            </a:pPr>
            <a:r>
              <a:rPr lang="en-US" sz="1800" dirty="0">
                <a:solidFill>
                  <a:schemeClr val="tx1"/>
                </a:solidFill>
              </a:rPr>
              <a:t>Pour le métier de </a:t>
            </a:r>
            <a:pPr indent="0" marL="0">
              <a:buNone/>
            </a:pPr>
            <a:r>
              <a:rPr lang="en-US" sz="1800" b="1" dirty="0">
                <a:solidFill>
                  <a:schemeClr val="accent1"/>
                </a:solidFill>
              </a:rPr>
              <a:t>[poste visé]</a:t>
            </a:r>
            <a:pPr indent="0" marL="0">
              <a:buNone/>
            </a:pPr>
            <a:r>
              <a:rPr lang="en-US" sz="1800" dirty="0">
                <a:solidFill>
                  <a:schemeClr val="tx1"/>
                </a:solidFill>
              </a:rPr>
              <a:t>, quels sont les 3 types de sources où je peux suivre les offres et les nouveautés (sites, réseaux, organismes) ? Pour chacun, dis-moi comment le consulter en 5 minutes par semaine. Précise ce dont tu es sûr et ce que je dois vérifier moi-même.</a:t>
            </a:r>
            <a:endParaRPr lang="en-US" sz="1800" dirty="0"/>
          </a:p>
        </p:txBody>
      </p:sp>
      <p:sp>
        <p:nvSpPr>
          <p:cNvPr id="13" name="Attention"/>
          <p:cNvSpPr/>
          <p:nvPr/>
        </p:nvSpPr>
        <p:spPr>
          <a:xfrm>
            <a:off x="548640" y="5503672"/>
            <a:ext cx="11094415" cy="777240"/>
          </a:xfrm>
          <a:prstGeom prst="roundRect">
            <a:avLst>
              <a:gd name="adj" fmla="val 11765"/>
            </a:avLst>
          </a:prstGeom>
          <a:solidFill>
            <a:schemeClr val="accent2">
              <a:alpha val="20000"/>
            </a:schemeClr>
          </a:solidFill>
          <a:ln w="15875">
            <a:solidFill>
              <a:schemeClr val="accent2"/>
            </a:solidFill>
            <a:prstDash val="solid"/>
          </a:ln>
        </p:spPr>
      </p:sp>
      <p:pic>
        <p:nvPicPr>
          <p:cNvPr id="14" name="Image 1" descr="Attention">    </p:cNvPr>
          <p:cNvPicPr>
            <a:picLocks noChangeAspect="1"/>
          </p:cNvPicPr>
          <p:nvPr/>
        </p:nvPicPr>
        <p:blipFill>
          <a:blip r:embed="rId2"/>
          <a:stretch>
            <a:fillRect/>
          </a:stretch>
        </p:blipFill>
        <p:spPr>
          <a:xfrm>
            <a:off x="777240" y="5686552"/>
            <a:ext cx="411480" cy="411480"/>
          </a:xfrm>
          <a:prstGeom prst="rect">
            <a:avLst/>
          </a:prstGeom>
        </p:spPr>
      </p:pic>
      <p:sp>
        <p:nvSpPr>
          <p:cNvPr id="15" name="Text 11"/>
          <p:cNvSpPr txBox="1"/>
          <p:nvPr/>
        </p:nvSpPr>
        <p:spPr>
          <a:xfrm>
            <a:off x="1417320" y="5503672"/>
            <a:ext cx="9997135" cy="777240"/>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L’IA peut proposer un site qui n’existe pas ou plus. Ouvrez-le avant de le noter.</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Je découvre les compétences demandées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Copiez la Consigne 4.</a:t>
            </a:r>
            <a:endParaRPr lang="en-US" sz="2400" dirty="0"/>
          </a:p>
          <a:p>
            <a:pPr marL="342900" indent="-342900">
              <a:spcAft>
                <a:spcPts val="1000"/>
              </a:spcAft>
              <a:buSzPct val="100000"/>
              <a:buFont typeface="+mj-lt"/>
              <a:buAutoNum type="arabicPeriod" startAt="1"/>
            </a:pPr>
            <a:r>
              <a:rPr lang="en-US" sz="2400" dirty="0">
                <a:solidFill>
                  <a:schemeClr val="tx1"/>
                </a:solidFill>
              </a:rPr>
              <a:t>Notez 3 compétences dans votre fiche.</a:t>
            </a:r>
            <a:endParaRPr lang="en-US" sz="2400" dirty="0"/>
          </a:p>
          <a:p>
            <a:pPr marL="342900" indent="-342900">
              <a:spcAft>
                <a:spcPts val="1000"/>
              </a:spcAft>
              <a:buSzPct val="100000"/>
              <a:buFont typeface="+mj-lt"/>
              <a:buAutoNum type="arabicPeriod" startAt="1"/>
            </a:pPr>
            <a:r>
              <a:rPr lang="en-US" sz="2400" dirty="0">
                <a:solidFill>
                  <a:schemeClr val="tx1"/>
                </a:solidFill>
              </a:rPr>
              <a:t>Vérifiez-en UNE : trouvez une vraie offre ou un site officiel qui la mentionne. Notez le nom de la source.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Search">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4"/>
          <p:cNvSpPr/>
          <p:nvPr/>
        </p:nvSpPr>
        <p:spPr>
          <a:xfrm>
            <a:off x="548640" y="3608832"/>
            <a:ext cx="11094415" cy="1449324"/>
          </a:xfrm>
          <a:prstGeom prst="roundRect">
            <a:avLst>
              <a:gd name="adj" fmla="val 6309"/>
            </a:avLst>
          </a:prstGeom>
          <a:solidFill>
            <a:schemeClr val="bg2"/>
          </a:solidFill>
          <a:ln w="19050">
            <a:solidFill>
              <a:schemeClr val="accent1"/>
            </a:solidFill>
            <a:prstDash val="solid"/>
          </a:ln>
        </p:spPr>
      </p:sp>
      <p:sp>
        <p:nvSpPr>
          <p:cNvPr id="10" name="Titre consigne 4"/>
          <p:cNvSpPr/>
          <p:nvPr/>
        </p:nvSpPr>
        <p:spPr>
          <a:xfrm>
            <a:off x="548640" y="3608832"/>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608832"/>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4   Les compétences demandées  ·  Claude</a:t>
            </a:r>
            <a:endParaRPr lang="en-US" sz="1500" dirty="0"/>
          </a:p>
        </p:txBody>
      </p:sp>
      <p:sp>
        <p:nvSpPr>
          <p:cNvPr id="12" name="Text 9"/>
          <p:cNvSpPr txBox="1"/>
          <p:nvPr/>
        </p:nvSpPr>
        <p:spPr>
          <a:xfrm>
            <a:off x="777240" y="4066032"/>
            <a:ext cx="10637215" cy="973836"/>
          </a:xfrm>
          <a:prstGeom prst="rect">
            <a:avLst/>
          </a:prstGeom>
          <a:noFill/>
          <a:ln/>
        </p:spPr>
        <p:txBody>
          <a:bodyPr wrap="square" lIns="0" tIns="0" rIns="0" bIns="0" rtlCol="0" anchor="t"/>
          <a:lstStyle/>
          <a:p>
            <a:pPr indent="0" marL="0">
              <a:buNone/>
            </a:pPr>
            <a:r>
              <a:rPr lang="en-US" sz="1800" dirty="0">
                <a:solidFill>
                  <a:schemeClr val="tx1"/>
                </a:solidFill>
              </a:rPr>
              <a:t>Quelles sont les 5 compétences les plus demandées pour </a:t>
            </a:r>
            <a:pPr indent="0" marL="0">
              <a:buNone/>
            </a:pPr>
            <a:r>
              <a:rPr lang="en-US" sz="1800" b="1" dirty="0">
                <a:solidFill>
                  <a:schemeClr val="accent1"/>
                </a:solidFill>
              </a:rPr>
              <a:t>[poste visé]</a:t>
            </a:r>
            <a:pPr indent="0" marL="0">
              <a:buNone/>
            </a:pPr>
            <a:r>
              <a:rPr lang="en-US" sz="1800" dirty="0">
                <a:solidFill>
                  <a:schemeClr val="tx1"/>
                </a:solidFill>
              </a:rPr>
              <a:t> ? Pour chacune, donne une façon simple de la prouver dans un CV. Dis-moi si ton information vient d’une source que je peux ouvrir.</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5 — Je range mon travail</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83489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Dans Google Docs ou Word, faites un tableau : mots-clés / sources / compétences / ce que j’ai vérifié.</a:t>
            </a:r>
            <a:endParaRPr lang="en-US" sz="2400" dirty="0"/>
          </a:p>
          <a:p>
            <a:pPr marL="342900" indent="-342900">
              <a:spcAft>
                <a:spcPts val="1000"/>
              </a:spcAft>
              <a:buSzPct val="100000"/>
              <a:buFont typeface="+mj-lt"/>
              <a:buAutoNum type="arabicPeriod" startAt="1"/>
            </a:pPr>
            <a:r>
              <a:rPr lang="en-US" sz="2400" dirty="0">
                <a:solidFill>
                  <a:schemeClr val="tx1"/>
                </a:solidFill>
              </a:rPr>
              <a:t>Enregistrez sous le nom : 1_Veille_NOM (exemple : 1_Veille_NZABA).</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Search">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5 mots-clés.</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3 sources que je peux consulter.</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3 compétences demandées.</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vérifié au moins une information dans une source que j’ai ouverte.</a:t>
            </a:r>
            <a:endParaRPr lang="en-US" sz="1800" dirty="0"/>
          </a:p>
        </p:txBody>
      </p:sp>
      <p:sp>
        <p:nvSpPr>
          <p:cNvPr id="20" name="Carte"/>
          <p:cNvSpPr/>
          <p:nvPr/>
        </p:nvSpPr>
        <p:spPr>
          <a:xfrm>
            <a:off x="548640" y="4462272"/>
            <a:ext cx="11094415"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4553712"/>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4663440"/>
            <a:ext cx="237744" cy="237744"/>
          </a:xfrm>
          <a:prstGeom prst="rect">
            <a:avLst/>
          </a:prstGeom>
        </p:spPr>
      </p:pic>
      <p:sp>
        <p:nvSpPr>
          <p:cNvPr id="23" name="Text 16"/>
          <p:cNvSpPr txBox="1"/>
          <p:nvPr/>
        </p:nvSpPr>
        <p:spPr>
          <a:xfrm>
            <a:off x="1371600" y="4462272"/>
            <a:ext cx="10088575" cy="640080"/>
          </a:xfrm>
          <a:prstGeom prst="rect">
            <a:avLst/>
          </a:prstGeom>
          <a:noFill/>
          <a:ln/>
        </p:spPr>
        <p:txBody>
          <a:bodyPr wrap="square" lIns="0" tIns="0" rIns="0" bIns="0" rtlCol="0" anchor="ctr"/>
          <a:lstStyle/>
          <a:p>
            <a:pPr indent="0" marL="0">
              <a:buNone/>
            </a:pPr>
            <a:r>
              <a:rPr lang="en-US" sz="1800" dirty="0">
                <a:solidFill>
                  <a:schemeClr val="tx1"/>
                </a:solidFill>
              </a:rPr>
              <a:t>Mon fichier est enregistré avec le bon nom.</a:t>
            </a:r>
            <a:endParaRPr lang="en-US" sz="1800" dirty="0"/>
          </a:p>
        </p:txBody>
      </p:sp>
      <p:sp>
        <p:nvSpPr>
          <p:cNvPr id="24"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5" name="Text 18"/>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3 mots-clés, 2 sources, 1 information vérifiée.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2 · TP1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Je suis un poste (emploi salarié) : mots-clés = ceux des offres d’emploi.</a:t>
            </a:r>
            <a:endParaRPr lang="en-US" sz="18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Je suis une activité : mots-clés = ce que cherchent mes clients. Sources = clients, concurrents, prix, règles à connaître. Dans la Consigne 3, remplacez « suivre les offres » par « suivre mes clients, mes concurrents et les prix ».</a:t>
            </a:r>
            <a:endParaRPr lang="en-US" sz="18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Créez une alerte (Google Alertes) avec votre mot-clé n° 1 pour recevoir les nouveautés par e-mail.</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3</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3 · TP2</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Ma photo pro (conception graphique)</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25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2_Photo_NOM</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Obtenir une photo professionnelle avec l’aide de l’IA et découvrir le design graphique assisté par IA.</a:t>
            </a:r>
            <a:endParaRPr lang="en-US" sz="2000" dirty="0"/>
          </a:p>
        </p:txBody>
      </p:sp>
      <p:pic>
        <p:nvPicPr>
          <p:cNvPr id="9" name="Image 0" descr="Ma photo pro (conception graphique)">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Je choisis la bonne photo</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 min</a:t>
            </a:r>
            <a:endParaRPr lang="en-US" sz="1800" dirty="0"/>
          </a:p>
        </p:txBody>
      </p:sp>
      <p:sp>
        <p:nvSpPr>
          <p:cNvPr id="6" name="Text 4"/>
          <p:cNvSpPr txBox="1"/>
          <p:nvPr/>
        </p:nvSpPr>
        <p:spPr>
          <a:xfrm>
            <a:off x="548640" y="1463040"/>
            <a:ext cx="8991295" cy="270662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Visage net, de face, lumière du jour, sans lunettes de soleil, sans filtre, seul(e) sur la photo.</a:t>
            </a:r>
            <a:endParaRPr lang="en-US" sz="2400" dirty="0"/>
          </a:p>
          <a:p>
            <a:pPr marL="342900" indent="-342900">
              <a:spcAft>
                <a:spcPts val="1000"/>
              </a:spcAft>
              <a:buSzPct val="100000"/>
              <a:buFont typeface="+mj-lt"/>
              <a:buAutoNum type="arabicPeriod" startAt="1"/>
            </a:pPr>
            <a:r>
              <a:rPr lang="en-US" sz="2400" dirty="0">
                <a:solidFill>
                  <a:schemeClr val="tx1"/>
                </a:solidFill>
              </a:rPr>
              <a:t>Mettez la photo sur l’ordinateur : par e-mail, Google Drive ou clé USB.</a:t>
            </a:r>
            <a:endParaRPr lang="en-US" sz="2400" dirty="0"/>
          </a:p>
          <a:p>
            <a:pPr marL="342900" indent="-342900">
              <a:spcAft>
                <a:spcPts val="1000"/>
              </a:spcAft>
              <a:buSzPct val="100000"/>
              <a:buFont typeface="+mj-lt"/>
              <a:buAutoNum type="arabicPeriod" startAt="1"/>
            </a:pPr>
            <a:r>
              <a:rPr lang="en-US" sz="2400" dirty="0">
                <a:solidFill>
                  <a:schemeClr val="tx1"/>
                </a:solidFill>
              </a:rPr>
              <a:t>Pas de photo ? Utilisez la caméra de l’ordinateur, face à la lumière de la fenêtre.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amera">    </p:cNvPr>
          <p:cNvPicPr>
            <a:picLocks noChangeAspect="1"/>
          </p:cNvPicPr>
          <p:nvPr/>
        </p:nvPicPr>
        <p:blipFill>
          <a:blip r:embed="rId1"/>
          <a:stretch>
            <a:fillRect/>
          </a:stretch>
        </p:blipFill>
        <p:spPr>
          <a:xfrm>
            <a:off x="10392156" y="1903781"/>
            <a:ext cx="855878" cy="855878"/>
          </a:xfrm>
          <a:prstGeom prst="rect">
            <a:avLst/>
          </a:prstGeom>
        </p:spPr>
      </p:pic>
      <p:sp>
        <p:nvSpPr>
          <p:cNvPr id="9" name="Attention"/>
          <p:cNvSpPr/>
          <p:nvPr/>
        </p:nvSpPr>
        <p:spPr>
          <a:xfrm>
            <a:off x="548640" y="4352544"/>
            <a:ext cx="11094415" cy="777240"/>
          </a:xfrm>
          <a:prstGeom prst="roundRect">
            <a:avLst>
              <a:gd name="adj" fmla="val 11765"/>
            </a:avLst>
          </a:prstGeom>
          <a:solidFill>
            <a:schemeClr val="accent2">
              <a:alpha val="20000"/>
            </a:schemeClr>
          </a:solidFill>
          <a:ln w="15875">
            <a:solidFill>
              <a:schemeClr val="accent2"/>
            </a:solidFill>
            <a:prstDash val="solid"/>
          </a:ln>
        </p:spPr>
      </p:sp>
      <p:pic>
        <p:nvPicPr>
          <p:cNvPr id="10" name="Image 1" descr="Attention">    </p:cNvPr>
          <p:cNvPicPr>
            <a:picLocks noChangeAspect="1"/>
          </p:cNvPicPr>
          <p:nvPr/>
        </p:nvPicPr>
        <p:blipFill>
          <a:blip r:embed="rId2"/>
          <a:stretch>
            <a:fillRect/>
          </a:stretch>
        </p:blipFill>
        <p:spPr>
          <a:xfrm>
            <a:off x="777240" y="4535424"/>
            <a:ext cx="411480" cy="411480"/>
          </a:xfrm>
          <a:prstGeom prst="rect">
            <a:avLst/>
          </a:prstGeom>
        </p:spPr>
      </p:pic>
      <p:sp>
        <p:nvSpPr>
          <p:cNvPr id="11" name="Text 7"/>
          <p:cNvSpPr txBox="1"/>
          <p:nvPr/>
        </p:nvSpPr>
        <p:spPr>
          <a:xfrm>
            <a:off x="1417320" y="4352544"/>
            <a:ext cx="9997135" cy="777240"/>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Utilisez uniquement une photo de vous. Jamais le visage d’une autre personne.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 retouche avec Gemini</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8 min</a:t>
            </a:r>
            <a:endParaRPr lang="en-US" sz="1800" dirty="0"/>
          </a:p>
        </p:txBody>
      </p:sp>
      <p:sp>
        <p:nvSpPr>
          <p:cNvPr id="6" name="Text 4"/>
          <p:cNvSpPr txBox="1"/>
          <p:nvPr/>
        </p:nvSpPr>
        <p:spPr>
          <a:xfrm>
            <a:off x="548640" y="1463040"/>
            <a:ext cx="11094415" cy="199796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800" dirty="0">
                <a:solidFill>
                  <a:schemeClr val="tx1"/>
                </a:solidFill>
              </a:rPr>
              <a:t>Ouvrez Gemini. Envoyez votre photo (upload).</a:t>
            </a:r>
            <a:endParaRPr lang="en-US" sz="1800" dirty="0"/>
          </a:p>
          <a:p>
            <a:pPr marL="342900" indent="-342900">
              <a:spcAft>
                <a:spcPts val="1000"/>
              </a:spcAft>
              <a:buSzPct val="100000"/>
              <a:buFont typeface="+mj-lt"/>
              <a:buAutoNum type="arabicPeriod" startAt="1"/>
            </a:pPr>
            <a:r>
              <a:rPr lang="en-US" sz="1800" dirty="0">
                <a:solidFill>
                  <a:schemeClr val="tx1"/>
                </a:solidFill>
              </a:rPr>
              <a:t>Copiez la Consigne 5 et envoyez.</a:t>
            </a:r>
            <a:endParaRPr lang="en-US" sz="1800" dirty="0"/>
          </a:p>
          <a:p>
            <a:pPr marL="342900" indent="-342900">
              <a:spcAft>
                <a:spcPts val="1000"/>
              </a:spcAft>
              <a:buSzPct val="100000"/>
              <a:buFont typeface="+mj-lt"/>
              <a:buAutoNum type="arabicPeriod" startAt="1"/>
            </a:pPr>
            <a:r>
              <a:rPr lang="en-US" sz="1800" dirty="0">
                <a:solidFill>
                  <a:schemeClr val="tx1"/>
                </a:solidFill>
              </a:rPr>
              <a:t>Regardez le résultat : est-ce encore vous ? Visage, peau, cheveux, tenue : rien ne doit changer.</a:t>
            </a:r>
            <a:endParaRPr lang="en-US" sz="1800" dirty="0"/>
          </a:p>
          <a:p>
            <a:pPr marL="342900" indent="-342900">
              <a:spcAft>
                <a:spcPts val="1000"/>
              </a:spcAft>
              <a:buSzPct val="100000"/>
              <a:buFont typeface="+mj-lt"/>
              <a:buAutoNum type="arabicPeriod" startAt="1"/>
            </a:pPr>
            <a:r>
              <a:rPr lang="en-US" sz="1800" dirty="0">
                <a:solidFill>
                  <a:schemeClr val="tx1"/>
                </a:solidFill>
              </a:rPr>
              <a:t>Ce n’est pas bon ? Écrivez ce qu’il faut corriger et recommencez (2 essais maximum).</a:t>
            </a:r>
            <a:endParaRPr lang="en-US" sz="1800" dirty="0"/>
          </a:p>
        </p:txBody>
      </p:sp>
      <p:sp>
        <p:nvSpPr>
          <p:cNvPr id="7" name="Consigne 5"/>
          <p:cNvSpPr/>
          <p:nvPr/>
        </p:nvSpPr>
        <p:spPr>
          <a:xfrm>
            <a:off x="548640" y="3643884"/>
            <a:ext cx="11094415" cy="1449324"/>
          </a:xfrm>
          <a:prstGeom prst="roundRect">
            <a:avLst>
              <a:gd name="adj" fmla="val 6309"/>
            </a:avLst>
          </a:prstGeom>
          <a:solidFill>
            <a:schemeClr val="bg2"/>
          </a:solidFill>
          <a:ln w="19050">
            <a:solidFill>
              <a:schemeClr val="accent1"/>
            </a:solidFill>
            <a:prstDash val="solid"/>
          </a:ln>
        </p:spPr>
      </p:sp>
      <p:sp>
        <p:nvSpPr>
          <p:cNvPr id="8" name="Titre consigne 5"/>
          <p:cNvSpPr/>
          <p:nvPr/>
        </p:nvSpPr>
        <p:spPr>
          <a:xfrm>
            <a:off x="548640" y="3643884"/>
            <a:ext cx="11094415" cy="384048"/>
          </a:xfrm>
          <a:prstGeom prst="roundRect">
            <a:avLst>
              <a:gd name="adj" fmla="val 23810"/>
            </a:avLst>
          </a:prstGeom>
          <a:solidFill>
            <a:schemeClr val="accent1"/>
          </a:solidFill>
          <a:ln w="12700">
            <a:solidFill>
              <a:schemeClr val="accent1"/>
            </a:solidFill>
            <a:prstDash val="solid"/>
          </a:ln>
        </p:spPr>
      </p:sp>
      <p:sp>
        <p:nvSpPr>
          <p:cNvPr id="9" name="Text 7"/>
          <p:cNvSpPr txBox="1"/>
          <p:nvPr/>
        </p:nvSpPr>
        <p:spPr>
          <a:xfrm>
            <a:off x="731520" y="3643884"/>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5   Retouche de ma photo  ·  Gemini</a:t>
            </a:r>
            <a:endParaRPr lang="en-US" sz="1500" dirty="0"/>
          </a:p>
        </p:txBody>
      </p:sp>
      <p:sp>
        <p:nvSpPr>
          <p:cNvPr id="10" name="Text 8"/>
          <p:cNvSpPr txBox="1"/>
          <p:nvPr/>
        </p:nvSpPr>
        <p:spPr>
          <a:xfrm>
            <a:off x="777240" y="4101084"/>
            <a:ext cx="10637215" cy="973836"/>
          </a:xfrm>
          <a:prstGeom prst="rect">
            <a:avLst/>
          </a:prstGeom>
          <a:noFill/>
          <a:ln/>
        </p:spPr>
        <p:txBody>
          <a:bodyPr wrap="square" lIns="0" tIns="0" rIns="0" bIns="0" rtlCol="0" anchor="t"/>
          <a:lstStyle/>
          <a:p>
            <a:pPr indent="0" marL="0">
              <a:buNone/>
            </a:pPr>
            <a:r>
              <a:rPr lang="en-US" sz="1800" dirty="0">
                <a:solidFill>
                  <a:schemeClr val="tx1"/>
                </a:solidFill>
              </a:rPr>
              <a:t>Retouche cette photo pour un usage professionnel (CV). Fond uni et clair, lumière douce et naturelle. Ne change pas mon visage, ma peau, mes cheveux ni ma tenue. Garde un cadrage visage et épaules.</a:t>
            </a:r>
            <a:endParaRPr lang="en-US" sz="1800" dirty="0"/>
          </a:p>
        </p:txBody>
      </p:sp>
      <p:sp>
        <p:nvSpPr>
          <p:cNvPr id="11" name="Attention"/>
          <p:cNvSpPr/>
          <p:nvPr/>
        </p:nvSpPr>
        <p:spPr>
          <a:xfrm>
            <a:off x="548640" y="5321808"/>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2" name="Image 0" descr="Attention">    </p:cNvPr>
          <p:cNvPicPr>
            <a:picLocks noChangeAspect="1"/>
          </p:cNvPicPr>
          <p:nvPr/>
        </p:nvPicPr>
        <p:blipFill>
          <a:blip r:embed="rId1"/>
          <a:stretch>
            <a:fillRect/>
          </a:stretch>
        </p:blipFill>
        <p:spPr>
          <a:xfrm>
            <a:off x="777240" y="5554980"/>
            <a:ext cx="411480" cy="411480"/>
          </a:xfrm>
          <a:prstGeom prst="rect">
            <a:avLst/>
          </a:prstGeom>
        </p:spPr>
      </p:pic>
      <p:sp>
        <p:nvSpPr>
          <p:cNvPr id="13" name="Text 10"/>
          <p:cNvSpPr txBox="1"/>
          <p:nvPr/>
        </p:nvSpPr>
        <p:spPr>
          <a:xfrm>
            <a:off x="1417320" y="5321808"/>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Retoucher, c’est améliorer la présentation. Ce n’est pas se transformer en une autre personne.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recadre et je choisis le format</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Copiez la Consigne 6.</a:t>
            </a:r>
            <a:endParaRPr lang="en-US" sz="2400" dirty="0"/>
          </a:p>
          <a:p>
            <a:pPr marL="342900" indent="-342900">
              <a:spcAft>
                <a:spcPts val="1000"/>
              </a:spcAft>
              <a:buSzPct val="100000"/>
              <a:buFont typeface="+mj-lt"/>
              <a:buAutoNum type="arabicPeriod" startAt="1"/>
            </a:pPr>
            <a:r>
              <a:rPr lang="en-US" sz="2400" dirty="0">
                <a:solidFill>
                  <a:schemeClr val="tx1"/>
                </a:solidFill>
              </a:rPr>
              <a:t>Vérifiez : visage au centre, fond propre, image nette.</a:t>
            </a:r>
            <a:endParaRPr lang="en-US" sz="2400" dirty="0"/>
          </a:p>
          <a:p>
            <a:pPr marL="342900" indent="-342900">
              <a:spcAft>
                <a:spcPts val="1000"/>
              </a:spcAft>
              <a:buSzPct val="100000"/>
              <a:buFont typeface="+mj-lt"/>
              <a:buAutoNum type="arabicPeriod" startAt="1"/>
            </a:pPr>
            <a:r>
              <a:rPr lang="en-US" sz="2400" dirty="0">
                <a:solidFill>
                  <a:schemeClr val="tx1"/>
                </a:solidFill>
              </a:rPr>
              <a:t>Regardez s’il y a un watermark (une marque sur l’image). Notez-le : ne l’effacez pas pour tromper.</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amera">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6"/>
          <p:cNvSpPr/>
          <p:nvPr/>
        </p:nvSpPr>
        <p:spPr>
          <a:xfrm>
            <a:off x="548640" y="3608832"/>
            <a:ext cx="11094415" cy="1170432"/>
          </a:xfrm>
          <a:prstGeom prst="roundRect">
            <a:avLst>
              <a:gd name="adj" fmla="val 7813"/>
            </a:avLst>
          </a:prstGeom>
          <a:solidFill>
            <a:schemeClr val="bg2"/>
          </a:solidFill>
          <a:ln w="19050">
            <a:solidFill>
              <a:schemeClr val="accent1"/>
            </a:solidFill>
            <a:prstDash val="solid"/>
          </a:ln>
        </p:spPr>
      </p:sp>
      <p:sp>
        <p:nvSpPr>
          <p:cNvPr id="10" name="Titre consigne 6"/>
          <p:cNvSpPr/>
          <p:nvPr/>
        </p:nvSpPr>
        <p:spPr>
          <a:xfrm>
            <a:off x="548640" y="3608832"/>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608832"/>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6   Recadrage et format  ·  Gemini</a:t>
            </a:r>
            <a:endParaRPr lang="en-US" sz="1500" dirty="0"/>
          </a:p>
        </p:txBody>
      </p:sp>
      <p:sp>
        <p:nvSpPr>
          <p:cNvPr id="12" name="Text 9"/>
          <p:cNvSpPr txBox="1"/>
          <p:nvPr/>
        </p:nvSpPr>
        <p:spPr>
          <a:xfrm>
            <a:off x="777240" y="4066032"/>
            <a:ext cx="10637215" cy="694944"/>
          </a:xfrm>
          <a:prstGeom prst="rect">
            <a:avLst/>
          </a:prstGeom>
          <a:noFill/>
          <a:ln/>
        </p:spPr>
        <p:txBody>
          <a:bodyPr wrap="square" lIns="0" tIns="0" rIns="0" bIns="0" rtlCol="0" anchor="t"/>
          <a:lstStyle/>
          <a:p>
            <a:pPr indent="0" marL="0">
              <a:buNone/>
            </a:pPr>
            <a:r>
              <a:rPr lang="en-US" sz="1800" dirty="0">
                <a:solidFill>
                  <a:schemeClr val="tx1"/>
                </a:solidFill>
              </a:rPr>
              <a:t>Recadre cette photo en format portrait 3:4. Mon visage au centre, avec un peu d’espace au-dessus de la tête. Ne change rien d’autre.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Je télécharge et je nomme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Cliquez sur télécharger (download).</a:t>
            </a:r>
            <a:endParaRPr lang="en-US" sz="2400" dirty="0"/>
          </a:p>
          <a:p>
            <a:pPr marL="342900" indent="-342900">
              <a:spcAft>
                <a:spcPts val="1000"/>
              </a:spcAft>
              <a:buSzPct val="100000"/>
              <a:buFont typeface="+mj-lt"/>
              <a:buAutoNum type="arabicPeriod" startAt="1"/>
            </a:pPr>
            <a:r>
              <a:rPr lang="en-US" sz="2400" dirty="0">
                <a:solidFill>
                  <a:schemeClr val="tx1"/>
                </a:solidFill>
              </a:rPr>
              <a:t>Renommez le fichier : 2_Photo_NOM.jpg.</a:t>
            </a:r>
            <a:endParaRPr lang="en-US" sz="2400" dirty="0"/>
          </a:p>
          <a:p>
            <a:pPr marL="342900" indent="-342900">
              <a:spcAft>
                <a:spcPts val="1000"/>
              </a:spcAft>
              <a:buSzPct val="100000"/>
              <a:buFont typeface="+mj-lt"/>
              <a:buAutoNum type="arabicPeriod" startAt="1"/>
            </a:pPr>
            <a:r>
              <a:rPr lang="en-US" sz="2400" dirty="0">
                <a:solidFill>
                  <a:schemeClr val="tx1"/>
                </a:solidFill>
              </a:rPr>
              <a:t>Rangez-le dans votre dossier M3_NOM_Prénom.</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amera">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5 — Mon visuel d’activité (option)</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210769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200" dirty="0">
                <a:solidFill>
                  <a:schemeClr val="tx1"/>
                </a:solidFill>
              </a:rPr>
              <a:t>Entrepreneur : c’est obligatoire. Salarié : c’est un bonus si vous avez fini.</a:t>
            </a:r>
            <a:endParaRPr lang="en-US" sz="2200" dirty="0"/>
          </a:p>
          <a:p>
            <a:pPr marL="342900" indent="-342900">
              <a:spcAft>
                <a:spcPts val="1000"/>
              </a:spcAft>
              <a:buSzPct val="100000"/>
              <a:buFont typeface="+mj-lt"/>
              <a:buAutoNum type="arabicPeriod" startAt="1"/>
            </a:pPr>
            <a:r>
              <a:rPr lang="en-US" sz="2200" dirty="0">
                <a:solidFill>
                  <a:schemeClr val="tx1"/>
                </a:solidFill>
              </a:rPr>
              <a:t>Copiez la Consigne 7 et remplissez les [crochets].</a:t>
            </a:r>
            <a:endParaRPr lang="en-US" sz="2200" dirty="0"/>
          </a:p>
          <a:p>
            <a:pPr marL="342900" indent="-342900">
              <a:spcAft>
                <a:spcPts val="1000"/>
              </a:spcAft>
              <a:buSzPct val="100000"/>
              <a:buFont typeface="+mj-lt"/>
              <a:buAutoNum type="arabicPeriod" startAt="1"/>
            </a:pPr>
            <a:r>
              <a:rPr lang="en-US" sz="2200" dirty="0">
                <a:solidFill>
                  <a:schemeClr val="tx1"/>
                </a:solidFill>
              </a:rPr>
              <a:t>Gardez le visuel s’il est propre, lisible et sans faute de texte. Nommez-le 2_Visuel_NOM.png.</a:t>
            </a:r>
            <a:endParaRPr lang="en-US" sz="22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amera">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7"/>
          <p:cNvSpPr/>
          <p:nvPr/>
        </p:nvSpPr>
        <p:spPr>
          <a:xfrm>
            <a:off x="548640" y="3753612"/>
            <a:ext cx="11094415" cy="1449324"/>
          </a:xfrm>
          <a:prstGeom prst="roundRect">
            <a:avLst>
              <a:gd name="adj" fmla="val 6309"/>
            </a:avLst>
          </a:prstGeom>
          <a:solidFill>
            <a:schemeClr val="bg2"/>
          </a:solidFill>
          <a:ln w="19050">
            <a:solidFill>
              <a:schemeClr val="accent1"/>
            </a:solidFill>
            <a:prstDash val="solid"/>
          </a:ln>
        </p:spPr>
      </p:sp>
      <p:sp>
        <p:nvSpPr>
          <p:cNvPr id="10" name="Titre consigne 7"/>
          <p:cNvSpPr/>
          <p:nvPr/>
        </p:nvSpPr>
        <p:spPr>
          <a:xfrm>
            <a:off x="548640" y="3753612"/>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753612"/>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7   Mon visuel d’activité  ·  Gemini</a:t>
            </a:r>
            <a:endParaRPr lang="en-US" sz="1500" dirty="0"/>
          </a:p>
        </p:txBody>
      </p:sp>
      <p:sp>
        <p:nvSpPr>
          <p:cNvPr id="12" name="Text 9"/>
          <p:cNvSpPr txBox="1"/>
          <p:nvPr/>
        </p:nvSpPr>
        <p:spPr>
          <a:xfrm>
            <a:off x="777240" y="4210812"/>
            <a:ext cx="10637215" cy="973836"/>
          </a:xfrm>
          <a:prstGeom prst="rect">
            <a:avLst/>
          </a:prstGeom>
          <a:noFill/>
          <a:ln/>
        </p:spPr>
        <p:txBody>
          <a:bodyPr wrap="square" lIns="0" tIns="0" rIns="0" bIns="0" rtlCol="0" anchor="t"/>
          <a:lstStyle/>
          <a:p>
            <a:pPr indent="0" marL="0">
              <a:buNone/>
            </a:pPr>
            <a:r>
              <a:rPr lang="en-US" sz="1800" dirty="0">
                <a:solidFill>
                  <a:schemeClr val="tx1"/>
                </a:solidFill>
              </a:rPr>
              <a:t>Crée un visuel simple pour mon activité : </a:t>
            </a:r>
            <a:pPr indent="0" marL="0">
              <a:buNone/>
            </a:pPr>
            <a:r>
              <a:rPr lang="en-US" sz="1800" b="1" dirty="0">
                <a:solidFill>
                  <a:schemeClr val="accent1"/>
                </a:solidFill>
              </a:rPr>
              <a:t>[activité]</a:t>
            </a:r>
            <a:pPr indent="0" marL="0">
              <a:buNone/>
            </a:pPr>
            <a:r>
              <a:rPr lang="en-US" sz="1800" dirty="0">
                <a:solidFill>
                  <a:schemeClr val="tx1"/>
                </a:solidFill>
              </a:rPr>
              <a:t> à </a:t>
            </a:r>
            <a:pPr indent="0" marL="0">
              <a:buNone/>
            </a:pPr>
            <a:r>
              <a:rPr lang="en-US" sz="1800" b="1" dirty="0">
                <a:solidFill>
                  <a:schemeClr val="accent1"/>
                </a:solidFill>
              </a:rPr>
              <a:t>[ville]</a:t>
            </a:r>
            <a:pPr indent="0" marL="0">
              <a:buNone/>
            </a:pPr>
            <a:r>
              <a:rPr lang="en-US" sz="1800" dirty="0">
                <a:solidFill>
                  <a:schemeClr val="tx1"/>
                </a:solidFill>
              </a:rPr>
              <a:t>. Style : </a:t>
            </a:r>
            <a:pPr indent="0" marL="0">
              <a:buNone/>
            </a:pPr>
            <a:r>
              <a:rPr lang="en-US" sz="1800" b="1" dirty="0">
                <a:solidFill>
                  <a:schemeClr val="accent1"/>
                </a:solidFill>
              </a:rPr>
              <a:t>[sobre / coloré]</a:t>
            </a:r>
            <a:pPr indent="0" marL="0">
              <a:buNone/>
            </a:pPr>
            <a:r>
              <a:rPr lang="en-US" sz="1800" dirty="0">
                <a:solidFill>
                  <a:schemeClr val="tx1"/>
                </a:solidFill>
              </a:rPr>
              <a:t>. Couleurs : </a:t>
            </a:r>
            <a:pPr indent="0" marL="0">
              <a:buNone/>
            </a:pPr>
            <a:r>
              <a:rPr lang="en-US" sz="1800" b="1" dirty="0">
                <a:solidFill>
                  <a:schemeClr val="accent1"/>
                </a:solidFill>
              </a:rPr>
              <a:t>[couleurs]</a:t>
            </a:r>
            <a:pPr indent="0" marL="0">
              <a:buNone/>
            </a:pPr>
            <a:r>
              <a:rPr lang="en-US" sz="1800" dirty="0">
                <a:solidFill>
                  <a:schemeClr val="tx1"/>
                </a:solidFill>
              </a:rPr>
              <a:t>. Texte à écrire dessus : « </a:t>
            </a:r>
            <a:pPr indent="0" marL="0">
              <a:buNone/>
            </a:pPr>
            <a:r>
              <a:rPr lang="en-US" sz="1800" b="1" dirty="0">
                <a:solidFill>
                  <a:schemeClr val="accent1"/>
                </a:solidFill>
              </a:rPr>
              <a:t>[nom de mon activité]</a:t>
            </a:r>
            <a:pPr indent="0" marL="0">
              <a:buNone/>
            </a:pPr>
            <a:r>
              <a:rPr lang="en-US" sz="1800" dirty="0">
                <a:solidFill>
                  <a:schemeClr val="tx1"/>
                </a:solidFill>
              </a:rPr>
              <a:t> ». Format carré pour les réseaux sociaux. Pas de personne réelle, pas de logo d’une marque existante.</a:t>
            </a:r>
            <a:endParaRPr lang="en-US" sz="1800" dirty="0"/>
          </a:p>
        </p:txBody>
      </p:sp>
      <p:sp>
        <p:nvSpPr>
          <p:cNvPr id="13" name="Attention"/>
          <p:cNvSpPr/>
          <p:nvPr/>
        </p:nvSpPr>
        <p:spPr>
          <a:xfrm>
            <a:off x="548640" y="5431536"/>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4" name="Image 1" descr="Attention">    </p:cNvPr>
          <p:cNvPicPr>
            <a:picLocks noChangeAspect="1"/>
          </p:cNvPicPr>
          <p:nvPr/>
        </p:nvPicPr>
        <p:blipFill>
          <a:blip r:embed="rId2"/>
          <a:stretch>
            <a:fillRect/>
          </a:stretch>
        </p:blipFill>
        <p:spPr>
          <a:xfrm>
            <a:off x="777240" y="5664708"/>
            <a:ext cx="411480" cy="411480"/>
          </a:xfrm>
          <a:prstGeom prst="rect">
            <a:avLst/>
          </a:prstGeom>
        </p:spPr>
      </p:pic>
      <p:sp>
        <p:nvSpPr>
          <p:cNvPr id="15" name="Text 11"/>
          <p:cNvSpPr txBox="1"/>
          <p:nvPr/>
        </p:nvSpPr>
        <p:spPr>
          <a:xfrm>
            <a:off x="1417320" y="5431536"/>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Les textes écrits dans une image par l’IA contiennent souvent des fautes. Relisez chaque lettre.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Ma photo est nette, de face, avec un fond sobre.</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C’est bien moi : mon visage et ma tenue n’ont pas changé.</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Le format est portrait (ou carré) et le visage est centré.</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regardé s’il y a un watermark.</a:t>
            </a:r>
            <a:endParaRPr lang="en-US" sz="1800" dirty="0"/>
          </a:p>
        </p:txBody>
      </p:sp>
      <p:sp>
        <p:nvSpPr>
          <p:cNvPr id="20" name="Carte"/>
          <p:cNvSpPr/>
          <p:nvPr/>
        </p:nvSpPr>
        <p:spPr>
          <a:xfrm>
            <a:off x="548640" y="4462272"/>
            <a:ext cx="11094415"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4553712"/>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4663440"/>
            <a:ext cx="237744" cy="237744"/>
          </a:xfrm>
          <a:prstGeom prst="rect">
            <a:avLst/>
          </a:prstGeom>
        </p:spPr>
      </p:pic>
      <p:sp>
        <p:nvSpPr>
          <p:cNvPr id="23" name="Text 16"/>
          <p:cNvSpPr txBox="1"/>
          <p:nvPr/>
        </p:nvSpPr>
        <p:spPr>
          <a:xfrm>
            <a:off x="1371600" y="4462272"/>
            <a:ext cx="10088575" cy="640080"/>
          </a:xfrm>
          <a:prstGeom prst="rect">
            <a:avLst/>
          </a:prstGeom>
          <a:noFill/>
          <a:ln/>
        </p:spPr>
        <p:txBody>
          <a:bodyPr wrap="square" lIns="0" tIns="0" rIns="0" bIns="0" rtlCol="0" anchor="ctr"/>
          <a:lstStyle/>
          <a:p>
            <a:pPr indent="0" marL="0">
              <a:buNone/>
            </a:pPr>
            <a:r>
              <a:rPr lang="en-US" sz="1800" dirty="0">
                <a:solidFill>
                  <a:schemeClr val="tx1"/>
                </a:solidFill>
              </a:rPr>
              <a:t>Mon fichier est téléchargé et bien nommé.</a:t>
            </a:r>
            <a:endParaRPr lang="en-US" sz="1800" dirty="0"/>
          </a:p>
        </p:txBody>
      </p:sp>
      <p:sp>
        <p:nvSpPr>
          <p:cNvPr id="24"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5" name="Text 18"/>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Une photo retouchée et téléchargée. Le visuel d’activité est facultatif pour les salariés.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3 · TP2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2000" dirty="0">
                <a:solidFill>
                  <a:schemeClr val="tx1"/>
                </a:solidFill>
              </a:rPr>
              <a:t>Ma photo sert à mon CV et à ma fiche profil. Le visuel est un bonus.</a:t>
            </a:r>
            <a:endParaRPr lang="en-US" sz="20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2000" dirty="0">
                <a:solidFill>
                  <a:schemeClr val="tx1"/>
                </a:solidFill>
              </a:rPr>
              <a:t>Mon visuel d’activité devient mon image sur les réseaux sociaux. Il doit montrer mon nom d’activité lisible, sans faute.</a:t>
            </a:r>
            <a:endParaRPr lang="en-US" sz="20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Demandez à Gemini trois idées de couleurs pour votre activité, puis choisissez-en une.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4</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4 · TP3</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Mon CV d’une page</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25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3_CV_NOM.pdf</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Produire un CV d’une page, en PDF, avec le skill ia.lab « Monter son CV », puis le relire et le corriger.</a:t>
            </a:r>
            <a:endParaRPr lang="en-US" sz="2000" dirty="0"/>
          </a:p>
        </p:txBody>
      </p:sp>
      <p:pic>
        <p:nvPicPr>
          <p:cNvPr id="9" name="Image 0" descr="Mon CV d’une page">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Je prépare mes informations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270662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Prenez l’Annexe A (fiche de collecte). Remplissez-la : nom, poste visé, parcours, 4 mots, centres d’intérêt.</a:t>
            </a:r>
            <a:endParaRPr lang="en-US" sz="2400" dirty="0"/>
          </a:p>
          <a:p>
            <a:pPr marL="342900" indent="-342900">
              <a:spcAft>
                <a:spcPts val="1000"/>
              </a:spcAft>
              <a:buSzPct val="100000"/>
              <a:buFont typeface="+mj-lt"/>
              <a:buAutoNum type="arabicPeriod" startAt="1"/>
            </a:pPr>
            <a:r>
              <a:rPr lang="en-US" sz="2400" dirty="0">
                <a:solidFill>
                  <a:schemeClr val="tx1"/>
                </a:solidFill>
              </a:rPr>
              <a:t>Copiez le texte de l’offre d’emploi visée (ou une offre de l’Annexe B) dans un fichier Word.</a:t>
            </a:r>
            <a:endParaRPr lang="en-US" sz="2400" dirty="0"/>
          </a:p>
          <a:p>
            <a:pPr marL="342900" indent="-342900">
              <a:spcAft>
                <a:spcPts val="1000"/>
              </a:spcAft>
              <a:buSzPct val="100000"/>
              <a:buFont typeface="+mj-lt"/>
              <a:buAutoNum type="arabicPeriod" startAt="1"/>
            </a:pPr>
            <a:r>
              <a:rPr lang="en-US" sz="2400" dirty="0">
                <a:solidFill>
                  <a:schemeClr val="tx1"/>
                </a:solidFill>
              </a:rPr>
              <a:t>Ayez sous la main : votre photo du TP2 et votre CV actuel, s’il existe.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FileAlt">    </p:cNvPr>
          <p:cNvPicPr>
            <a:picLocks noChangeAspect="1"/>
          </p:cNvPicPr>
          <p:nvPr/>
        </p:nvPicPr>
        <p:blipFill>
          <a:blip r:embed="rId1"/>
          <a:stretch>
            <a:fillRect/>
          </a:stretch>
        </p:blipFill>
        <p:spPr>
          <a:xfrm>
            <a:off x="10392156" y="1903781"/>
            <a:ext cx="855878" cy="855878"/>
          </a:xfrm>
          <a:prstGeom prst="rect">
            <a:avLst/>
          </a:prstGeom>
        </p:spPr>
      </p:pic>
      <p:sp>
        <p:nvSpPr>
          <p:cNvPr id="9" name="Attention"/>
          <p:cNvSpPr/>
          <p:nvPr/>
        </p:nvSpPr>
        <p:spPr>
          <a:xfrm>
            <a:off x="548640" y="4352544"/>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0" name="Image 1" descr="Attention">    </p:cNvPr>
          <p:cNvPicPr>
            <a:picLocks noChangeAspect="1"/>
          </p:cNvPicPr>
          <p:nvPr/>
        </p:nvPicPr>
        <p:blipFill>
          <a:blip r:embed="rId2"/>
          <a:stretch>
            <a:fillRect/>
          </a:stretch>
        </p:blipFill>
        <p:spPr>
          <a:xfrm>
            <a:off x="777240" y="4585716"/>
            <a:ext cx="411480" cy="411480"/>
          </a:xfrm>
          <a:prstGeom prst="rect">
            <a:avLst/>
          </a:prstGeom>
        </p:spPr>
      </p:pic>
      <p:sp>
        <p:nvSpPr>
          <p:cNvPr id="11" name="Text 7"/>
          <p:cNvSpPr txBox="1"/>
          <p:nvPr/>
        </p:nvSpPr>
        <p:spPr>
          <a:xfrm>
            <a:off x="1417320" y="4352544"/>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Tapez d’abord dans Word : le correcteur d’orthographe vous aide. Puis copiez dans Claude.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 lance le skill</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Ouvrez Claude (Claude Desktop).</a:t>
            </a:r>
            <a:endParaRPr lang="en-US" sz="2400" dirty="0"/>
          </a:p>
          <a:p>
            <a:pPr marL="342900" indent="-342900">
              <a:spcAft>
                <a:spcPts val="1000"/>
              </a:spcAft>
              <a:buSzPct val="100000"/>
              <a:buFont typeface="+mj-lt"/>
              <a:buAutoNum type="arabicPeriod" startAt="1"/>
            </a:pPr>
            <a:r>
              <a:rPr lang="en-US" sz="2400" dirty="0">
                <a:solidFill>
                  <a:schemeClr val="tx1"/>
                </a:solidFill>
              </a:rPr>
              <a:t>Vérifiez que le skill « Monter son CV » est actif.</a:t>
            </a:r>
            <a:endParaRPr lang="en-US" sz="2400" dirty="0"/>
          </a:p>
          <a:p>
            <a:pPr marL="342900" indent="-342900">
              <a:spcAft>
                <a:spcPts val="1000"/>
              </a:spcAft>
              <a:buSzPct val="100000"/>
              <a:buFont typeface="+mj-lt"/>
              <a:buAutoNum type="arabicPeriod" startAt="1"/>
            </a:pPr>
            <a:r>
              <a:rPr lang="en-US" sz="2400" dirty="0">
                <a:solidFill>
                  <a:schemeClr val="tx1"/>
                </a:solidFill>
              </a:rPr>
              <a:t>Copiez la Consigne 8 et envoyez.</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FileAlt">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8"/>
          <p:cNvSpPr/>
          <p:nvPr/>
        </p:nvSpPr>
        <p:spPr>
          <a:xfrm>
            <a:off x="548640" y="3383280"/>
            <a:ext cx="11094415" cy="891540"/>
          </a:xfrm>
          <a:prstGeom prst="roundRect">
            <a:avLst>
              <a:gd name="adj" fmla="val 10256"/>
            </a:avLst>
          </a:prstGeom>
          <a:solidFill>
            <a:schemeClr val="bg2"/>
          </a:solidFill>
          <a:ln w="19050">
            <a:solidFill>
              <a:schemeClr val="accent1"/>
            </a:solidFill>
            <a:prstDash val="solid"/>
          </a:ln>
        </p:spPr>
      </p:sp>
      <p:sp>
        <p:nvSpPr>
          <p:cNvPr id="10" name="Titre consigne 8"/>
          <p:cNvSpPr/>
          <p:nvPr/>
        </p:nvSpPr>
        <p:spPr>
          <a:xfrm>
            <a:off x="548640" y="3383280"/>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383280"/>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8   Lancer le skill « Monter son CV »  ·  Claude</a:t>
            </a:r>
            <a:endParaRPr lang="en-US" sz="1500" dirty="0"/>
          </a:p>
        </p:txBody>
      </p:sp>
      <p:sp>
        <p:nvSpPr>
          <p:cNvPr id="12" name="Text 9"/>
          <p:cNvSpPr txBox="1"/>
          <p:nvPr/>
        </p:nvSpPr>
        <p:spPr>
          <a:xfrm>
            <a:off x="777240" y="3840480"/>
            <a:ext cx="10637215" cy="416052"/>
          </a:xfrm>
          <a:prstGeom prst="rect">
            <a:avLst/>
          </a:prstGeom>
          <a:noFill/>
          <a:ln/>
        </p:spPr>
        <p:txBody>
          <a:bodyPr wrap="square" lIns="0" tIns="0" rIns="0" bIns="0" rtlCol="0" anchor="t"/>
          <a:lstStyle/>
          <a:p>
            <a:pPr indent="0" marL="0">
              <a:buNone/>
            </a:pPr>
            <a:r>
              <a:rPr lang="en-US" sz="1800" dirty="0">
                <a:solidFill>
                  <a:schemeClr val="tx1"/>
                </a:solidFill>
              </a:rPr>
              <a:t>Je veux monter mon CV avec le skill « Monter son CV ».</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réponds aux questions du skill</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7 min</a:t>
            </a:r>
            <a:endParaRPr lang="en-US" sz="1800" dirty="0"/>
          </a:p>
        </p:txBody>
      </p:sp>
      <p:sp>
        <p:nvSpPr>
          <p:cNvPr id="6" name="Text 4"/>
          <p:cNvSpPr txBox="1"/>
          <p:nvPr/>
        </p:nvSpPr>
        <p:spPr>
          <a:xfrm>
            <a:off x="548640" y="1463040"/>
            <a:ext cx="8991295" cy="270662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Répondez aux questions une par une, avec votre Annexe A.</a:t>
            </a:r>
            <a:endParaRPr lang="en-US" sz="2400" dirty="0"/>
          </a:p>
          <a:p>
            <a:pPr marL="342900" indent="-342900">
              <a:spcAft>
                <a:spcPts val="1000"/>
              </a:spcAft>
              <a:buSzPct val="100000"/>
              <a:buFont typeface="+mj-lt"/>
              <a:buAutoNum type="arabicPeriod" startAt="1"/>
            </a:pPr>
            <a:r>
              <a:rPr lang="en-US" sz="2400" dirty="0">
                <a:solidFill>
                  <a:schemeClr val="tx1"/>
                </a:solidFill>
              </a:rPr>
              <a:t>Collez l’offre d’emploi. Envoyez votre photo (upload) et votre CV actuel s’il existe.</a:t>
            </a:r>
            <a:endParaRPr lang="en-US" sz="2400" dirty="0"/>
          </a:p>
          <a:p>
            <a:pPr marL="342900" indent="-342900">
              <a:spcAft>
                <a:spcPts val="1000"/>
              </a:spcAft>
              <a:buSzPct val="100000"/>
              <a:buFont typeface="+mj-lt"/>
              <a:buAutoNum type="arabicPeriod" startAt="1"/>
            </a:pPr>
            <a:r>
              <a:rPr lang="en-US" sz="2400" dirty="0">
                <a:solidFill>
                  <a:schemeClr val="tx1"/>
                </a:solidFill>
              </a:rPr>
              <a:t>Une information vous manque ? Répondez : « Je n’ai pas cette information ». Le skill ne l’inventera pas.</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FileAlt">    </p:cNvPr>
          <p:cNvPicPr>
            <a:picLocks noChangeAspect="1"/>
          </p:cNvPicPr>
          <p:nvPr/>
        </p:nvPicPr>
        <p:blipFill>
          <a:blip r:embed="rId1"/>
          <a:stretch>
            <a:fillRect/>
          </a:stretch>
        </p:blipFill>
        <p:spPr>
          <a:xfrm>
            <a:off x="10392156" y="1903781"/>
            <a:ext cx="855878" cy="855878"/>
          </a:xfrm>
          <a:prstGeom prst="rect">
            <a:avLst/>
          </a:prstGeom>
        </p:spPr>
      </p:pic>
      <p:sp>
        <p:nvSpPr>
          <p:cNvPr id="9" name="Attention"/>
          <p:cNvSpPr/>
          <p:nvPr/>
        </p:nvSpPr>
        <p:spPr>
          <a:xfrm>
            <a:off x="548640" y="4352544"/>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0" name="Image 1" descr="Attention">    </p:cNvPr>
          <p:cNvPicPr>
            <a:picLocks noChangeAspect="1"/>
          </p:cNvPicPr>
          <p:nvPr/>
        </p:nvPicPr>
        <p:blipFill>
          <a:blip r:embed="rId2"/>
          <a:stretch>
            <a:fillRect/>
          </a:stretch>
        </p:blipFill>
        <p:spPr>
          <a:xfrm>
            <a:off x="777240" y="4585716"/>
            <a:ext cx="411480" cy="411480"/>
          </a:xfrm>
          <a:prstGeom prst="rect">
            <a:avLst/>
          </a:prstGeom>
        </p:spPr>
      </p:pic>
      <p:sp>
        <p:nvSpPr>
          <p:cNvPr id="11" name="Text 7"/>
          <p:cNvSpPr txBox="1"/>
          <p:nvPr/>
        </p:nvSpPr>
        <p:spPr>
          <a:xfrm>
            <a:off x="1417320" y="4352544"/>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Ne donnez ni numéro de pièce d’identité, ni mot de passe, ni date de naissance complète.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Je relis avec la grille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8 min</a:t>
            </a:r>
            <a:endParaRPr lang="en-US" sz="1800" dirty="0"/>
          </a:p>
        </p:txBody>
      </p:sp>
      <p:sp>
        <p:nvSpPr>
          <p:cNvPr id="6" name="Text 4"/>
          <p:cNvSpPr txBox="1"/>
          <p:nvPr/>
        </p:nvSpPr>
        <p:spPr>
          <a:xfrm>
            <a:off x="548640" y="1463040"/>
            <a:ext cx="11094415" cy="196697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200" dirty="0">
                <a:solidFill>
                  <a:schemeClr val="tx1"/>
                </a:solidFill>
              </a:rPr>
              <a:t>Ouvrez le CV produit. Relisez-le avec la liste « Je vérifie » plus bas.</a:t>
            </a:r>
            <a:endParaRPr lang="en-US" sz="2200" dirty="0"/>
          </a:p>
          <a:p>
            <a:pPr marL="342900" indent="-342900">
              <a:spcAft>
                <a:spcPts val="1000"/>
              </a:spcAft>
              <a:buSzPct val="100000"/>
              <a:buFont typeface="+mj-lt"/>
              <a:buAutoNum type="arabicPeriod" startAt="1"/>
            </a:pPr>
            <a:r>
              <a:rPr lang="en-US" sz="2200" dirty="0">
                <a:solidFill>
                  <a:schemeClr val="tx1"/>
                </a:solidFill>
              </a:rPr>
              <a:t>Utilisez la Consigne 9 pour repérer les fautes.</a:t>
            </a:r>
            <a:endParaRPr lang="en-US" sz="2200" dirty="0"/>
          </a:p>
          <a:p>
            <a:pPr marL="342900" indent="-342900">
              <a:spcAft>
                <a:spcPts val="1000"/>
              </a:spcAft>
              <a:buSzPct val="100000"/>
              <a:buFont typeface="+mj-lt"/>
              <a:buAutoNum type="arabicPeriod" startAt="1"/>
            </a:pPr>
            <a:r>
              <a:rPr lang="en-US" sz="2200" dirty="0">
                <a:solidFill>
                  <a:schemeClr val="tx1"/>
                </a:solidFill>
              </a:rPr>
              <a:t>Corrigez avec la Consigne 10. Faites au moins 2 corrections et notez-les.</a:t>
            </a:r>
            <a:endParaRPr lang="en-US" sz="2200" dirty="0"/>
          </a:p>
          <a:p>
            <a:pPr marL="342900" indent="-342900">
              <a:spcAft>
                <a:spcPts val="1000"/>
              </a:spcAft>
              <a:buSzPct val="100000"/>
              <a:buFont typeface="+mj-lt"/>
              <a:buAutoNum type="arabicPeriod" startAt="1"/>
            </a:pPr>
            <a:r>
              <a:rPr lang="en-US" sz="2200" dirty="0">
                <a:solidFill>
                  <a:schemeClr val="tx1"/>
                </a:solidFill>
              </a:rPr>
              <a:t>Retirez tout ce que vous n’avez pas vécu.</a:t>
            </a:r>
            <a:endParaRPr lang="en-US" sz="2200" dirty="0"/>
          </a:p>
        </p:txBody>
      </p:sp>
      <p:sp>
        <p:nvSpPr>
          <p:cNvPr id="7" name="Consigne 9"/>
          <p:cNvSpPr/>
          <p:nvPr/>
        </p:nvSpPr>
        <p:spPr>
          <a:xfrm>
            <a:off x="548640" y="3612896"/>
            <a:ext cx="5410048" cy="1356360"/>
          </a:xfrm>
          <a:prstGeom prst="roundRect">
            <a:avLst>
              <a:gd name="adj" fmla="val 6742"/>
            </a:avLst>
          </a:prstGeom>
          <a:solidFill>
            <a:schemeClr val="bg2"/>
          </a:solidFill>
          <a:ln w="19050">
            <a:solidFill>
              <a:schemeClr val="accent1"/>
            </a:solidFill>
            <a:prstDash val="solid"/>
          </a:ln>
        </p:spPr>
      </p:sp>
      <p:sp>
        <p:nvSpPr>
          <p:cNvPr id="8" name="Titre consigne 9"/>
          <p:cNvSpPr/>
          <p:nvPr/>
        </p:nvSpPr>
        <p:spPr>
          <a:xfrm>
            <a:off x="548640" y="3612896"/>
            <a:ext cx="5410048" cy="384048"/>
          </a:xfrm>
          <a:prstGeom prst="roundRect">
            <a:avLst>
              <a:gd name="adj" fmla="val 23810"/>
            </a:avLst>
          </a:prstGeom>
          <a:solidFill>
            <a:schemeClr val="accent1"/>
          </a:solidFill>
          <a:ln w="12700">
            <a:solidFill>
              <a:schemeClr val="accent1"/>
            </a:solidFill>
            <a:prstDash val="solid"/>
          </a:ln>
        </p:spPr>
      </p:sp>
      <p:sp>
        <p:nvSpPr>
          <p:cNvPr id="9" name="Text 7"/>
          <p:cNvSpPr txBox="1"/>
          <p:nvPr/>
        </p:nvSpPr>
        <p:spPr>
          <a:xfrm>
            <a:off x="731520" y="3612896"/>
            <a:ext cx="5044288" cy="384048"/>
          </a:xfrm>
          <a:prstGeom prst="rect">
            <a:avLst/>
          </a:prstGeom>
          <a:noFill/>
          <a:ln/>
        </p:spPr>
        <p:txBody>
          <a:bodyPr wrap="square" lIns="0" tIns="0" rIns="0" bIns="0" rtlCol="0" anchor="ctr"/>
          <a:lstStyle/>
          <a:p>
            <a:pPr indent="0" marL="0">
              <a:buNone/>
            </a:pPr>
            <a:r>
              <a:rPr lang="en-US" sz="1500" b="1" dirty="0">
                <a:solidFill>
                  <a:schemeClr val="bg1"/>
                </a:solidFill>
              </a:rPr>
              <a:t>CONSIGNE 9   Relire mon CV  ·  Claude</a:t>
            </a:r>
            <a:endParaRPr lang="en-US" sz="1500" dirty="0"/>
          </a:p>
        </p:txBody>
      </p:sp>
      <p:sp>
        <p:nvSpPr>
          <p:cNvPr id="10" name="Text 8"/>
          <p:cNvSpPr txBox="1"/>
          <p:nvPr/>
        </p:nvSpPr>
        <p:spPr>
          <a:xfrm>
            <a:off x="777240" y="4070096"/>
            <a:ext cx="4952848" cy="880872"/>
          </a:xfrm>
          <a:prstGeom prst="rect">
            <a:avLst/>
          </a:prstGeom>
          <a:noFill/>
          <a:ln/>
        </p:spPr>
        <p:txBody>
          <a:bodyPr wrap="square" lIns="0" tIns="0" rIns="0" bIns="0" rtlCol="0" anchor="t"/>
          <a:lstStyle/>
          <a:p>
            <a:pPr indent="0" marL="0">
              <a:buNone/>
            </a:pPr>
            <a:r>
              <a:rPr lang="en-US" sz="1600" dirty="0">
                <a:solidFill>
                  <a:schemeClr val="tx1"/>
                </a:solidFill>
              </a:rPr>
              <a:t>Relis mon CV. Liste seulement : les fautes, les dates qui ne se suivent pas, les phrases vagues. N’ajoute aucune information nouvelle.</a:t>
            </a:r>
            <a:endParaRPr lang="en-US" sz="1600" dirty="0"/>
          </a:p>
        </p:txBody>
      </p:sp>
      <p:sp>
        <p:nvSpPr>
          <p:cNvPr id="11" name="Consigne 10"/>
          <p:cNvSpPr/>
          <p:nvPr/>
        </p:nvSpPr>
        <p:spPr>
          <a:xfrm>
            <a:off x="6233008" y="3612896"/>
            <a:ext cx="5410048" cy="1356360"/>
          </a:xfrm>
          <a:prstGeom prst="roundRect">
            <a:avLst>
              <a:gd name="adj" fmla="val 6742"/>
            </a:avLst>
          </a:prstGeom>
          <a:solidFill>
            <a:schemeClr val="bg2"/>
          </a:solidFill>
          <a:ln w="19050">
            <a:solidFill>
              <a:schemeClr val="accent1"/>
            </a:solidFill>
            <a:prstDash val="solid"/>
          </a:ln>
        </p:spPr>
      </p:sp>
      <p:sp>
        <p:nvSpPr>
          <p:cNvPr id="12" name="Titre consigne 10"/>
          <p:cNvSpPr/>
          <p:nvPr/>
        </p:nvSpPr>
        <p:spPr>
          <a:xfrm>
            <a:off x="6233008" y="3612896"/>
            <a:ext cx="5410048" cy="384048"/>
          </a:xfrm>
          <a:prstGeom prst="roundRect">
            <a:avLst>
              <a:gd name="adj" fmla="val 23810"/>
            </a:avLst>
          </a:prstGeom>
          <a:solidFill>
            <a:schemeClr val="accent1"/>
          </a:solidFill>
          <a:ln w="12700">
            <a:solidFill>
              <a:schemeClr val="accent1"/>
            </a:solidFill>
            <a:prstDash val="solid"/>
          </a:ln>
        </p:spPr>
      </p:sp>
      <p:sp>
        <p:nvSpPr>
          <p:cNvPr id="13" name="Text 11"/>
          <p:cNvSpPr txBox="1"/>
          <p:nvPr/>
        </p:nvSpPr>
        <p:spPr>
          <a:xfrm>
            <a:off x="6415888" y="3612896"/>
            <a:ext cx="5044288" cy="384048"/>
          </a:xfrm>
          <a:prstGeom prst="rect">
            <a:avLst/>
          </a:prstGeom>
          <a:noFill/>
          <a:ln/>
        </p:spPr>
        <p:txBody>
          <a:bodyPr wrap="square" lIns="0" tIns="0" rIns="0" bIns="0" rtlCol="0" anchor="ctr"/>
          <a:lstStyle/>
          <a:p>
            <a:pPr indent="0" marL="0">
              <a:buNone/>
            </a:pPr>
            <a:r>
              <a:rPr lang="en-US" sz="1500" b="1" dirty="0">
                <a:solidFill>
                  <a:schemeClr val="bg1"/>
                </a:solidFill>
              </a:rPr>
              <a:t>CONSIGNE 10   Corriger mon CV  ·  Claude</a:t>
            </a:r>
            <a:endParaRPr lang="en-US" sz="1500" dirty="0"/>
          </a:p>
        </p:txBody>
      </p:sp>
      <p:sp>
        <p:nvSpPr>
          <p:cNvPr id="14" name="Text 12"/>
          <p:cNvSpPr txBox="1"/>
          <p:nvPr/>
        </p:nvSpPr>
        <p:spPr>
          <a:xfrm>
            <a:off x="6461608" y="4070096"/>
            <a:ext cx="4952848" cy="880872"/>
          </a:xfrm>
          <a:prstGeom prst="rect">
            <a:avLst/>
          </a:prstGeom>
          <a:noFill/>
          <a:ln/>
        </p:spPr>
        <p:txBody>
          <a:bodyPr wrap="square" lIns="0" tIns="0" rIns="0" bIns="0" rtlCol="0" anchor="t"/>
          <a:lstStyle/>
          <a:p>
            <a:pPr indent="0" marL="0">
              <a:buNone/>
            </a:pPr>
            <a:r>
              <a:rPr lang="en-US" sz="1600" dirty="0">
                <a:solidFill>
                  <a:schemeClr val="tx1"/>
                </a:solidFill>
              </a:rPr>
              <a:t>Corrige exactement ceci, sans rien changer d’autre : </a:t>
            </a:r>
            <a:pPr indent="0" marL="0">
              <a:buNone/>
            </a:pPr>
            <a:r>
              <a:rPr lang="en-US" sz="1600" b="1" dirty="0">
                <a:solidFill>
                  <a:schemeClr val="accent1"/>
                </a:solidFill>
              </a:rPr>
              <a:t>[ma correction]</a:t>
            </a:r>
            <a:pPr indent="0" marL="0">
              <a:buNone/>
            </a:pPr>
            <a:r>
              <a:rPr lang="en-US" sz="1600" dirty="0">
                <a:solidFill>
                  <a:schemeClr val="tx1"/>
                </a:solidFill>
              </a:rPr>
              <a:t>. Puis génère de nouveau le CV en PDF sur une seule page.</a:t>
            </a:r>
            <a:endParaRPr lang="en-US" sz="1600" dirty="0"/>
          </a:p>
        </p:txBody>
      </p:sp>
      <p:sp>
        <p:nvSpPr>
          <p:cNvPr id="15" name="Attention"/>
          <p:cNvSpPr/>
          <p:nvPr/>
        </p:nvSpPr>
        <p:spPr>
          <a:xfrm>
            <a:off x="548640" y="5197856"/>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6" name="Image 0" descr="Attention">    </p:cNvPr>
          <p:cNvPicPr>
            <a:picLocks noChangeAspect="1"/>
          </p:cNvPicPr>
          <p:nvPr/>
        </p:nvPicPr>
        <p:blipFill>
          <a:blip r:embed="rId1"/>
          <a:stretch>
            <a:fillRect/>
          </a:stretch>
        </p:blipFill>
        <p:spPr>
          <a:xfrm>
            <a:off x="777240" y="5431028"/>
            <a:ext cx="411480" cy="411480"/>
          </a:xfrm>
          <a:prstGeom prst="rect">
            <a:avLst/>
          </a:prstGeom>
        </p:spPr>
      </p:pic>
      <p:sp>
        <p:nvSpPr>
          <p:cNvPr id="17" name="Text 14"/>
          <p:cNvSpPr txBox="1"/>
          <p:nvPr/>
        </p:nvSpPr>
        <p:spPr>
          <a:xfrm>
            <a:off x="1417320" y="5197856"/>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Un diplôme, une date ou une entreprise que vous ne reconnaissez pas : supprimez-le tout de suite.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5 — Je télécharge et je nomme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Téléchargez le CV en PDF et la lettre de motivation.</a:t>
            </a:r>
            <a:endParaRPr lang="en-US" sz="2400" dirty="0"/>
          </a:p>
          <a:p>
            <a:pPr marL="342900" indent="-342900">
              <a:spcAft>
                <a:spcPts val="1000"/>
              </a:spcAft>
              <a:buSzPct val="100000"/>
              <a:buFont typeface="+mj-lt"/>
              <a:buAutoNum type="arabicPeriod" startAt="1"/>
            </a:pPr>
            <a:r>
              <a:rPr lang="en-US" sz="2400" dirty="0">
                <a:solidFill>
                  <a:schemeClr val="tx1"/>
                </a:solidFill>
              </a:rPr>
              <a:t>Nommez : 3_CV_NOM.pdf et 4_Lettre_NOM (la lettre sera retravaillée au TP4).</a:t>
            </a:r>
            <a:endParaRPr lang="en-US" sz="2400" dirty="0"/>
          </a:p>
          <a:p>
            <a:pPr marL="342900" indent="-342900">
              <a:spcAft>
                <a:spcPts val="1000"/>
              </a:spcAft>
              <a:buSzPct val="100000"/>
              <a:buFont typeface="+mj-lt"/>
              <a:buAutoNum type="arabicPeriod" startAt="1"/>
            </a:pPr>
            <a:r>
              <a:rPr lang="en-US" sz="2400" dirty="0">
                <a:solidFill>
                  <a:schemeClr val="tx1"/>
                </a:solidFill>
              </a:rPr>
              <a:t>Rangez-les dans votre dossier M3_NOM_Prénom.</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FileAlt">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5410048"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4404208" cy="640080"/>
          </a:xfrm>
          <a:prstGeom prst="rect">
            <a:avLst/>
          </a:prstGeom>
          <a:noFill/>
          <a:ln/>
        </p:spPr>
        <p:txBody>
          <a:bodyPr wrap="square" lIns="0" tIns="0" rIns="0" bIns="0" rtlCol="0" anchor="ctr"/>
          <a:lstStyle/>
          <a:p>
            <a:pPr indent="0" marL="0">
              <a:buNone/>
            </a:pPr>
            <a:r>
              <a:rPr lang="en-US" sz="1800" dirty="0">
                <a:solidFill>
                  <a:schemeClr val="tx1"/>
                </a:solidFill>
              </a:rPr>
              <a:t>Mon nom, mon téléphone et mon e-mail sont exacts.</a:t>
            </a:r>
            <a:endParaRPr lang="en-US" sz="1800" dirty="0"/>
          </a:p>
        </p:txBody>
      </p:sp>
      <p:sp>
        <p:nvSpPr>
          <p:cNvPr id="8" name="Carte"/>
          <p:cNvSpPr/>
          <p:nvPr/>
        </p:nvSpPr>
        <p:spPr>
          <a:xfrm>
            <a:off x="6233008" y="1463040"/>
            <a:ext cx="5410048"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6415888" y="1554480"/>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6525616" y="1664208"/>
            <a:ext cx="237744" cy="237744"/>
          </a:xfrm>
          <a:prstGeom prst="rect">
            <a:avLst/>
          </a:prstGeom>
        </p:spPr>
      </p:pic>
      <p:sp>
        <p:nvSpPr>
          <p:cNvPr id="11" name="Text 7"/>
          <p:cNvSpPr txBox="1"/>
          <p:nvPr/>
        </p:nvSpPr>
        <p:spPr>
          <a:xfrm>
            <a:off x="7055968" y="1463040"/>
            <a:ext cx="4404208" cy="640080"/>
          </a:xfrm>
          <a:prstGeom prst="rect">
            <a:avLst/>
          </a:prstGeom>
          <a:noFill/>
          <a:ln/>
        </p:spPr>
        <p:txBody>
          <a:bodyPr wrap="square" lIns="0" tIns="0" rIns="0" bIns="0" rtlCol="0" anchor="ctr"/>
          <a:lstStyle/>
          <a:p>
            <a:pPr indent="0" marL="0">
              <a:buNone/>
            </a:pPr>
            <a:r>
              <a:rPr lang="en-US" sz="1800" dirty="0">
                <a:solidFill>
                  <a:schemeClr val="tx1"/>
                </a:solidFill>
              </a:rPr>
              <a:t>Le poste visé est le bon.</a:t>
            </a:r>
            <a:endParaRPr lang="en-US" sz="1800" dirty="0"/>
          </a:p>
        </p:txBody>
      </p:sp>
      <p:sp>
        <p:nvSpPr>
          <p:cNvPr id="12" name="Carte"/>
          <p:cNvSpPr/>
          <p:nvPr/>
        </p:nvSpPr>
        <p:spPr>
          <a:xfrm>
            <a:off x="548640" y="2212848"/>
            <a:ext cx="5410048"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2414016"/>
            <a:ext cx="237744" cy="237744"/>
          </a:xfrm>
          <a:prstGeom prst="rect">
            <a:avLst/>
          </a:prstGeom>
        </p:spPr>
      </p:pic>
      <p:sp>
        <p:nvSpPr>
          <p:cNvPr id="15" name="Text 10"/>
          <p:cNvSpPr txBox="1"/>
          <p:nvPr/>
        </p:nvSpPr>
        <p:spPr>
          <a:xfrm>
            <a:off x="1371600" y="2212848"/>
            <a:ext cx="4404208" cy="640080"/>
          </a:xfrm>
          <a:prstGeom prst="rect">
            <a:avLst/>
          </a:prstGeom>
          <a:noFill/>
          <a:ln/>
        </p:spPr>
        <p:txBody>
          <a:bodyPr wrap="square" lIns="0" tIns="0" rIns="0" bIns="0" rtlCol="0" anchor="ctr"/>
          <a:lstStyle/>
          <a:p>
            <a:pPr indent="0" marL="0">
              <a:buNone/>
            </a:pPr>
            <a:r>
              <a:rPr lang="en-US" sz="1800" dirty="0">
                <a:solidFill>
                  <a:schemeClr val="tx1"/>
                </a:solidFill>
              </a:rPr>
              <a:t>Les dates se suivent et sont justes.</a:t>
            </a:r>
            <a:endParaRPr lang="en-US" sz="1800" dirty="0"/>
          </a:p>
        </p:txBody>
      </p:sp>
      <p:sp>
        <p:nvSpPr>
          <p:cNvPr id="16" name="Carte"/>
          <p:cNvSpPr/>
          <p:nvPr/>
        </p:nvSpPr>
        <p:spPr>
          <a:xfrm>
            <a:off x="6233008" y="2212848"/>
            <a:ext cx="5410048"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6415888" y="2304288"/>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6525616" y="2414016"/>
            <a:ext cx="237744" cy="237744"/>
          </a:xfrm>
          <a:prstGeom prst="rect">
            <a:avLst/>
          </a:prstGeom>
        </p:spPr>
      </p:pic>
      <p:sp>
        <p:nvSpPr>
          <p:cNvPr id="19" name="Text 13"/>
          <p:cNvSpPr txBox="1"/>
          <p:nvPr/>
        </p:nvSpPr>
        <p:spPr>
          <a:xfrm>
            <a:off x="7055968" y="2212848"/>
            <a:ext cx="4404208" cy="640080"/>
          </a:xfrm>
          <a:prstGeom prst="rect">
            <a:avLst/>
          </a:prstGeom>
          <a:noFill/>
          <a:ln/>
        </p:spPr>
        <p:txBody>
          <a:bodyPr wrap="square" lIns="0" tIns="0" rIns="0" bIns="0" rtlCol="0" anchor="ctr"/>
          <a:lstStyle/>
          <a:p>
            <a:pPr indent="0" marL="0">
              <a:buNone/>
            </a:pPr>
            <a:r>
              <a:rPr lang="en-US" sz="1800" dirty="0">
                <a:solidFill>
                  <a:schemeClr val="tx1"/>
                </a:solidFill>
              </a:rPr>
              <a:t>Les noms d’écoles et d’employeurs sont exacts.</a:t>
            </a:r>
            <a:endParaRPr lang="en-US" sz="1800" dirty="0"/>
          </a:p>
        </p:txBody>
      </p:sp>
      <p:sp>
        <p:nvSpPr>
          <p:cNvPr id="20" name="Carte"/>
          <p:cNvSpPr/>
          <p:nvPr/>
        </p:nvSpPr>
        <p:spPr>
          <a:xfrm>
            <a:off x="548640" y="2962656"/>
            <a:ext cx="5410048"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3163824"/>
            <a:ext cx="237744" cy="237744"/>
          </a:xfrm>
          <a:prstGeom prst="rect">
            <a:avLst/>
          </a:prstGeom>
        </p:spPr>
      </p:pic>
      <p:sp>
        <p:nvSpPr>
          <p:cNvPr id="23" name="Text 16"/>
          <p:cNvSpPr txBox="1"/>
          <p:nvPr/>
        </p:nvSpPr>
        <p:spPr>
          <a:xfrm>
            <a:off x="1371600" y="2962656"/>
            <a:ext cx="4404208" cy="640080"/>
          </a:xfrm>
          <a:prstGeom prst="rect">
            <a:avLst/>
          </a:prstGeom>
          <a:noFill/>
          <a:ln/>
        </p:spPr>
        <p:txBody>
          <a:bodyPr wrap="square" lIns="0" tIns="0" rIns="0" bIns="0" rtlCol="0" anchor="ctr"/>
          <a:lstStyle/>
          <a:p>
            <a:pPr indent="0" marL="0">
              <a:buNone/>
            </a:pPr>
            <a:r>
              <a:rPr lang="en-US" sz="1800" dirty="0">
                <a:solidFill>
                  <a:schemeClr val="tx1"/>
                </a:solidFill>
              </a:rPr>
              <a:t>Je peux prouver chaque compétence écrite.</a:t>
            </a:r>
            <a:endParaRPr lang="en-US" sz="1800" dirty="0"/>
          </a:p>
        </p:txBody>
      </p:sp>
      <p:sp>
        <p:nvSpPr>
          <p:cNvPr id="24" name="Carte"/>
          <p:cNvSpPr/>
          <p:nvPr/>
        </p:nvSpPr>
        <p:spPr>
          <a:xfrm>
            <a:off x="6233008" y="2962656"/>
            <a:ext cx="5410048" cy="640080"/>
          </a:xfrm>
          <a:prstGeom prst="roundRect">
            <a:avLst>
              <a:gd name="adj" fmla="val 17143"/>
            </a:avLst>
          </a:prstGeom>
          <a:solidFill>
            <a:schemeClr val="bg2"/>
          </a:solidFill>
          <a:ln w="12700">
            <a:solidFill>
              <a:schemeClr val="bg2"/>
            </a:solidFill>
            <a:prstDash val="solid"/>
          </a:ln>
        </p:spPr>
      </p:sp>
      <p:sp>
        <p:nvSpPr>
          <p:cNvPr id="25" name="Badge icône"/>
          <p:cNvSpPr/>
          <p:nvPr/>
        </p:nvSpPr>
        <p:spPr>
          <a:xfrm>
            <a:off x="6415888" y="3054096"/>
            <a:ext cx="457200" cy="457200"/>
          </a:xfrm>
          <a:prstGeom prst="ellipse">
            <a:avLst/>
          </a:prstGeom>
          <a:solidFill>
            <a:srgbClr val="2E9E6B"/>
          </a:solidFill>
          <a:ln w="12700">
            <a:solidFill>
              <a:srgbClr val="2E9E6B"/>
            </a:solidFill>
            <a:prstDash val="solid"/>
          </a:ln>
        </p:spPr>
      </p:sp>
      <p:pic>
        <p:nvPicPr>
          <p:cNvPr id="26" name="Image 5" descr="FaCheck">    </p:cNvPr>
          <p:cNvPicPr>
            <a:picLocks noChangeAspect="1"/>
          </p:cNvPicPr>
          <p:nvPr/>
        </p:nvPicPr>
        <p:blipFill>
          <a:blip r:embed="rId6"/>
          <a:stretch>
            <a:fillRect/>
          </a:stretch>
        </p:blipFill>
        <p:spPr>
          <a:xfrm>
            <a:off x="6525616" y="3163824"/>
            <a:ext cx="237744" cy="237744"/>
          </a:xfrm>
          <a:prstGeom prst="rect">
            <a:avLst/>
          </a:prstGeom>
        </p:spPr>
      </p:pic>
      <p:sp>
        <p:nvSpPr>
          <p:cNvPr id="27" name="Text 19"/>
          <p:cNvSpPr txBox="1"/>
          <p:nvPr/>
        </p:nvSpPr>
        <p:spPr>
          <a:xfrm>
            <a:off x="7055968" y="2962656"/>
            <a:ext cx="4404208" cy="640080"/>
          </a:xfrm>
          <a:prstGeom prst="rect">
            <a:avLst/>
          </a:prstGeom>
          <a:noFill/>
          <a:ln/>
        </p:spPr>
        <p:txBody>
          <a:bodyPr wrap="square" lIns="0" tIns="0" rIns="0" bIns="0" rtlCol="0" anchor="ctr"/>
          <a:lstStyle/>
          <a:p>
            <a:pPr indent="0" marL="0">
              <a:buNone/>
            </a:pPr>
            <a:r>
              <a:rPr lang="en-US" sz="1800" dirty="0">
                <a:solidFill>
                  <a:schemeClr val="tx1"/>
                </a:solidFill>
              </a:rPr>
              <a:t>Il n’y a rien que je n’ai pas vécu.</a:t>
            </a:r>
            <a:endParaRPr lang="en-US" sz="1800" dirty="0"/>
          </a:p>
        </p:txBody>
      </p:sp>
      <p:sp>
        <p:nvSpPr>
          <p:cNvPr id="28" name="Carte"/>
          <p:cNvSpPr/>
          <p:nvPr/>
        </p:nvSpPr>
        <p:spPr>
          <a:xfrm>
            <a:off x="548640" y="3712464"/>
            <a:ext cx="5410048" cy="640080"/>
          </a:xfrm>
          <a:prstGeom prst="roundRect">
            <a:avLst>
              <a:gd name="adj" fmla="val 17143"/>
            </a:avLst>
          </a:prstGeom>
          <a:solidFill>
            <a:schemeClr val="bg2"/>
          </a:solidFill>
          <a:ln w="12700">
            <a:solidFill>
              <a:schemeClr val="bg2"/>
            </a:solidFill>
            <a:prstDash val="solid"/>
          </a:ln>
        </p:spPr>
      </p:sp>
      <p:sp>
        <p:nvSpPr>
          <p:cNvPr id="29"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30" name="Image 6" descr="FaCheck">    </p:cNvPr>
          <p:cNvPicPr>
            <a:picLocks noChangeAspect="1"/>
          </p:cNvPicPr>
          <p:nvPr/>
        </p:nvPicPr>
        <p:blipFill>
          <a:blip r:embed="rId7"/>
          <a:stretch>
            <a:fillRect/>
          </a:stretch>
        </p:blipFill>
        <p:spPr>
          <a:xfrm>
            <a:off x="841248" y="3913632"/>
            <a:ext cx="237744" cy="237744"/>
          </a:xfrm>
          <a:prstGeom prst="rect">
            <a:avLst/>
          </a:prstGeom>
        </p:spPr>
      </p:pic>
      <p:sp>
        <p:nvSpPr>
          <p:cNvPr id="31" name="Text 22"/>
          <p:cNvSpPr txBox="1"/>
          <p:nvPr/>
        </p:nvSpPr>
        <p:spPr>
          <a:xfrm>
            <a:off x="1371600" y="3712464"/>
            <a:ext cx="4404208" cy="640080"/>
          </a:xfrm>
          <a:prstGeom prst="rect">
            <a:avLst/>
          </a:prstGeom>
          <a:noFill/>
          <a:ln/>
        </p:spPr>
        <p:txBody>
          <a:bodyPr wrap="square" lIns="0" tIns="0" rIns="0" bIns="0" rtlCol="0" anchor="ctr"/>
          <a:lstStyle/>
          <a:p>
            <a:pPr indent="0" marL="0">
              <a:buNone/>
            </a:pPr>
            <a:r>
              <a:rPr lang="en-US" sz="1800" dirty="0">
                <a:solidFill>
                  <a:schemeClr val="tx1"/>
                </a:solidFill>
              </a:rPr>
              <a:t>Il n’y a pas de faute.</a:t>
            </a:r>
            <a:endParaRPr lang="en-US" sz="1800" dirty="0"/>
          </a:p>
        </p:txBody>
      </p:sp>
      <p:sp>
        <p:nvSpPr>
          <p:cNvPr id="32" name="Carte"/>
          <p:cNvSpPr/>
          <p:nvPr/>
        </p:nvSpPr>
        <p:spPr>
          <a:xfrm>
            <a:off x="6233008" y="3712464"/>
            <a:ext cx="5410048" cy="640080"/>
          </a:xfrm>
          <a:prstGeom prst="roundRect">
            <a:avLst>
              <a:gd name="adj" fmla="val 17143"/>
            </a:avLst>
          </a:prstGeom>
          <a:solidFill>
            <a:schemeClr val="bg2"/>
          </a:solidFill>
          <a:ln w="12700">
            <a:solidFill>
              <a:schemeClr val="bg2"/>
            </a:solidFill>
            <a:prstDash val="solid"/>
          </a:ln>
        </p:spPr>
      </p:sp>
      <p:sp>
        <p:nvSpPr>
          <p:cNvPr id="33" name="Badge icône"/>
          <p:cNvSpPr/>
          <p:nvPr/>
        </p:nvSpPr>
        <p:spPr>
          <a:xfrm>
            <a:off x="6415888" y="3803904"/>
            <a:ext cx="457200" cy="457200"/>
          </a:xfrm>
          <a:prstGeom prst="ellipse">
            <a:avLst/>
          </a:prstGeom>
          <a:solidFill>
            <a:srgbClr val="2E9E6B"/>
          </a:solidFill>
          <a:ln w="12700">
            <a:solidFill>
              <a:srgbClr val="2E9E6B"/>
            </a:solidFill>
            <a:prstDash val="solid"/>
          </a:ln>
        </p:spPr>
      </p:sp>
      <p:pic>
        <p:nvPicPr>
          <p:cNvPr id="34" name="Image 7" descr="FaCheck">    </p:cNvPr>
          <p:cNvPicPr>
            <a:picLocks noChangeAspect="1"/>
          </p:cNvPicPr>
          <p:nvPr/>
        </p:nvPicPr>
        <p:blipFill>
          <a:blip r:embed="rId8"/>
          <a:stretch>
            <a:fillRect/>
          </a:stretch>
        </p:blipFill>
        <p:spPr>
          <a:xfrm>
            <a:off x="6525616" y="3913632"/>
            <a:ext cx="237744" cy="237744"/>
          </a:xfrm>
          <a:prstGeom prst="rect">
            <a:avLst/>
          </a:prstGeom>
        </p:spPr>
      </p:pic>
      <p:sp>
        <p:nvSpPr>
          <p:cNvPr id="35" name="Text 25"/>
          <p:cNvSpPr txBox="1"/>
          <p:nvPr/>
        </p:nvSpPr>
        <p:spPr>
          <a:xfrm>
            <a:off x="7055968" y="3712464"/>
            <a:ext cx="4404208" cy="640080"/>
          </a:xfrm>
          <a:prstGeom prst="rect">
            <a:avLst/>
          </a:prstGeom>
          <a:noFill/>
          <a:ln/>
        </p:spPr>
        <p:txBody>
          <a:bodyPr wrap="square" lIns="0" tIns="0" rIns="0" bIns="0" rtlCol="0" anchor="ctr"/>
          <a:lstStyle/>
          <a:p>
            <a:pPr indent="0" marL="0">
              <a:buNone/>
            </a:pPr>
            <a:r>
              <a:rPr lang="en-US" sz="1800" dirty="0">
                <a:solidFill>
                  <a:schemeClr val="tx1"/>
                </a:solidFill>
              </a:rPr>
              <a:t>Le CV tient sur une page et se lit facilement.</a:t>
            </a:r>
            <a:endParaRPr lang="en-US" sz="1800" dirty="0"/>
          </a:p>
        </p:txBody>
      </p:sp>
      <p:sp>
        <p:nvSpPr>
          <p:cNvPr id="36"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37" name="Text 27"/>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Un CV généré, relu avec la liste, 2 corrections faites et téléchargé en PDF.</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4 · TP3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L’offre visée est une offre d’emploi. Le CV reprend ses mots-clés.</a:t>
            </a:r>
            <a:endParaRPr lang="en-US" sz="18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Je présente mon activité sur une page. L’« offre » est la demande d’un client type (voir l’offre D de l’Annexe B). Le document montre ce que je sais faire, mes références, comment me contacter.</a:t>
            </a:r>
            <a:endParaRPr lang="en-US" sz="18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Demandez à Claude : « Quels mots-clés de l’offre ne figurent pas dans mon CV ? » Ajoutez seulement ceux qui sont vrais pour vous.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5</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5 · TP4</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Ma lettre de motivation</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15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4_Lettre_NOM</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Vérifier, raccourcir et personnaliser la lettre de motivation générée par le skill.</a:t>
            </a:r>
            <a:endParaRPr lang="en-US" sz="2000" dirty="0"/>
          </a:p>
        </p:txBody>
      </p:sp>
      <p:pic>
        <p:nvPicPr>
          <p:cNvPr id="9" name="Image 0" descr="Ma lettre de motivation">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5 · TP4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Je retrouve ma lettre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09118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Ouvrez la lettre générée avec le skill au TP3.</a:t>
            </a:r>
            <a:endParaRPr lang="en-US" sz="2400" dirty="0"/>
          </a:p>
          <a:p>
            <a:pPr marL="342900" indent="-342900">
              <a:spcAft>
                <a:spcPts val="1000"/>
              </a:spcAft>
              <a:buSzPct val="100000"/>
              <a:buFont typeface="+mj-lt"/>
              <a:buAutoNum type="arabicPeriod" startAt="1"/>
            </a:pPr>
            <a:r>
              <a:rPr lang="en-US" sz="2400" dirty="0">
                <a:solidFill>
                  <a:schemeClr val="tx1"/>
                </a:solidFill>
              </a:rPr>
              <a:t>Lisez-la en entier, à voix basse.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EnvelopeOpenText">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5 · TP4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La lettre en 4 paragraphes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 min</a:t>
            </a:r>
            <a:endParaRPr lang="en-US" sz="1800" dirty="0"/>
          </a:p>
        </p:txBody>
      </p:sp>
      <p:sp>
        <p:nvSpPr>
          <p:cNvPr id="6" name="Carte"/>
          <p:cNvSpPr/>
          <p:nvPr/>
        </p:nvSpPr>
        <p:spPr>
          <a:xfrm>
            <a:off x="548640" y="1463040"/>
            <a:ext cx="11094415" cy="1051560"/>
          </a:xfrm>
          <a:prstGeom prst="roundRect">
            <a:avLst>
              <a:gd name="adj" fmla="val 10435"/>
            </a:avLst>
          </a:prstGeom>
          <a:solidFill>
            <a:schemeClr val="bg2"/>
          </a:solidFill>
          <a:ln w="12700">
            <a:solidFill>
              <a:schemeClr val="bg2"/>
            </a:solidFill>
            <a:prstDash val="solid"/>
          </a:ln>
        </p:spPr>
      </p:sp>
      <p:sp>
        <p:nvSpPr>
          <p:cNvPr id="7" name="Numéro 1"/>
          <p:cNvSpPr/>
          <p:nvPr/>
        </p:nvSpPr>
        <p:spPr>
          <a:xfrm>
            <a:off x="731520" y="1645920"/>
            <a:ext cx="685800" cy="685800"/>
          </a:xfrm>
          <a:prstGeom prst="ellipse">
            <a:avLst/>
          </a:prstGeom>
          <a:solidFill>
            <a:schemeClr val="tx2"/>
          </a:solidFill>
          <a:ln w="12700">
            <a:solidFill>
              <a:schemeClr val="tx2"/>
            </a:solidFill>
            <a:prstDash val="solid"/>
          </a:ln>
        </p:spPr>
      </p:sp>
      <p:sp>
        <p:nvSpPr>
          <p:cNvPr id="8" name="Text 6"/>
          <p:cNvSpPr txBox="1"/>
          <p:nvPr/>
        </p:nvSpPr>
        <p:spPr>
          <a:xfrm>
            <a:off x="731520" y="164592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9" name="Text 7"/>
          <p:cNvSpPr txBox="1"/>
          <p:nvPr/>
        </p:nvSpPr>
        <p:spPr>
          <a:xfrm>
            <a:off x="1645920" y="1463040"/>
            <a:ext cx="3566160" cy="1051560"/>
          </a:xfrm>
          <a:prstGeom prst="rect">
            <a:avLst/>
          </a:prstGeom>
          <a:noFill/>
          <a:ln/>
        </p:spPr>
        <p:txBody>
          <a:bodyPr wrap="square" lIns="0" tIns="0" rIns="0" bIns="0" rtlCol="0" anchor="ctr"/>
          <a:lstStyle/>
          <a:p>
            <a:pPr indent="0" marL="0">
              <a:buNone/>
            </a:pPr>
            <a:r>
              <a:rPr lang="en-US" sz="2000" b="1" dirty="0">
                <a:solidFill>
                  <a:schemeClr val="tx2"/>
                </a:solidFill>
              </a:rPr>
              <a:t>L’accroche</a:t>
            </a:r>
            <a:endParaRPr lang="en-US" sz="2000" dirty="0"/>
          </a:p>
          <a:p>
            <a:pPr indent="0" marL="0">
              <a:buNone/>
            </a:pPr>
            <a:r>
              <a:rPr lang="en-US" sz="2000" dirty="0">
                <a:solidFill>
                  <a:schemeClr val="accent5"/>
                </a:solidFill>
              </a:rPr>
              <a:t>Je dis quel poste je vise.</a:t>
            </a:r>
            <a:endParaRPr lang="en-US" sz="2000" dirty="0"/>
          </a:p>
        </p:txBody>
      </p:sp>
      <p:sp>
        <p:nvSpPr>
          <p:cNvPr id="10" name="Text 8"/>
          <p:cNvSpPr txBox="1"/>
          <p:nvPr/>
        </p:nvSpPr>
        <p:spPr>
          <a:xfrm>
            <a:off x="5394960" y="1463040"/>
            <a:ext cx="6065215" cy="1051560"/>
          </a:xfrm>
          <a:prstGeom prst="rect">
            <a:avLst/>
          </a:prstGeom>
          <a:noFill/>
          <a:ln/>
        </p:spPr>
        <p:txBody>
          <a:bodyPr wrap="square" lIns="0" tIns="0" rIns="0" bIns="0" rtlCol="0" anchor="ctr"/>
          <a:lstStyle/>
          <a:p>
            <a:pPr indent="0" marL="0">
              <a:buNone/>
            </a:pPr>
            <a:r>
              <a:rPr lang="en-US" sz="1800" i="1" dirty="0">
                <a:solidFill>
                  <a:schemeClr val="tx1"/>
                </a:solidFill>
              </a:rPr>
              <a:t>« Je souhaite poser ma candidature au poste d’assistante administrative. »</a:t>
            </a:r>
            <a:endParaRPr lang="en-US" sz="1800" dirty="0"/>
          </a:p>
        </p:txBody>
      </p:sp>
      <p:sp>
        <p:nvSpPr>
          <p:cNvPr id="11" name="Carte"/>
          <p:cNvSpPr/>
          <p:nvPr/>
        </p:nvSpPr>
        <p:spPr>
          <a:xfrm>
            <a:off x="548640" y="2651760"/>
            <a:ext cx="11094415" cy="1051560"/>
          </a:xfrm>
          <a:prstGeom prst="roundRect">
            <a:avLst>
              <a:gd name="adj" fmla="val 10435"/>
            </a:avLst>
          </a:prstGeom>
          <a:solidFill>
            <a:schemeClr val="bg2"/>
          </a:solidFill>
          <a:ln w="12700">
            <a:solidFill>
              <a:schemeClr val="bg2"/>
            </a:solidFill>
            <a:prstDash val="solid"/>
          </a:ln>
        </p:spPr>
      </p:sp>
      <p:sp>
        <p:nvSpPr>
          <p:cNvPr id="12" name="Numéro 2"/>
          <p:cNvSpPr/>
          <p:nvPr/>
        </p:nvSpPr>
        <p:spPr>
          <a:xfrm>
            <a:off x="731520" y="2834640"/>
            <a:ext cx="685800" cy="685800"/>
          </a:xfrm>
          <a:prstGeom prst="ellipse">
            <a:avLst/>
          </a:prstGeom>
          <a:solidFill>
            <a:schemeClr val="tx2"/>
          </a:solidFill>
          <a:ln w="12700">
            <a:solidFill>
              <a:schemeClr val="tx2"/>
            </a:solidFill>
            <a:prstDash val="solid"/>
          </a:ln>
        </p:spPr>
      </p:sp>
      <p:sp>
        <p:nvSpPr>
          <p:cNvPr id="13" name="Text 11"/>
          <p:cNvSpPr txBox="1"/>
          <p:nvPr/>
        </p:nvSpPr>
        <p:spPr>
          <a:xfrm>
            <a:off x="731520" y="283464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4" name="Text 12"/>
          <p:cNvSpPr txBox="1"/>
          <p:nvPr/>
        </p:nvSpPr>
        <p:spPr>
          <a:xfrm>
            <a:off x="1645920" y="2651760"/>
            <a:ext cx="3566160" cy="1051560"/>
          </a:xfrm>
          <a:prstGeom prst="rect">
            <a:avLst/>
          </a:prstGeom>
          <a:noFill/>
          <a:ln/>
        </p:spPr>
        <p:txBody>
          <a:bodyPr wrap="square" lIns="0" tIns="0" rIns="0" bIns="0" rtlCol="0" anchor="ctr"/>
          <a:lstStyle/>
          <a:p>
            <a:pPr indent="0" marL="0">
              <a:buNone/>
            </a:pPr>
            <a:r>
              <a:rPr lang="en-US" sz="2000" b="1" dirty="0">
                <a:solidFill>
                  <a:schemeClr val="tx2"/>
                </a:solidFill>
              </a:rPr>
              <a:t>Pourquoi moi</a:t>
            </a:r>
            <a:endParaRPr lang="en-US" sz="2000" dirty="0"/>
          </a:p>
          <a:p>
            <a:pPr indent="0" marL="0">
              <a:buNone/>
            </a:pPr>
            <a:r>
              <a:rPr lang="en-US" sz="2000" dirty="0">
                <a:solidFill>
                  <a:schemeClr val="accent5"/>
                </a:solidFill>
              </a:rPr>
              <a:t>2 compétences + 1 preuve vécue.</a:t>
            </a:r>
            <a:endParaRPr lang="en-US" sz="2000" dirty="0"/>
          </a:p>
        </p:txBody>
      </p:sp>
      <p:sp>
        <p:nvSpPr>
          <p:cNvPr id="15" name="Text 13"/>
          <p:cNvSpPr txBox="1"/>
          <p:nvPr/>
        </p:nvSpPr>
        <p:spPr>
          <a:xfrm>
            <a:off x="5394960" y="2651760"/>
            <a:ext cx="6065215" cy="1051560"/>
          </a:xfrm>
          <a:prstGeom prst="rect">
            <a:avLst/>
          </a:prstGeom>
          <a:noFill/>
          <a:ln/>
        </p:spPr>
        <p:txBody>
          <a:bodyPr wrap="square" lIns="0" tIns="0" rIns="0" bIns="0" rtlCol="0" anchor="ctr"/>
          <a:lstStyle/>
          <a:p>
            <a:pPr indent="0" marL="0">
              <a:buNone/>
            </a:pPr>
            <a:r>
              <a:rPr lang="en-US" sz="1800" i="1" dirty="0">
                <a:solidFill>
                  <a:schemeClr val="tx1"/>
                </a:solidFill>
              </a:rPr>
              <a:t>« J’ai appris à classer et à saisir des données pendant un stage de 3 mois. »</a:t>
            </a:r>
            <a:endParaRPr lang="en-US" sz="1800" dirty="0"/>
          </a:p>
        </p:txBody>
      </p:sp>
      <p:sp>
        <p:nvSpPr>
          <p:cNvPr id="16" name="Carte"/>
          <p:cNvSpPr/>
          <p:nvPr/>
        </p:nvSpPr>
        <p:spPr>
          <a:xfrm>
            <a:off x="548640" y="3840480"/>
            <a:ext cx="11094415" cy="1051560"/>
          </a:xfrm>
          <a:prstGeom prst="roundRect">
            <a:avLst>
              <a:gd name="adj" fmla="val 10435"/>
            </a:avLst>
          </a:prstGeom>
          <a:solidFill>
            <a:schemeClr val="bg2"/>
          </a:solidFill>
          <a:ln w="12700">
            <a:solidFill>
              <a:schemeClr val="bg2"/>
            </a:solidFill>
            <a:prstDash val="solid"/>
          </a:ln>
        </p:spPr>
      </p:sp>
      <p:sp>
        <p:nvSpPr>
          <p:cNvPr id="17" name="Numéro 3"/>
          <p:cNvSpPr/>
          <p:nvPr/>
        </p:nvSpPr>
        <p:spPr>
          <a:xfrm>
            <a:off x="731520" y="4023360"/>
            <a:ext cx="685800" cy="685800"/>
          </a:xfrm>
          <a:prstGeom prst="ellipse">
            <a:avLst/>
          </a:prstGeom>
          <a:solidFill>
            <a:schemeClr val="tx2"/>
          </a:solidFill>
          <a:ln w="12700">
            <a:solidFill>
              <a:schemeClr val="tx2"/>
            </a:solidFill>
            <a:prstDash val="solid"/>
          </a:ln>
        </p:spPr>
      </p:sp>
      <p:sp>
        <p:nvSpPr>
          <p:cNvPr id="18" name="Text 16"/>
          <p:cNvSpPr txBox="1"/>
          <p:nvPr/>
        </p:nvSpPr>
        <p:spPr>
          <a:xfrm>
            <a:off x="731520" y="402336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19" name="Text 17"/>
          <p:cNvSpPr txBox="1"/>
          <p:nvPr/>
        </p:nvSpPr>
        <p:spPr>
          <a:xfrm>
            <a:off x="1645920" y="3840480"/>
            <a:ext cx="3566160" cy="1051560"/>
          </a:xfrm>
          <a:prstGeom prst="rect">
            <a:avLst/>
          </a:prstGeom>
          <a:noFill/>
          <a:ln/>
        </p:spPr>
        <p:txBody>
          <a:bodyPr wrap="square" lIns="0" tIns="0" rIns="0" bIns="0" rtlCol="0" anchor="ctr"/>
          <a:lstStyle/>
          <a:p>
            <a:pPr indent="0" marL="0">
              <a:buNone/>
            </a:pPr>
            <a:r>
              <a:rPr lang="en-US" sz="2000" b="1" dirty="0">
                <a:solidFill>
                  <a:schemeClr val="tx2"/>
                </a:solidFill>
              </a:rPr>
              <a:t>Pourquoi vous</a:t>
            </a:r>
            <a:endParaRPr lang="en-US" sz="2000" dirty="0"/>
          </a:p>
          <a:p>
            <a:pPr indent="0" marL="0">
              <a:buNone/>
            </a:pPr>
            <a:r>
              <a:rPr lang="en-US" sz="2000" dirty="0">
                <a:solidFill>
                  <a:schemeClr val="accent5"/>
                </a:solidFill>
              </a:rPr>
              <a:t>Ce qui m’intéresse dans l’entreprise.</a:t>
            </a:r>
            <a:endParaRPr lang="en-US" sz="2000" dirty="0"/>
          </a:p>
        </p:txBody>
      </p:sp>
      <p:sp>
        <p:nvSpPr>
          <p:cNvPr id="20" name="Text 18"/>
          <p:cNvSpPr txBox="1"/>
          <p:nvPr/>
        </p:nvSpPr>
        <p:spPr>
          <a:xfrm>
            <a:off x="5394960" y="3840480"/>
            <a:ext cx="6065215" cy="1051560"/>
          </a:xfrm>
          <a:prstGeom prst="rect">
            <a:avLst/>
          </a:prstGeom>
          <a:noFill/>
          <a:ln/>
        </p:spPr>
        <p:txBody>
          <a:bodyPr wrap="square" lIns="0" tIns="0" rIns="0" bIns="0" rtlCol="0" anchor="ctr"/>
          <a:lstStyle/>
          <a:p>
            <a:pPr indent="0" marL="0">
              <a:buNone/>
            </a:pPr>
            <a:r>
              <a:rPr lang="en-US" sz="1800" i="1" dirty="0">
                <a:solidFill>
                  <a:schemeClr val="tx1"/>
                </a:solidFill>
              </a:rPr>
              <a:t>« Votre entreprise gère beaucoup de documents : l’organisation est ma force. »</a:t>
            </a:r>
            <a:endParaRPr lang="en-US" sz="1800" dirty="0"/>
          </a:p>
        </p:txBody>
      </p:sp>
      <p:sp>
        <p:nvSpPr>
          <p:cNvPr id="21" name="Carte"/>
          <p:cNvSpPr/>
          <p:nvPr/>
        </p:nvSpPr>
        <p:spPr>
          <a:xfrm>
            <a:off x="548640" y="5029200"/>
            <a:ext cx="11094415" cy="1051560"/>
          </a:xfrm>
          <a:prstGeom prst="roundRect">
            <a:avLst>
              <a:gd name="adj" fmla="val 10435"/>
            </a:avLst>
          </a:prstGeom>
          <a:solidFill>
            <a:schemeClr val="bg2"/>
          </a:solidFill>
          <a:ln w="12700">
            <a:solidFill>
              <a:schemeClr val="bg2"/>
            </a:solidFill>
            <a:prstDash val="solid"/>
          </a:ln>
        </p:spPr>
      </p:sp>
      <p:sp>
        <p:nvSpPr>
          <p:cNvPr id="22" name="Numéro 4"/>
          <p:cNvSpPr/>
          <p:nvPr/>
        </p:nvSpPr>
        <p:spPr>
          <a:xfrm>
            <a:off x="731520" y="5212080"/>
            <a:ext cx="685800" cy="685800"/>
          </a:xfrm>
          <a:prstGeom prst="ellipse">
            <a:avLst/>
          </a:prstGeom>
          <a:solidFill>
            <a:schemeClr val="tx2"/>
          </a:solidFill>
          <a:ln w="12700">
            <a:solidFill>
              <a:schemeClr val="tx2"/>
            </a:solidFill>
            <a:prstDash val="solid"/>
          </a:ln>
        </p:spPr>
      </p:sp>
      <p:sp>
        <p:nvSpPr>
          <p:cNvPr id="23" name="Text 21"/>
          <p:cNvSpPr txBox="1"/>
          <p:nvPr/>
        </p:nvSpPr>
        <p:spPr>
          <a:xfrm>
            <a:off x="731520" y="52120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24" name="Text 22"/>
          <p:cNvSpPr txBox="1"/>
          <p:nvPr/>
        </p:nvSpPr>
        <p:spPr>
          <a:xfrm>
            <a:off x="1645920" y="5029200"/>
            <a:ext cx="3566160" cy="1051560"/>
          </a:xfrm>
          <a:prstGeom prst="rect">
            <a:avLst/>
          </a:prstGeom>
          <a:noFill/>
          <a:ln/>
        </p:spPr>
        <p:txBody>
          <a:bodyPr wrap="square" lIns="0" tIns="0" rIns="0" bIns="0" rtlCol="0" anchor="ctr"/>
          <a:lstStyle/>
          <a:p>
            <a:pPr indent="0" marL="0">
              <a:buNone/>
            </a:pPr>
            <a:r>
              <a:rPr lang="en-US" sz="2000" b="1" dirty="0">
                <a:solidFill>
                  <a:schemeClr val="tx2"/>
                </a:solidFill>
              </a:rPr>
              <a:t>La conclusion</a:t>
            </a:r>
            <a:endParaRPr lang="en-US" sz="2000" dirty="0"/>
          </a:p>
          <a:p>
            <a:pPr indent="0" marL="0">
              <a:buNone/>
            </a:pPr>
            <a:r>
              <a:rPr lang="en-US" sz="2000" dirty="0">
                <a:solidFill>
                  <a:schemeClr val="accent5"/>
                </a:solidFill>
              </a:rPr>
              <a:t>Je remercie et je demande un entretien.</a:t>
            </a:r>
            <a:endParaRPr lang="en-US" sz="2000" dirty="0"/>
          </a:p>
        </p:txBody>
      </p:sp>
      <p:sp>
        <p:nvSpPr>
          <p:cNvPr id="25" name="Text 23"/>
          <p:cNvSpPr txBox="1"/>
          <p:nvPr/>
        </p:nvSpPr>
        <p:spPr>
          <a:xfrm>
            <a:off x="5394960" y="5029200"/>
            <a:ext cx="6065215" cy="1051560"/>
          </a:xfrm>
          <a:prstGeom prst="rect">
            <a:avLst/>
          </a:prstGeom>
          <a:noFill/>
          <a:ln/>
        </p:spPr>
        <p:txBody>
          <a:bodyPr wrap="square" lIns="0" tIns="0" rIns="0" bIns="0" rtlCol="0" anchor="ctr"/>
          <a:lstStyle/>
          <a:p>
            <a:pPr indent="0" marL="0">
              <a:buNone/>
            </a:pPr>
            <a:r>
              <a:rPr lang="en-US" sz="1800" i="1" dirty="0">
                <a:solidFill>
                  <a:schemeClr val="tx1"/>
                </a:solidFill>
              </a:rPr>
              <a:t>« Je serais heureuse de vous rencontrer. Je vous remercie de votre attention. »</a:t>
            </a:r>
            <a:endParaRPr lang="en-US" sz="1800" dirty="0"/>
          </a:p>
        </p:txBody>
      </p:sp>
      <p:sp>
        <p:nvSpPr>
          <p:cNvPr id="26" name="Text 24"/>
          <p:cNvSpPr txBox="1"/>
          <p:nvPr/>
        </p:nvSpPr>
        <p:spPr>
          <a:xfrm>
            <a:off x="548640" y="6217920"/>
            <a:ext cx="11094415" cy="228600"/>
          </a:xfrm>
          <a:prstGeom prst="rect">
            <a:avLst/>
          </a:prstGeom>
          <a:noFill/>
          <a:ln/>
        </p:spPr>
        <p:txBody>
          <a:bodyPr wrap="square" lIns="0" tIns="0" rIns="0" bIns="0" rtlCol="0" anchor="ctr"/>
          <a:lstStyle/>
          <a:p>
            <a:pPr indent="0" marL="0">
              <a:buNone/>
            </a:pPr>
            <a:r>
              <a:rPr lang="en-US" sz="1200" dirty="0">
                <a:solidFill>
                  <a:schemeClr val="accent5"/>
                </a:solidFill>
              </a:rPr>
              <a:t>Exemples fictifs.</a:t>
            </a:r>
            <a:endParaRPr lang="en-US" sz="1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5 · TP4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la rends plus courte et plus vraie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6 min</a:t>
            </a:r>
            <a:endParaRPr lang="en-US" sz="1800" dirty="0"/>
          </a:p>
        </p:txBody>
      </p:sp>
      <p:sp>
        <p:nvSpPr>
          <p:cNvPr id="6" name="Text 4"/>
          <p:cNvSpPr txBox="1"/>
          <p:nvPr/>
        </p:nvSpPr>
        <p:spPr>
          <a:xfrm>
            <a:off x="548640" y="1463040"/>
            <a:ext cx="11094415" cy="184302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000" dirty="0">
                <a:solidFill>
                  <a:schemeClr val="tx1"/>
                </a:solidFill>
              </a:rPr>
              <a:t>Copiez la Consigne 11 pour raccourcir.</a:t>
            </a:r>
            <a:endParaRPr lang="en-US" sz="2000" dirty="0"/>
          </a:p>
          <a:p>
            <a:pPr marL="342900" indent="-342900">
              <a:spcAft>
                <a:spcPts val="1000"/>
              </a:spcAft>
              <a:buSzPct val="100000"/>
              <a:buFont typeface="+mj-lt"/>
              <a:buAutoNum type="arabicPeriod" startAt="1"/>
            </a:pPr>
            <a:r>
              <a:rPr lang="en-US" sz="2000" dirty="0">
                <a:solidFill>
                  <a:schemeClr val="tx1"/>
                </a:solidFill>
              </a:rPr>
              <a:t>Choisissez UN exemple que vous avez vraiment vécu. Écrivez-le en 2 phrases.</a:t>
            </a:r>
            <a:endParaRPr lang="en-US" sz="2000" dirty="0"/>
          </a:p>
          <a:p>
            <a:pPr marL="342900" indent="-342900">
              <a:spcAft>
                <a:spcPts val="1000"/>
              </a:spcAft>
              <a:buSzPct val="100000"/>
              <a:buFont typeface="+mj-lt"/>
              <a:buAutoNum type="arabicPeriod" startAt="1"/>
            </a:pPr>
            <a:r>
              <a:rPr lang="en-US" sz="2000" dirty="0">
                <a:solidFill>
                  <a:schemeClr val="tx1"/>
                </a:solidFill>
              </a:rPr>
              <a:t>Copiez la Consigne 12 pour l’ajouter.</a:t>
            </a:r>
            <a:endParaRPr lang="en-US" sz="2000" dirty="0"/>
          </a:p>
          <a:p>
            <a:pPr marL="342900" indent="-342900">
              <a:spcAft>
                <a:spcPts val="1000"/>
              </a:spcAft>
              <a:buSzPct val="100000"/>
              <a:buFont typeface="+mj-lt"/>
              <a:buAutoNum type="arabicPeriod" startAt="1"/>
            </a:pPr>
            <a:r>
              <a:rPr lang="en-US" sz="2000" dirty="0">
                <a:solidFill>
                  <a:schemeClr val="tx1"/>
                </a:solidFill>
              </a:rPr>
              <a:t>Barrez les phrases que vous ne diriez jamais à l’oral.</a:t>
            </a:r>
            <a:endParaRPr lang="en-US" sz="2000" dirty="0"/>
          </a:p>
        </p:txBody>
      </p:sp>
      <p:sp>
        <p:nvSpPr>
          <p:cNvPr id="7" name="Consigne 11"/>
          <p:cNvSpPr/>
          <p:nvPr/>
        </p:nvSpPr>
        <p:spPr>
          <a:xfrm>
            <a:off x="548640" y="3488944"/>
            <a:ext cx="5410048" cy="1604264"/>
          </a:xfrm>
          <a:prstGeom prst="roundRect">
            <a:avLst>
              <a:gd name="adj" fmla="val 5700"/>
            </a:avLst>
          </a:prstGeom>
          <a:solidFill>
            <a:schemeClr val="bg2"/>
          </a:solidFill>
          <a:ln w="19050">
            <a:solidFill>
              <a:schemeClr val="accent1"/>
            </a:solidFill>
            <a:prstDash val="solid"/>
          </a:ln>
        </p:spPr>
      </p:sp>
      <p:sp>
        <p:nvSpPr>
          <p:cNvPr id="8" name="Titre consigne 11"/>
          <p:cNvSpPr/>
          <p:nvPr/>
        </p:nvSpPr>
        <p:spPr>
          <a:xfrm>
            <a:off x="548640" y="3488944"/>
            <a:ext cx="5410048" cy="384048"/>
          </a:xfrm>
          <a:prstGeom prst="roundRect">
            <a:avLst>
              <a:gd name="adj" fmla="val 23810"/>
            </a:avLst>
          </a:prstGeom>
          <a:solidFill>
            <a:schemeClr val="accent1"/>
          </a:solidFill>
          <a:ln w="12700">
            <a:solidFill>
              <a:schemeClr val="accent1"/>
            </a:solidFill>
            <a:prstDash val="solid"/>
          </a:ln>
        </p:spPr>
      </p:sp>
      <p:sp>
        <p:nvSpPr>
          <p:cNvPr id="9" name="Text 7"/>
          <p:cNvSpPr txBox="1"/>
          <p:nvPr/>
        </p:nvSpPr>
        <p:spPr>
          <a:xfrm>
            <a:off x="731520" y="3488944"/>
            <a:ext cx="5044288" cy="384048"/>
          </a:xfrm>
          <a:prstGeom prst="rect">
            <a:avLst/>
          </a:prstGeom>
          <a:noFill/>
          <a:ln/>
        </p:spPr>
        <p:txBody>
          <a:bodyPr wrap="square" lIns="0" tIns="0" rIns="0" bIns="0" rtlCol="0" anchor="ctr"/>
          <a:lstStyle/>
          <a:p>
            <a:pPr indent="0" marL="0">
              <a:buNone/>
            </a:pPr>
            <a:r>
              <a:rPr lang="en-US" sz="1500" b="1" dirty="0">
                <a:solidFill>
                  <a:schemeClr val="bg1"/>
                </a:solidFill>
              </a:rPr>
              <a:t>CONSIGNE 11   Raccourcir ma lettre  ·  Claude</a:t>
            </a:r>
            <a:endParaRPr lang="en-US" sz="1500" dirty="0"/>
          </a:p>
        </p:txBody>
      </p:sp>
      <p:sp>
        <p:nvSpPr>
          <p:cNvPr id="10" name="Text 8"/>
          <p:cNvSpPr txBox="1"/>
          <p:nvPr/>
        </p:nvSpPr>
        <p:spPr>
          <a:xfrm>
            <a:off x="777240" y="3946144"/>
            <a:ext cx="4952848" cy="1128776"/>
          </a:xfrm>
          <a:prstGeom prst="rect">
            <a:avLst/>
          </a:prstGeom>
          <a:noFill/>
          <a:ln/>
        </p:spPr>
        <p:txBody>
          <a:bodyPr wrap="square" lIns="0" tIns="0" rIns="0" bIns="0" rtlCol="0" anchor="t"/>
          <a:lstStyle/>
          <a:p>
            <a:pPr indent="0" marL="0">
              <a:buNone/>
            </a:pPr>
            <a:r>
              <a:rPr lang="en-US" sz="1600" dirty="0">
                <a:solidFill>
                  <a:schemeClr val="tx1"/>
                </a:solidFill>
              </a:rPr>
              <a:t>Raccourcis ma lettre de motivation à 200 mots environ, avec un ton simple et poli. Garde les 4 paragraphes. N’ajoute aucune information que je ne t’ai pas donnée.</a:t>
            </a:r>
            <a:endParaRPr lang="en-US" sz="1600" dirty="0"/>
          </a:p>
        </p:txBody>
      </p:sp>
      <p:sp>
        <p:nvSpPr>
          <p:cNvPr id="11" name="Consigne 12"/>
          <p:cNvSpPr/>
          <p:nvPr/>
        </p:nvSpPr>
        <p:spPr>
          <a:xfrm>
            <a:off x="6233008" y="3488944"/>
            <a:ext cx="5410048" cy="1356360"/>
          </a:xfrm>
          <a:prstGeom prst="roundRect">
            <a:avLst>
              <a:gd name="adj" fmla="val 6742"/>
            </a:avLst>
          </a:prstGeom>
          <a:solidFill>
            <a:schemeClr val="bg2"/>
          </a:solidFill>
          <a:ln w="19050">
            <a:solidFill>
              <a:schemeClr val="accent1"/>
            </a:solidFill>
            <a:prstDash val="solid"/>
          </a:ln>
        </p:spPr>
      </p:sp>
      <p:sp>
        <p:nvSpPr>
          <p:cNvPr id="12" name="Titre consigne 12"/>
          <p:cNvSpPr/>
          <p:nvPr/>
        </p:nvSpPr>
        <p:spPr>
          <a:xfrm>
            <a:off x="6233008" y="3488944"/>
            <a:ext cx="5410048" cy="384048"/>
          </a:xfrm>
          <a:prstGeom prst="roundRect">
            <a:avLst>
              <a:gd name="adj" fmla="val 23810"/>
            </a:avLst>
          </a:prstGeom>
          <a:solidFill>
            <a:schemeClr val="accent1"/>
          </a:solidFill>
          <a:ln w="12700">
            <a:solidFill>
              <a:schemeClr val="accent1"/>
            </a:solidFill>
            <a:prstDash val="solid"/>
          </a:ln>
        </p:spPr>
      </p:sp>
      <p:sp>
        <p:nvSpPr>
          <p:cNvPr id="13" name="Text 11"/>
          <p:cNvSpPr txBox="1"/>
          <p:nvPr/>
        </p:nvSpPr>
        <p:spPr>
          <a:xfrm>
            <a:off x="6415888" y="3488944"/>
            <a:ext cx="5044288" cy="384048"/>
          </a:xfrm>
          <a:prstGeom prst="rect">
            <a:avLst/>
          </a:prstGeom>
          <a:noFill/>
          <a:ln/>
        </p:spPr>
        <p:txBody>
          <a:bodyPr wrap="square" lIns="0" tIns="0" rIns="0" bIns="0" rtlCol="0" anchor="ctr"/>
          <a:lstStyle/>
          <a:p>
            <a:pPr indent="0" marL="0">
              <a:buNone/>
            </a:pPr>
            <a:r>
              <a:rPr lang="en-US" sz="1500" b="1" dirty="0">
                <a:solidFill>
                  <a:schemeClr val="bg1"/>
                </a:solidFill>
              </a:rPr>
              <a:t>CONSIGNE 12   Ajouter un exemple vécu  ·  Claude</a:t>
            </a:r>
            <a:endParaRPr lang="en-US" sz="1500" dirty="0"/>
          </a:p>
        </p:txBody>
      </p:sp>
      <p:sp>
        <p:nvSpPr>
          <p:cNvPr id="14" name="Text 12"/>
          <p:cNvSpPr txBox="1"/>
          <p:nvPr/>
        </p:nvSpPr>
        <p:spPr>
          <a:xfrm>
            <a:off x="6461608" y="3946144"/>
            <a:ext cx="4952848" cy="880872"/>
          </a:xfrm>
          <a:prstGeom prst="rect">
            <a:avLst/>
          </a:prstGeom>
          <a:noFill/>
          <a:ln/>
        </p:spPr>
        <p:txBody>
          <a:bodyPr wrap="square" lIns="0" tIns="0" rIns="0" bIns="0" rtlCol="0" anchor="t"/>
          <a:lstStyle/>
          <a:p>
            <a:pPr indent="0" marL="0">
              <a:buNone/>
            </a:pPr>
            <a:r>
              <a:rPr lang="en-US" sz="1600" dirty="0">
                <a:solidFill>
                  <a:schemeClr val="tx1"/>
                </a:solidFill>
              </a:rPr>
              <a:t>Ajoute dans le deuxième paragraphe cet exemple que j’ai vraiment vécu : </a:t>
            </a:r>
            <a:pPr indent="0" marL="0">
              <a:buNone/>
            </a:pPr>
            <a:r>
              <a:rPr lang="en-US" sz="1600" b="1" dirty="0">
                <a:solidFill>
                  <a:schemeClr val="accent1"/>
                </a:solidFill>
              </a:rPr>
              <a:t>[mon exemple en 2 phrases]</a:t>
            </a:r>
            <a:pPr indent="0" marL="0">
              <a:buNone/>
            </a:pPr>
            <a:r>
              <a:rPr lang="en-US" sz="1600" dirty="0">
                <a:solidFill>
                  <a:schemeClr val="tx1"/>
                </a:solidFill>
              </a:rPr>
              <a:t>. N’invente rien d’autre.</a:t>
            </a:r>
            <a:endParaRPr lang="en-US" sz="1600" dirty="0"/>
          </a:p>
        </p:txBody>
      </p:sp>
      <p:sp>
        <p:nvSpPr>
          <p:cNvPr id="15" name="Attention"/>
          <p:cNvSpPr/>
          <p:nvPr/>
        </p:nvSpPr>
        <p:spPr>
          <a:xfrm>
            <a:off x="548640" y="5321808"/>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6" name="Image 0" descr="Attention">    </p:cNvPr>
          <p:cNvPicPr>
            <a:picLocks noChangeAspect="1"/>
          </p:cNvPicPr>
          <p:nvPr/>
        </p:nvPicPr>
        <p:blipFill>
          <a:blip r:embed="rId1"/>
          <a:stretch>
            <a:fillRect/>
          </a:stretch>
        </p:blipFill>
        <p:spPr>
          <a:xfrm>
            <a:off x="777240" y="5554980"/>
            <a:ext cx="411480" cy="411480"/>
          </a:xfrm>
          <a:prstGeom prst="rect">
            <a:avLst/>
          </a:prstGeom>
        </p:spPr>
      </p:pic>
      <p:sp>
        <p:nvSpPr>
          <p:cNvPr id="17" name="Text 14"/>
          <p:cNvSpPr txBox="1"/>
          <p:nvPr/>
        </p:nvSpPr>
        <p:spPr>
          <a:xfrm>
            <a:off x="1417320" y="5321808"/>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N’inventez pas d’exemple. Un exemple simple et vrai vaut mieux qu’un exemple brillant et faux.</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5 · TP4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Je l’enregistre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Téléchargez la lettre finale.</a:t>
            </a:r>
            <a:endParaRPr lang="en-US" sz="2400" dirty="0"/>
          </a:p>
          <a:p>
            <a:pPr marL="342900" indent="-342900">
              <a:spcAft>
                <a:spcPts val="1000"/>
              </a:spcAft>
              <a:buSzPct val="100000"/>
              <a:buFont typeface="+mj-lt"/>
              <a:buAutoNum type="arabicPeriod" startAt="1"/>
            </a:pPr>
            <a:r>
              <a:rPr lang="en-US" sz="2400" dirty="0">
                <a:solidFill>
                  <a:schemeClr val="tx1"/>
                </a:solidFill>
              </a:rPr>
              <a:t>Nommez : 4_Lettre_NOM.pdf (ou .docx).</a:t>
            </a:r>
            <a:endParaRPr lang="en-US" sz="2400" dirty="0"/>
          </a:p>
          <a:p>
            <a:pPr marL="342900" indent="-342900">
              <a:spcAft>
                <a:spcPts val="1000"/>
              </a:spcAft>
              <a:buSzPct val="100000"/>
              <a:buFont typeface="+mj-lt"/>
              <a:buAutoNum type="arabicPeriod" startAt="1"/>
            </a:pPr>
            <a:r>
              <a:rPr lang="en-US" sz="2400" dirty="0">
                <a:solidFill>
                  <a:schemeClr val="tx1"/>
                </a:solidFill>
              </a:rPr>
              <a:t>Rangez-la dans votre dossier M3_NOM_Prénom.</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EnvelopeOpenText">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5 · TP4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Ma lettre a 4 paragraphes.</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Elle tient sur une page.</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Le nom du poste ou de l’entreprise est juste.</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J’y ai ajouté un exemple que j’ai vraiment vécu.</a:t>
            </a:r>
            <a:endParaRPr lang="en-US" sz="1800" dirty="0"/>
          </a:p>
        </p:txBody>
      </p:sp>
      <p:sp>
        <p:nvSpPr>
          <p:cNvPr id="20" name="Carte"/>
          <p:cNvSpPr/>
          <p:nvPr/>
        </p:nvSpPr>
        <p:spPr>
          <a:xfrm>
            <a:off x="548640" y="4462272"/>
            <a:ext cx="11094415"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4553712"/>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4663440"/>
            <a:ext cx="237744" cy="237744"/>
          </a:xfrm>
          <a:prstGeom prst="rect">
            <a:avLst/>
          </a:prstGeom>
        </p:spPr>
      </p:pic>
      <p:sp>
        <p:nvSpPr>
          <p:cNvPr id="23" name="Text 16"/>
          <p:cNvSpPr txBox="1"/>
          <p:nvPr/>
        </p:nvSpPr>
        <p:spPr>
          <a:xfrm>
            <a:off x="1371600" y="4462272"/>
            <a:ext cx="10088575" cy="640080"/>
          </a:xfrm>
          <a:prstGeom prst="rect">
            <a:avLst/>
          </a:prstGeom>
          <a:noFill/>
          <a:ln/>
        </p:spPr>
        <p:txBody>
          <a:bodyPr wrap="square" lIns="0" tIns="0" rIns="0" bIns="0" rtlCol="0" anchor="ctr"/>
          <a:lstStyle/>
          <a:p>
            <a:pPr indent="0" marL="0">
              <a:buNone/>
            </a:pPr>
            <a:r>
              <a:rPr lang="en-US" sz="1800" dirty="0">
                <a:solidFill>
                  <a:schemeClr val="tx1"/>
                </a:solidFill>
              </a:rPr>
              <a:t>Il n’y a aucune phrase inventée ou exagérée.</a:t>
            </a:r>
            <a:endParaRPr lang="en-US" sz="1800" dirty="0"/>
          </a:p>
        </p:txBody>
      </p:sp>
      <p:sp>
        <p:nvSpPr>
          <p:cNvPr id="24"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5" name="Text 18"/>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Lettre vérifiée avec les 4 paragraphes et téléchargée.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5 · TP4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La lettre répond à une offre d’emploi.</a:t>
            </a:r>
            <a:endParaRPr lang="en-US" sz="18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La lettre devient une lettre de proposition de service pour un client : 1 le besoin du client, 2 mon offre, 3 pourquoi vous, 4 je propose un rendez-vous ou un devis.</a:t>
            </a:r>
            <a:endParaRPr lang="en-US" sz="18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Demandez à Claude une version en 3 phrases pour un message WhatsApp ou un e-mail court.</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pic>
        <p:nvPicPr>
          <p:cNvPr id="2" name="Image 0" descr="Pause">    </p:cNvPr>
          <p:cNvPicPr>
            <a:picLocks noChangeAspect="1"/>
          </p:cNvPicPr>
          <p:nvPr/>
        </p:nvPicPr>
        <p:blipFill>
          <a:blip r:embed="rId1"/>
          <a:stretch>
            <a:fillRect/>
          </a:stretch>
        </p:blipFill>
        <p:spPr>
          <a:xfrm>
            <a:off x="1188720" y="2103120"/>
            <a:ext cx="2194560" cy="2194560"/>
          </a:xfrm>
          <a:prstGeom prst="rect">
            <a:avLst/>
          </a:prstGeom>
        </p:spPr>
      </p:pic>
      <p:sp>
        <p:nvSpPr>
          <p:cNvPr id="3"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Pause</a:t>
            </a:r>
            <a:endParaRPr lang="en-US" sz="4000" dirty="0"/>
          </a:p>
        </p:txBody>
      </p:sp>
      <p:sp>
        <p:nvSpPr>
          <p:cNvPr id="4" name="Text 1"/>
          <p:cNvSpPr txBox="1"/>
          <p:nvPr/>
        </p:nvSpPr>
        <p:spPr>
          <a:xfrm>
            <a:off x="4206240" y="3931920"/>
            <a:ext cx="7315200" cy="548640"/>
          </a:xfrm>
          <a:prstGeom prst="rect">
            <a:avLst/>
          </a:prstGeom>
          <a:noFill/>
          <a:ln/>
        </p:spPr>
        <p:txBody>
          <a:bodyPr wrap="square" lIns="0" tIns="0" rIns="0" bIns="0" rtlCol="0" anchor="ctr"/>
          <a:lstStyle/>
          <a:p>
            <a:pPr indent="0" marL="0">
              <a:buNone/>
            </a:pPr>
            <a:r>
              <a:rPr lang="en-US" sz="2400" dirty="0">
                <a:solidFill>
                  <a:schemeClr val="bg2"/>
                </a:solidFill>
              </a:rPr>
              <a:t>15 minutes. Je reviens à l’heure.</a:t>
            </a:r>
            <a:endParaRPr lang="en-US" sz="2400" dirty="0"/>
          </a:p>
        </p:txBody>
      </p:sp>
      <p:sp>
        <p:nvSpPr>
          <p:cNvPr id="5" name="Text 2"/>
          <p:cNvSpPr txBox="1"/>
          <p:nvPr/>
        </p:nvSpPr>
        <p:spPr>
          <a:xfrm>
            <a:off x="4206240" y="4663440"/>
            <a:ext cx="7315200" cy="548640"/>
          </a:xfrm>
          <a:prstGeom prst="rect">
            <a:avLst/>
          </a:prstGeom>
          <a:noFill/>
          <a:ln/>
        </p:spPr>
        <p:txBody>
          <a:bodyPr wrap="square" lIns="0" tIns="0" rIns="0" bIns="0" rtlCol="0" anchor="ctr"/>
          <a:lstStyle/>
          <a:p>
            <a:pPr indent="0" marL="0">
              <a:buNone/>
            </a:pPr>
            <a:r>
              <a:rPr lang="en-US" sz="1800" dirty="0">
                <a:solidFill>
                  <a:schemeClr val="bg2"/>
                </a:solidFill>
              </a:rPr>
              <a:t>Je ne ferme pas ma session : je garde mon dossier M3_NOM_Prénom.</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6</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6 · TP5</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Préparer mon entretien (mock interview)</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25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5_Bilan_entretien_NOM</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S’entraîner à un entretien avec l’IA dans le rôle du recruteur, puis tirer un bilan.</a:t>
            </a:r>
            <a:endParaRPr lang="en-US" sz="2000" dirty="0"/>
          </a:p>
        </p:txBody>
      </p:sp>
      <p:pic>
        <p:nvPicPr>
          <p:cNvPr id="9" name="Image 0" descr="Préparer mon entretien (mock interview)">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La méthode STAR en 4 mots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 min</a:t>
            </a:r>
            <a:endParaRPr lang="en-US" sz="1800" dirty="0"/>
          </a:p>
        </p:txBody>
      </p:sp>
      <p:sp>
        <p:nvSpPr>
          <p:cNvPr id="6" name="Carte"/>
          <p:cNvSpPr/>
          <p:nvPr/>
        </p:nvSpPr>
        <p:spPr>
          <a:xfrm>
            <a:off x="548640" y="1463040"/>
            <a:ext cx="11094415" cy="1051560"/>
          </a:xfrm>
          <a:prstGeom prst="roundRect">
            <a:avLst>
              <a:gd name="adj" fmla="val 10435"/>
            </a:avLst>
          </a:prstGeom>
          <a:solidFill>
            <a:schemeClr val="bg2"/>
          </a:solidFill>
          <a:ln w="12700">
            <a:solidFill>
              <a:schemeClr val="bg2"/>
            </a:solidFill>
            <a:prstDash val="solid"/>
          </a:ln>
        </p:spPr>
      </p:sp>
      <p:sp>
        <p:nvSpPr>
          <p:cNvPr id="7" name="Lettre S"/>
          <p:cNvSpPr/>
          <p:nvPr/>
        </p:nvSpPr>
        <p:spPr>
          <a:xfrm>
            <a:off x="731520" y="1600200"/>
            <a:ext cx="777240" cy="777240"/>
          </a:xfrm>
          <a:prstGeom prst="roundRect">
            <a:avLst>
              <a:gd name="adj" fmla="val 14118"/>
            </a:avLst>
          </a:prstGeom>
          <a:solidFill>
            <a:schemeClr val="accent1"/>
          </a:solidFill>
          <a:ln w="12700">
            <a:solidFill>
              <a:schemeClr val="accent1"/>
            </a:solidFill>
            <a:prstDash val="solid"/>
          </a:ln>
        </p:spPr>
      </p:sp>
      <p:sp>
        <p:nvSpPr>
          <p:cNvPr id="8" name="Text 6"/>
          <p:cNvSpPr txBox="1"/>
          <p:nvPr/>
        </p:nvSpPr>
        <p:spPr>
          <a:xfrm>
            <a:off x="731520" y="1600200"/>
            <a:ext cx="777240" cy="777240"/>
          </a:xfrm>
          <a:prstGeom prst="rect">
            <a:avLst/>
          </a:prstGeom>
          <a:noFill/>
          <a:ln/>
        </p:spPr>
        <p:txBody>
          <a:bodyPr wrap="square" lIns="0" tIns="0" rIns="0" bIns="0" rtlCol="0" anchor="ctr"/>
          <a:lstStyle/>
          <a:p>
            <a:pPr algn="ctr" indent="0" marL="0">
              <a:buNone/>
            </a:pPr>
            <a:r>
              <a:rPr lang="en-US" sz="3600" b="1" dirty="0">
                <a:solidFill>
                  <a:schemeClr val="bg1"/>
                </a:solidFill>
              </a:rPr>
              <a:t>S</a:t>
            </a:r>
            <a:endParaRPr lang="en-US" sz="3600" dirty="0"/>
          </a:p>
        </p:txBody>
      </p:sp>
      <p:sp>
        <p:nvSpPr>
          <p:cNvPr id="9" name="Text 7"/>
          <p:cNvSpPr txBox="1"/>
          <p:nvPr/>
        </p:nvSpPr>
        <p:spPr>
          <a:xfrm>
            <a:off x="1737360" y="1463040"/>
            <a:ext cx="2743200" cy="1051560"/>
          </a:xfrm>
          <a:prstGeom prst="rect">
            <a:avLst/>
          </a:prstGeom>
          <a:noFill/>
          <a:ln/>
        </p:spPr>
        <p:txBody>
          <a:bodyPr wrap="square" lIns="0" tIns="0" rIns="0" bIns="0" rtlCol="0" anchor="ctr"/>
          <a:lstStyle/>
          <a:p>
            <a:pPr indent="0" marL="0">
              <a:buNone/>
            </a:pPr>
            <a:r>
              <a:rPr lang="en-US" sz="2000" b="1" dirty="0">
                <a:solidFill>
                  <a:schemeClr val="tx2"/>
                </a:solidFill>
              </a:rPr>
              <a:t>Situation</a:t>
            </a:r>
            <a:endParaRPr lang="en-US" sz="2000" dirty="0"/>
          </a:p>
          <a:p>
            <a:pPr indent="0" marL="0">
              <a:buNone/>
            </a:pPr>
            <a:r>
              <a:rPr lang="en-US" sz="2000" dirty="0">
                <a:solidFill>
                  <a:schemeClr val="accent5"/>
                </a:solidFill>
              </a:rPr>
              <a:t>Où et quand ?</a:t>
            </a:r>
            <a:endParaRPr lang="en-US" sz="2000" dirty="0"/>
          </a:p>
        </p:txBody>
      </p:sp>
      <p:sp>
        <p:nvSpPr>
          <p:cNvPr id="10" name="Text 8"/>
          <p:cNvSpPr txBox="1"/>
          <p:nvPr/>
        </p:nvSpPr>
        <p:spPr>
          <a:xfrm>
            <a:off x="4663440" y="1463040"/>
            <a:ext cx="6705295" cy="1051560"/>
          </a:xfrm>
          <a:prstGeom prst="rect">
            <a:avLst/>
          </a:prstGeom>
          <a:noFill/>
          <a:ln/>
        </p:spPr>
        <p:txBody>
          <a:bodyPr wrap="square" lIns="0" tIns="0" rIns="0" bIns="0" rtlCol="0" anchor="ctr"/>
          <a:lstStyle/>
          <a:p>
            <a:pPr indent="0" marL="0">
              <a:buNone/>
            </a:pPr>
            <a:r>
              <a:rPr lang="en-US" sz="2000" i="1" dirty="0">
                <a:solidFill>
                  <a:schemeClr val="tx1"/>
                </a:solidFill>
              </a:rPr>
              <a:t>Au stage, les dossiers des clients étaient mélangés.</a:t>
            </a:r>
            <a:endParaRPr lang="en-US" sz="2000" dirty="0"/>
          </a:p>
        </p:txBody>
      </p:sp>
      <p:sp>
        <p:nvSpPr>
          <p:cNvPr id="11" name="Carte"/>
          <p:cNvSpPr/>
          <p:nvPr/>
        </p:nvSpPr>
        <p:spPr>
          <a:xfrm>
            <a:off x="548640" y="2651760"/>
            <a:ext cx="11094415" cy="1051560"/>
          </a:xfrm>
          <a:prstGeom prst="roundRect">
            <a:avLst>
              <a:gd name="adj" fmla="val 10435"/>
            </a:avLst>
          </a:prstGeom>
          <a:solidFill>
            <a:schemeClr val="bg2"/>
          </a:solidFill>
          <a:ln w="12700">
            <a:solidFill>
              <a:schemeClr val="bg2"/>
            </a:solidFill>
            <a:prstDash val="solid"/>
          </a:ln>
        </p:spPr>
      </p:sp>
      <p:sp>
        <p:nvSpPr>
          <p:cNvPr id="12" name="Lettre T"/>
          <p:cNvSpPr/>
          <p:nvPr/>
        </p:nvSpPr>
        <p:spPr>
          <a:xfrm>
            <a:off x="731520" y="2788920"/>
            <a:ext cx="777240" cy="777240"/>
          </a:xfrm>
          <a:prstGeom prst="roundRect">
            <a:avLst>
              <a:gd name="adj" fmla="val 14118"/>
            </a:avLst>
          </a:prstGeom>
          <a:solidFill>
            <a:schemeClr val="accent1"/>
          </a:solidFill>
          <a:ln w="12700">
            <a:solidFill>
              <a:schemeClr val="accent1"/>
            </a:solidFill>
            <a:prstDash val="solid"/>
          </a:ln>
        </p:spPr>
      </p:sp>
      <p:sp>
        <p:nvSpPr>
          <p:cNvPr id="13" name="Text 11"/>
          <p:cNvSpPr txBox="1"/>
          <p:nvPr/>
        </p:nvSpPr>
        <p:spPr>
          <a:xfrm>
            <a:off x="731520" y="2788920"/>
            <a:ext cx="777240" cy="777240"/>
          </a:xfrm>
          <a:prstGeom prst="rect">
            <a:avLst/>
          </a:prstGeom>
          <a:noFill/>
          <a:ln/>
        </p:spPr>
        <p:txBody>
          <a:bodyPr wrap="square" lIns="0" tIns="0" rIns="0" bIns="0" rtlCol="0" anchor="ctr"/>
          <a:lstStyle/>
          <a:p>
            <a:pPr algn="ctr" indent="0" marL="0">
              <a:buNone/>
            </a:pPr>
            <a:r>
              <a:rPr lang="en-US" sz="3600" b="1" dirty="0">
                <a:solidFill>
                  <a:schemeClr val="bg1"/>
                </a:solidFill>
              </a:rPr>
              <a:t>T</a:t>
            </a:r>
            <a:endParaRPr lang="en-US" sz="3600" dirty="0"/>
          </a:p>
        </p:txBody>
      </p:sp>
      <p:sp>
        <p:nvSpPr>
          <p:cNvPr id="14" name="Text 12"/>
          <p:cNvSpPr txBox="1"/>
          <p:nvPr/>
        </p:nvSpPr>
        <p:spPr>
          <a:xfrm>
            <a:off x="1737360" y="2651760"/>
            <a:ext cx="2743200" cy="1051560"/>
          </a:xfrm>
          <a:prstGeom prst="rect">
            <a:avLst/>
          </a:prstGeom>
          <a:noFill/>
          <a:ln/>
        </p:spPr>
        <p:txBody>
          <a:bodyPr wrap="square" lIns="0" tIns="0" rIns="0" bIns="0" rtlCol="0" anchor="ctr"/>
          <a:lstStyle/>
          <a:p>
            <a:pPr indent="0" marL="0">
              <a:buNone/>
            </a:pPr>
            <a:r>
              <a:rPr lang="en-US" sz="2000" b="1" dirty="0">
                <a:solidFill>
                  <a:schemeClr val="tx2"/>
                </a:solidFill>
              </a:rPr>
              <a:t>Tâche</a:t>
            </a:r>
            <a:endParaRPr lang="en-US" sz="2000" dirty="0"/>
          </a:p>
          <a:p>
            <a:pPr indent="0" marL="0">
              <a:buNone/>
            </a:pPr>
            <a:r>
              <a:rPr lang="en-US" sz="2000" dirty="0">
                <a:solidFill>
                  <a:schemeClr val="accent5"/>
                </a:solidFill>
              </a:rPr>
              <a:t>Que devais-je faire ?</a:t>
            </a:r>
            <a:endParaRPr lang="en-US" sz="2000" dirty="0"/>
          </a:p>
        </p:txBody>
      </p:sp>
      <p:sp>
        <p:nvSpPr>
          <p:cNvPr id="15" name="Text 13"/>
          <p:cNvSpPr txBox="1"/>
          <p:nvPr/>
        </p:nvSpPr>
        <p:spPr>
          <a:xfrm>
            <a:off x="4663440" y="2651760"/>
            <a:ext cx="6705295" cy="1051560"/>
          </a:xfrm>
          <a:prstGeom prst="rect">
            <a:avLst/>
          </a:prstGeom>
          <a:noFill/>
          <a:ln/>
        </p:spPr>
        <p:txBody>
          <a:bodyPr wrap="square" lIns="0" tIns="0" rIns="0" bIns="0" rtlCol="0" anchor="ctr"/>
          <a:lstStyle/>
          <a:p>
            <a:pPr indent="0" marL="0">
              <a:buNone/>
            </a:pPr>
            <a:r>
              <a:rPr lang="en-US" sz="2000" i="1" dirty="0">
                <a:solidFill>
                  <a:schemeClr val="tx1"/>
                </a:solidFill>
              </a:rPr>
              <a:t>Je devais les remettre en ordre avant la fin du mois.</a:t>
            </a:r>
            <a:endParaRPr lang="en-US" sz="2000" dirty="0"/>
          </a:p>
        </p:txBody>
      </p:sp>
      <p:sp>
        <p:nvSpPr>
          <p:cNvPr id="16" name="Carte"/>
          <p:cNvSpPr/>
          <p:nvPr/>
        </p:nvSpPr>
        <p:spPr>
          <a:xfrm>
            <a:off x="548640" y="3840480"/>
            <a:ext cx="11094415" cy="1051560"/>
          </a:xfrm>
          <a:prstGeom prst="roundRect">
            <a:avLst>
              <a:gd name="adj" fmla="val 10435"/>
            </a:avLst>
          </a:prstGeom>
          <a:solidFill>
            <a:schemeClr val="bg2"/>
          </a:solidFill>
          <a:ln w="12700">
            <a:solidFill>
              <a:schemeClr val="bg2"/>
            </a:solidFill>
            <a:prstDash val="solid"/>
          </a:ln>
        </p:spPr>
      </p:sp>
      <p:sp>
        <p:nvSpPr>
          <p:cNvPr id="17" name="Lettre A"/>
          <p:cNvSpPr/>
          <p:nvPr/>
        </p:nvSpPr>
        <p:spPr>
          <a:xfrm>
            <a:off x="731520" y="3977640"/>
            <a:ext cx="777240" cy="777240"/>
          </a:xfrm>
          <a:prstGeom prst="roundRect">
            <a:avLst>
              <a:gd name="adj" fmla="val 14118"/>
            </a:avLst>
          </a:prstGeom>
          <a:solidFill>
            <a:schemeClr val="accent1"/>
          </a:solidFill>
          <a:ln w="12700">
            <a:solidFill>
              <a:schemeClr val="accent1"/>
            </a:solidFill>
            <a:prstDash val="solid"/>
          </a:ln>
        </p:spPr>
      </p:sp>
      <p:sp>
        <p:nvSpPr>
          <p:cNvPr id="18" name="Text 16"/>
          <p:cNvSpPr txBox="1"/>
          <p:nvPr/>
        </p:nvSpPr>
        <p:spPr>
          <a:xfrm>
            <a:off x="731520" y="3977640"/>
            <a:ext cx="777240" cy="777240"/>
          </a:xfrm>
          <a:prstGeom prst="rect">
            <a:avLst/>
          </a:prstGeom>
          <a:noFill/>
          <a:ln/>
        </p:spPr>
        <p:txBody>
          <a:bodyPr wrap="square" lIns="0" tIns="0" rIns="0" bIns="0" rtlCol="0" anchor="ctr"/>
          <a:lstStyle/>
          <a:p>
            <a:pPr algn="ctr" indent="0" marL="0">
              <a:buNone/>
            </a:pPr>
            <a:r>
              <a:rPr lang="en-US" sz="3600" b="1" dirty="0">
                <a:solidFill>
                  <a:schemeClr val="bg1"/>
                </a:solidFill>
              </a:rPr>
              <a:t>A</a:t>
            </a:r>
            <a:endParaRPr lang="en-US" sz="3600" dirty="0"/>
          </a:p>
        </p:txBody>
      </p:sp>
      <p:sp>
        <p:nvSpPr>
          <p:cNvPr id="19" name="Text 17"/>
          <p:cNvSpPr txBox="1"/>
          <p:nvPr/>
        </p:nvSpPr>
        <p:spPr>
          <a:xfrm>
            <a:off x="1737360" y="3840480"/>
            <a:ext cx="2743200" cy="1051560"/>
          </a:xfrm>
          <a:prstGeom prst="rect">
            <a:avLst/>
          </a:prstGeom>
          <a:noFill/>
          <a:ln/>
        </p:spPr>
        <p:txBody>
          <a:bodyPr wrap="square" lIns="0" tIns="0" rIns="0" bIns="0" rtlCol="0" anchor="ctr"/>
          <a:lstStyle/>
          <a:p>
            <a:pPr indent="0" marL="0">
              <a:buNone/>
            </a:pPr>
            <a:r>
              <a:rPr lang="en-US" sz="2000" b="1" dirty="0">
                <a:solidFill>
                  <a:schemeClr val="tx2"/>
                </a:solidFill>
              </a:rPr>
              <a:t>Action</a:t>
            </a:r>
            <a:endParaRPr lang="en-US" sz="2000" dirty="0"/>
          </a:p>
          <a:p>
            <a:pPr indent="0" marL="0">
              <a:buNone/>
            </a:pPr>
            <a:r>
              <a:rPr lang="en-US" sz="2000" dirty="0">
                <a:solidFill>
                  <a:schemeClr val="accent5"/>
                </a:solidFill>
              </a:rPr>
              <a:t>Qu’ai-je fait, moi ?</a:t>
            </a:r>
            <a:endParaRPr lang="en-US" sz="2000" dirty="0"/>
          </a:p>
        </p:txBody>
      </p:sp>
      <p:sp>
        <p:nvSpPr>
          <p:cNvPr id="20" name="Text 18"/>
          <p:cNvSpPr txBox="1"/>
          <p:nvPr/>
        </p:nvSpPr>
        <p:spPr>
          <a:xfrm>
            <a:off x="4663440" y="3840480"/>
            <a:ext cx="6705295" cy="1051560"/>
          </a:xfrm>
          <a:prstGeom prst="rect">
            <a:avLst/>
          </a:prstGeom>
          <a:noFill/>
          <a:ln/>
        </p:spPr>
        <p:txBody>
          <a:bodyPr wrap="square" lIns="0" tIns="0" rIns="0" bIns="0" rtlCol="0" anchor="ctr"/>
          <a:lstStyle/>
          <a:p>
            <a:pPr indent="0" marL="0">
              <a:buNone/>
            </a:pPr>
            <a:r>
              <a:rPr lang="en-US" sz="2000" i="1" dirty="0">
                <a:solidFill>
                  <a:schemeClr val="tx1"/>
                </a:solidFill>
              </a:rPr>
              <a:t>J’ai classé par nom et par année, et j’ai fait une liste.</a:t>
            </a:r>
            <a:endParaRPr lang="en-US" sz="2000" dirty="0"/>
          </a:p>
        </p:txBody>
      </p:sp>
      <p:sp>
        <p:nvSpPr>
          <p:cNvPr id="21" name="Carte"/>
          <p:cNvSpPr/>
          <p:nvPr/>
        </p:nvSpPr>
        <p:spPr>
          <a:xfrm>
            <a:off x="548640" y="5029200"/>
            <a:ext cx="11094415" cy="1051560"/>
          </a:xfrm>
          <a:prstGeom prst="roundRect">
            <a:avLst>
              <a:gd name="adj" fmla="val 10435"/>
            </a:avLst>
          </a:prstGeom>
          <a:solidFill>
            <a:schemeClr val="bg2"/>
          </a:solidFill>
          <a:ln w="12700">
            <a:solidFill>
              <a:schemeClr val="bg2"/>
            </a:solidFill>
            <a:prstDash val="solid"/>
          </a:ln>
        </p:spPr>
      </p:sp>
      <p:sp>
        <p:nvSpPr>
          <p:cNvPr id="22" name="Lettre R"/>
          <p:cNvSpPr/>
          <p:nvPr/>
        </p:nvSpPr>
        <p:spPr>
          <a:xfrm>
            <a:off x="731520" y="5166360"/>
            <a:ext cx="777240" cy="777240"/>
          </a:xfrm>
          <a:prstGeom prst="roundRect">
            <a:avLst>
              <a:gd name="adj" fmla="val 14118"/>
            </a:avLst>
          </a:prstGeom>
          <a:solidFill>
            <a:schemeClr val="accent1"/>
          </a:solidFill>
          <a:ln w="12700">
            <a:solidFill>
              <a:schemeClr val="accent1"/>
            </a:solidFill>
            <a:prstDash val="solid"/>
          </a:ln>
        </p:spPr>
      </p:sp>
      <p:sp>
        <p:nvSpPr>
          <p:cNvPr id="23" name="Text 21"/>
          <p:cNvSpPr txBox="1"/>
          <p:nvPr/>
        </p:nvSpPr>
        <p:spPr>
          <a:xfrm>
            <a:off x="731520" y="5166360"/>
            <a:ext cx="777240" cy="777240"/>
          </a:xfrm>
          <a:prstGeom prst="rect">
            <a:avLst/>
          </a:prstGeom>
          <a:noFill/>
          <a:ln/>
        </p:spPr>
        <p:txBody>
          <a:bodyPr wrap="square" lIns="0" tIns="0" rIns="0" bIns="0" rtlCol="0" anchor="ctr"/>
          <a:lstStyle/>
          <a:p>
            <a:pPr algn="ctr" indent="0" marL="0">
              <a:buNone/>
            </a:pPr>
            <a:r>
              <a:rPr lang="en-US" sz="3600" b="1" dirty="0">
                <a:solidFill>
                  <a:schemeClr val="bg1"/>
                </a:solidFill>
              </a:rPr>
              <a:t>R</a:t>
            </a:r>
            <a:endParaRPr lang="en-US" sz="3600" dirty="0"/>
          </a:p>
        </p:txBody>
      </p:sp>
      <p:sp>
        <p:nvSpPr>
          <p:cNvPr id="24" name="Text 22"/>
          <p:cNvSpPr txBox="1"/>
          <p:nvPr/>
        </p:nvSpPr>
        <p:spPr>
          <a:xfrm>
            <a:off x="1737360" y="5029200"/>
            <a:ext cx="2743200" cy="1051560"/>
          </a:xfrm>
          <a:prstGeom prst="rect">
            <a:avLst/>
          </a:prstGeom>
          <a:noFill/>
          <a:ln/>
        </p:spPr>
        <p:txBody>
          <a:bodyPr wrap="square" lIns="0" tIns="0" rIns="0" bIns="0" rtlCol="0" anchor="ctr"/>
          <a:lstStyle/>
          <a:p>
            <a:pPr indent="0" marL="0">
              <a:buNone/>
            </a:pPr>
            <a:r>
              <a:rPr lang="en-US" sz="2000" b="1" dirty="0">
                <a:solidFill>
                  <a:schemeClr val="tx2"/>
                </a:solidFill>
              </a:rPr>
              <a:t>Résultat</a:t>
            </a:r>
            <a:endParaRPr lang="en-US" sz="2000" dirty="0"/>
          </a:p>
          <a:p>
            <a:pPr indent="0" marL="0">
              <a:buNone/>
            </a:pPr>
            <a:r>
              <a:rPr lang="en-US" sz="2000" dirty="0">
                <a:solidFill>
                  <a:schemeClr val="accent5"/>
                </a:solidFill>
              </a:rPr>
              <a:t>Qu’est-ce qui a changé ?</a:t>
            </a:r>
            <a:endParaRPr lang="en-US" sz="2000" dirty="0"/>
          </a:p>
        </p:txBody>
      </p:sp>
      <p:sp>
        <p:nvSpPr>
          <p:cNvPr id="25" name="Text 23"/>
          <p:cNvSpPr txBox="1"/>
          <p:nvPr/>
        </p:nvSpPr>
        <p:spPr>
          <a:xfrm>
            <a:off x="4663440" y="5029200"/>
            <a:ext cx="6705295" cy="1051560"/>
          </a:xfrm>
          <a:prstGeom prst="rect">
            <a:avLst/>
          </a:prstGeom>
          <a:noFill/>
          <a:ln/>
        </p:spPr>
        <p:txBody>
          <a:bodyPr wrap="square" lIns="0" tIns="0" rIns="0" bIns="0" rtlCol="0" anchor="ctr"/>
          <a:lstStyle/>
          <a:p>
            <a:pPr indent="0" marL="0">
              <a:buNone/>
            </a:pPr>
            <a:r>
              <a:rPr lang="en-US" sz="2000" i="1" dirty="0">
                <a:solidFill>
                  <a:schemeClr val="tx1"/>
                </a:solidFill>
              </a:rPr>
              <a:t>L’équipe retrouvait un dossier en 1 minute au lieu de 10.</a:t>
            </a:r>
            <a:endParaRPr lang="en-US" sz="2000" dirty="0"/>
          </a:p>
        </p:txBody>
      </p:sp>
      <p:sp>
        <p:nvSpPr>
          <p:cNvPr id="26" name="Text 24"/>
          <p:cNvSpPr txBox="1"/>
          <p:nvPr/>
        </p:nvSpPr>
        <p:spPr>
          <a:xfrm>
            <a:off x="548640" y="6126480"/>
            <a:ext cx="11094415" cy="228600"/>
          </a:xfrm>
          <a:prstGeom prst="rect">
            <a:avLst/>
          </a:prstGeom>
          <a:noFill/>
          <a:ln/>
        </p:spPr>
        <p:txBody>
          <a:bodyPr wrap="square" lIns="0" tIns="0" rIns="0" bIns="0" rtlCol="0" anchor="ctr"/>
          <a:lstStyle/>
          <a:p>
            <a:pPr indent="0" marL="0">
              <a:buNone/>
            </a:pPr>
            <a:r>
              <a:rPr lang="en-US" sz="1200" dirty="0">
                <a:solidFill>
                  <a:schemeClr val="accent5"/>
                </a:solidFill>
              </a:rPr>
              <a:t>Exemple fictif : le stage de Prisca (personnage inventé).</a:t>
            </a:r>
            <a:endParaRPr lang="en-US" sz="12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 lance la simulation</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Ouvrez Claude.</a:t>
            </a:r>
            <a:endParaRPr lang="en-US" sz="2400" dirty="0"/>
          </a:p>
          <a:p>
            <a:pPr marL="342900" indent="-342900">
              <a:spcAft>
                <a:spcPts val="1000"/>
              </a:spcAft>
              <a:buSzPct val="100000"/>
              <a:buFont typeface="+mj-lt"/>
              <a:buAutoNum type="arabicPeriod" startAt="1"/>
            </a:pPr>
            <a:r>
              <a:rPr lang="en-US" sz="2400" dirty="0">
                <a:solidFill>
                  <a:schemeClr val="tx1"/>
                </a:solidFill>
              </a:rPr>
              <a:t>Copiez la Consigne 13 et remplacez les [crochets].</a:t>
            </a:r>
            <a:endParaRPr lang="en-US" sz="2400" dirty="0"/>
          </a:p>
          <a:p>
            <a:pPr marL="342900" indent="-342900">
              <a:spcAft>
                <a:spcPts val="1000"/>
              </a:spcAft>
              <a:buSzPct val="100000"/>
              <a:buFont typeface="+mj-lt"/>
              <a:buAutoNum type="arabicPeriod" startAt="1"/>
            </a:pPr>
            <a:r>
              <a:rPr lang="en-US" sz="2400" dirty="0">
                <a:solidFill>
                  <a:schemeClr val="tx1"/>
                </a:solidFill>
              </a:rPr>
              <a:t>Envoyez. Claude pose la première question.</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omments">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13"/>
          <p:cNvSpPr/>
          <p:nvPr/>
        </p:nvSpPr>
        <p:spPr>
          <a:xfrm>
            <a:off x="548640" y="3383280"/>
            <a:ext cx="11094415" cy="1728216"/>
          </a:xfrm>
          <a:prstGeom prst="roundRect">
            <a:avLst>
              <a:gd name="adj" fmla="val 5291"/>
            </a:avLst>
          </a:prstGeom>
          <a:solidFill>
            <a:schemeClr val="bg2"/>
          </a:solidFill>
          <a:ln w="19050">
            <a:solidFill>
              <a:schemeClr val="accent1"/>
            </a:solidFill>
            <a:prstDash val="solid"/>
          </a:ln>
        </p:spPr>
      </p:sp>
      <p:sp>
        <p:nvSpPr>
          <p:cNvPr id="10" name="Titre consigne 13"/>
          <p:cNvSpPr/>
          <p:nvPr/>
        </p:nvSpPr>
        <p:spPr>
          <a:xfrm>
            <a:off x="548640" y="3383280"/>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383280"/>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13   Simuler mon entretien  ·  Claude</a:t>
            </a:r>
            <a:endParaRPr lang="en-US" sz="1500" dirty="0"/>
          </a:p>
        </p:txBody>
      </p:sp>
      <p:sp>
        <p:nvSpPr>
          <p:cNvPr id="12" name="Text 9"/>
          <p:cNvSpPr txBox="1"/>
          <p:nvPr/>
        </p:nvSpPr>
        <p:spPr>
          <a:xfrm>
            <a:off x="777240" y="3840480"/>
            <a:ext cx="10637215" cy="1252728"/>
          </a:xfrm>
          <a:prstGeom prst="rect">
            <a:avLst/>
          </a:prstGeom>
          <a:noFill/>
          <a:ln/>
        </p:spPr>
        <p:txBody>
          <a:bodyPr wrap="square" lIns="0" tIns="0" rIns="0" bIns="0" rtlCol="0" anchor="t"/>
          <a:lstStyle/>
          <a:p>
            <a:pPr indent="0" marL="0">
              <a:buNone/>
            </a:pPr>
            <a:r>
              <a:rPr lang="en-US" sz="1800" dirty="0">
                <a:solidFill>
                  <a:schemeClr val="tx1"/>
                </a:solidFill>
              </a:rPr>
              <a:t>Tu es recruteur pour le poste de </a:t>
            </a:r>
            <a:pPr indent="0" marL="0">
              <a:buNone/>
            </a:pPr>
            <a:r>
              <a:rPr lang="en-US" sz="1800" b="1" dirty="0">
                <a:solidFill>
                  <a:schemeClr val="accent1"/>
                </a:solidFill>
              </a:rPr>
              <a:t>[poste visé]</a:t>
            </a:r>
            <a:pPr indent="0" marL="0">
              <a:buNone/>
            </a:pPr>
            <a:r>
              <a:rPr lang="en-US" sz="1800" dirty="0">
                <a:solidFill>
                  <a:schemeClr val="tx1"/>
                </a:solidFill>
              </a:rPr>
              <a:t> dans </a:t>
            </a:r>
            <a:pPr indent="0" marL="0">
              <a:buNone/>
            </a:pPr>
            <a:r>
              <a:rPr lang="en-US" sz="1800" b="1" dirty="0">
                <a:solidFill>
                  <a:schemeClr val="accent1"/>
                </a:solidFill>
              </a:rPr>
              <a:t>[type d’entreprise]</a:t>
            </a:r>
            <a:pPr indent="0" marL="0">
              <a:buNone/>
            </a:pPr>
            <a:r>
              <a:rPr lang="en-US" sz="1800" dirty="0">
                <a:solidFill>
                  <a:schemeClr val="tx1"/>
                </a:solidFill>
              </a:rPr>
              <a:t>. Fais-moi passer un entretien : pose UNE seule question à la fois, attends ma réponse, puis donne-moi un retour court (1 point fort, 1 point à améliorer) avant la question suivante. 5 questions en tout. Commence.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réponds aux 5 questions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12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Répondez en 4 à 5 phrases, avec la méthode STAR quand c’est possible.</a:t>
            </a:r>
            <a:endParaRPr lang="en-US" sz="2400" dirty="0"/>
          </a:p>
          <a:p>
            <a:pPr marL="342900" indent="-342900">
              <a:spcAft>
                <a:spcPts val="1000"/>
              </a:spcAft>
              <a:buSzPct val="100000"/>
              <a:buFont typeface="+mj-lt"/>
              <a:buAutoNum type="arabicPeriod" startAt="1"/>
            </a:pPr>
            <a:r>
              <a:rPr lang="en-US" sz="2400" dirty="0">
                <a:solidFill>
                  <a:schemeClr val="tx1"/>
                </a:solidFill>
              </a:rPr>
              <a:t>Lisez le retour de Claude après chaque réponse.</a:t>
            </a:r>
            <a:endParaRPr lang="en-US" sz="2400" dirty="0"/>
          </a:p>
          <a:p>
            <a:pPr marL="342900" indent="-342900">
              <a:spcAft>
                <a:spcPts val="1000"/>
              </a:spcAft>
              <a:buSzPct val="100000"/>
              <a:buFont typeface="+mj-lt"/>
              <a:buAutoNum type="arabicPeriod" startAt="1"/>
            </a:pPr>
            <a:r>
              <a:rPr lang="en-US" sz="2400" dirty="0">
                <a:solidFill>
                  <a:schemeClr val="tx1"/>
                </a:solidFill>
              </a:rPr>
              <a:t>Améliorez une de vos réponses.</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omments">    </p:cNvPr>
          <p:cNvPicPr>
            <a:picLocks noChangeAspect="1"/>
          </p:cNvPicPr>
          <p:nvPr/>
        </p:nvPicPr>
        <p:blipFill>
          <a:blip r:embed="rId1"/>
          <a:stretch>
            <a:fillRect/>
          </a:stretch>
        </p:blipFill>
        <p:spPr>
          <a:xfrm>
            <a:off x="10392156" y="1903781"/>
            <a:ext cx="855878" cy="855878"/>
          </a:xfrm>
          <a:prstGeom prst="rect">
            <a:avLst/>
          </a:prstGeom>
        </p:spPr>
      </p:pic>
      <p:sp>
        <p:nvSpPr>
          <p:cNvPr id="9" name="Attention"/>
          <p:cNvSpPr/>
          <p:nvPr/>
        </p:nvSpPr>
        <p:spPr>
          <a:xfrm>
            <a:off x="548640" y="3608832"/>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0" name="Image 1" descr="Attention">    </p:cNvPr>
          <p:cNvPicPr>
            <a:picLocks noChangeAspect="1"/>
          </p:cNvPicPr>
          <p:nvPr/>
        </p:nvPicPr>
        <p:blipFill>
          <a:blip r:embed="rId2"/>
          <a:stretch>
            <a:fillRect/>
          </a:stretch>
        </p:blipFill>
        <p:spPr>
          <a:xfrm>
            <a:off x="777240" y="3842004"/>
            <a:ext cx="411480" cy="411480"/>
          </a:xfrm>
          <a:prstGeom prst="rect">
            <a:avLst/>
          </a:prstGeom>
        </p:spPr>
      </p:pic>
      <p:sp>
        <p:nvSpPr>
          <p:cNvPr id="11" name="Text 7"/>
          <p:cNvSpPr txBox="1"/>
          <p:nvPr/>
        </p:nvSpPr>
        <p:spPr>
          <a:xfrm>
            <a:off x="1417320" y="3608832"/>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Répondez avec des faits vrais. Ne donnez aucune information confidentielle sur un ancien employeur.</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Mon bilan</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Copiez la Consigne 14.</a:t>
            </a:r>
            <a:endParaRPr lang="en-US" sz="2400" dirty="0"/>
          </a:p>
          <a:p>
            <a:pPr marL="342900" indent="-342900">
              <a:spcAft>
                <a:spcPts val="1000"/>
              </a:spcAft>
              <a:buSzPct val="100000"/>
              <a:buFont typeface="+mj-lt"/>
              <a:buAutoNum type="arabicPeriod" startAt="1"/>
            </a:pPr>
            <a:r>
              <a:rPr lang="en-US" sz="2400" dirty="0">
                <a:solidFill>
                  <a:schemeClr val="tx1"/>
                </a:solidFill>
              </a:rPr>
              <a:t>Dans un fichier Word ou Google Docs, écrivez : 2 points forts, 2 points à améliorer, 1 réponse réécrite.</a:t>
            </a:r>
            <a:endParaRPr lang="en-US" sz="2400" dirty="0"/>
          </a:p>
          <a:p>
            <a:pPr marL="342900" indent="-342900">
              <a:spcAft>
                <a:spcPts val="1000"/>
              </a:spcAft>
              <a:buSzPct val="100000"/>
              <a:buFont typeface="+mj-lt"/>
              <a:buAutoNum type="arabicPeriod" startAt="1"/>
            </a:pPr>
            <a:r>
              <a:rPr lang="en-US" sz="2400" dirty="0">
                <a:solidFill>
                  <a:schemeClr val="tx1"/>
                </a:solidFill>
              </a:rPr>
              <a:t>Relisez la réponse réécrite : tout est-il vrai ?</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omments">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14"/>
          <p:cNvSpPr/>
          <p:nvPr/>
        </p:nvSpPr>
        <p:spPr>
          <a:xfrm>
            <a:off x="548640" y="3608832"/>
            <a:ext cx="11094415" cy="1170432"/>
          </a:xfrm>
          <a:prstGeom prst="roundRect">
            <a:avLst>
              <a:gd name="adj" fmla="val 7813"/>
            </a:avLst>
          </a:prstGeom>
          <a:solidFill>
            <a:schemeClr val="bg2"/>
          </a:solidFill>
          <a:ln w="19050">
            <a:solidFill>
              <a:schemeClr val="accent1"/>
            </a:solidFill>
            <a:prstDash val="solid"/>
          </a:ln>
        </p:spPr>
      </p:sp>
      <p:sp>
        <p:nvSpPr>
          <p:cNvPr id="10" name="Titre consigne 14"/>
          <p:cNvSpPr/>
          <p:nvPr/>
        </p:nvSpPr>
        <p:spPr>
          <a:xfrm>
            <a:off x="548640" y="3608832"/>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608832"/>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14   Le bilan de mon entretien  ·  Claude</a:t>
            </a:r>
            <a:endParaRPr lang="en-US" sz="1500" dirty="0"/>
          </a:p>
        </p:txBody>
      </p:sp>
      <p:sp>
        <p:nvSpPr>
          <p:cNvPr id="12" name="Text 9"/>
          <p:cNvSpPr txBox="1"/>
          <p:nvPr/>
        </p:nvSpPr>
        <p:spPr>
          <a:xfrm>
            <a:off x="777240" y="4066032"/>
            <a:ext cx="10637215" cy="694944"/>
          </a:xfrm>
          <a:prstGeom prst="rect">
            <a:avLst/>
          </a:prstGeom>
          <a:noFill/>
          <a:ln/>
        </p:spPr>
        <p:txBody>
          <a:bodyPr wrap="square" lIns="0" tIns="0" rIns="0" bIns="0" rtlCol="0" anchor="t"/>
          <a:lstStyle/>
          <a:p>
            <a:pPr indent="0" marL="0">
              <a:buNone/>
            </a:pPr>
            <a:r>
              <a:rPr lang="en-US" sz="1800" dirty="0">
                <a:solidFill>
                  <a:schemeClr val="tx1"/>
                </a:solidFill>
              </a:rPr>
              <a:t>Fais le bilan de mon entretien : mes 2 points forts, mes 2 points à améliorer. Puis réécris ma réponse la plus faible en 4 phrases, en gardant seulement les faits que j’ai donnés.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5 — Je m’entraîne à voix haute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4630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Avec votre voisin : chacun lit une question et répond à voix haute en 30 secondes.</a:t>
            </a:r>
            <a:endParaRPr lang="en-US" sz="2400" dirty="0"/>
          </a:p>
          <a:p>
            <a:pPr marL="342900" indent="-342900">
              <a:spcAft>
                <a:spcPts val="1000"/>
              </a:spcAft>
              <a:buSzPct val="100000"/>
              <a:buFont typeface="+mj-lt"/>
              <a:buAutoNum type="arabicPeriod" startAt="1"/>
            </a:pPr>
            <a:r>
              <a:rPr lang="en-US" sz="2400" dirty="0">
                <a:solidFill>
                  <a:schemeClr val="tx1"/>
                </a:solidFill>
              </a:rPr>
              <a:t>Enregistrez : 5_Bilan_entretien_NOM.</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omments">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répondu à 5 questions.</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utilisé STAR pour au moins 2 réponses.</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écrit 2 points forts et 2 points à améliorer.</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réécrit une réponse avec des faits vrais seulement.</a:t>
            </a:r>
            <a:endParaRPr lang="en-US" sz="1800" dirty="0"/>
          </a:p>
        </p:txBody>
      </p:sp>
      <p:sp>
        <p:nvSpPr>
          <p:cNvPr id="20" name="Carte"/>
          <p:cNvSpPr/>
          <p:nvPr/>
        </p:nvSpPr>
        <p:spPr>
          <a:xfrm>
            <a:off x="548640" y="4462272"/>
            <a:ext cx="11094415"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4553712"/>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4663440"/>
            <a:ext cx="237744" cy="237744"/>
          </a:xfrm>
          <a:prstGeom prst="rect">
            <a:avLst/>
          </a:prstGeom>
        </p:spPr>
      </p:pic>
      <p:sp>
        <p:nvSpPr>
          <p:cNvPr id="23" name="Text 16"/>
          <p:cNvSpPr txBox="1"/>
          <p:nvPr/>
        </p:nvSpPr>
        <p:spPr>
          <a:xfrm>
            <a:off x="1371600" y="4462272"/>
            <a:ext cx="10088575" cy="640080"/>
          </a:xfrm>
          <a:prstGeom prst="rect">
            <a:avLst/>
          </a:prstGeom>
          <a:noFill/>
          <a:ln/>
        </p:spPr>
        <p:txBody>
          <a:bodyPr wrap="square" lIns="0" tIns="0" rIns="0" bIns="0" rtlCol="0" anchor="ctr"/>
          <a:lstStyle/>
          <a:p>
            <a:pPr indent="0" marL="0">
              <a:buNone/>
            </a:pPr>
            <a:r>
              <a:rPr lang="en-US" sz="1800" dirty="0">
                <a:solidFill>
                  <a:schemeClr val="tx1"/>
                </a:solidFill>
              </a:rPr>
              <a:t>Mon fichier est enregistré avec le bon nom.</a:t>
            </a:r>
            <a:endParaRPr lang="en-US" sz="1800" dirty="0"/>
          </a:p>
        </p:txBody>
      </p:sp>
      <p:sp>
        <p:nvSpPr>
          <p:cNvPr id="24"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5" name="Text 18"/>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3 questions, un bilan de 4 lignes.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6 · TP5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Le recruteur IA m’interroge sur le poste visé.</a:t>
            </a:r>
            <a:endParaRPr lang="en-US" sz="18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Je simule un client. Questions : « Présentez votre activité en 30 secondes », « Pourquoi vous plutôt qu’un concurrent ? », « C’est trop cher, que répondez-vous ? »</a:t>
            </a:r>
            <a:endParaRPr lang="en-US" sz="18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Demandez à Claude de poser les mêmes questions en commençant par la plus difficile.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7</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7 · TP6</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Apprendre un métier ou une compétence</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20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6_Plan30jours_NOM</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Construire avec l’IA un plan d’apprentissage de 30 jours pour une compétence utile à mon projet.</a:t>
            </a:r>
            <a:endParaRPr lang="en-US" sz="2000" dirty="0"/>
          </a:p>
        </p:txBody>
      </p:sp>
      <p:pic>
        <p:nvPicPr>
          <p:cNvPr id="9" name="Image 0" descr="Apprendre un métier ou une compétence">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7 · TP6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Je compare l’offre et moi</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2334768"/>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Copiez la Consigne 15. Collez l’offre et la liste de vos compétences.</a:t>
            </a:r>
            <a:endParaRPr lang="en-US" sz="2400" dirty="0"/>
          </a:p>
          <a:p>
            <a:pPr marL="342900" indent="-342900">
              <a:spcAft>
                <a:spcPts val="1000"/>
              </a:spcAft>
              <a:buSzPct val="100000"/>
              <a:buFont typeface="+mj-lt"/>
              <a:buAutoNum type="arabicPeriod" startAt="1"/>
            </a:pPr>
            <a:r>
              <a:rPr lang="en-US" sz="2400" dirty="0">
                <a:solidFill>
                  <a:schemeClr val="tx1"/>
                </a:solidFill>
              </a:rPr>
              <a:t>Lisez les 3 compétences qui vous manquent.</a:t>
            </a:r>
            <a:endParaRPr lang="en-US" sz="2400" dirty="0"/>
          </a:p>
          <a:p>
            <a:pPr marL="342900" indent="-342900">
              <a:spcAft>
                <a:spcPts val="1000"/>
              </a:spcAft>
              <a:buSzPct val="100000"/>
              <a:buFont typeface="+mj-lt"/>
              <a:buAutoNum type="arabicPeriod" startAt="1"/>
            </a:pPr>
            <a:r>
              <a:rPr lang="en-US" sz="2400" dirty="0">
                <a:solidFill>
                  <a:schemeClr val="tx1"/>
                </a:solidFill>
              </a:rPr>
              <a:t>Choisissez UNE compétence : la plus utile et la plus réaliste.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Route">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15"/>
          <p:cNvSpPr/>
          <p:nvPr/>
        </p:nvSpPr>
        <p:spPr>
          <a:xfrm>
            <a:off x="548640" y="3980688"/>
            <a:ext cx="11094415" cy="1449324"/>
          </a:xfrm>
          <a:prstGeom prst="roundRect">
            <a:avLst>
              <a:gd name="adj" fmla="val 6309"/>
            </a:avLst>
          </a:prstGeom>
          <a:solidFill>
            <a:schemeClr val="bg2"/>
          </a:solidFill>
          <a:ln w="19050">
            <a:solidFill>
              <a:schemeClr val="accent1"/>
            </a:solidFill>
            <a:prstDash val="solid"/>
          </a:ln>
        </p:spPr>
      </p:sp>
      <p:sp>
        <p:nvSpPr>
          <p:cNvPr id="10" name="Titre consigne 15"/>
          <p:cNvSpPr/>
          <p:nvPr/>
        </p:nvSpPr>
        <p:spPr>
          <a:xfrm>
            <a:off x="548640" y="3980688"/>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980688"/>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15   Les compétences qui me manquent  ·  Claude</a:t>
            </a:r>
            <a:endParaRPr lang="en-US" sz="1500" dirty="0"/>
          </a:p>
        </p:txBody>
      </p:sp>
      <p:sp>
        <p:nvSpPr>
          <p:cNvPr id="12" name="Text 9"/>
          <p:cNvSpPr txBox="1"/>
          <p:nvPr/>
        </p:nvSpPr>
        <p:spPr>
          <a:xfrm>
            <a:off x="777240" y="4437888"/>
            <a:ext cx="10637215" cy="973836"/>
          </a:xfrm>
          <a:prstGeom prst="rect">
            <a:avLst/>
          </a:prstGeom>
          <a:noFill/>
          <a:ln/>
        </p:spPr>
        <p:txBody>
          <a:bodyPr wrap="square" lIns="0" tIns="0" rIns="0" bIns="0" rtlCol="0" anchor="t"/>
          <a:lstStyle/>
          <a:p>
            <a:pPr indent="0" marL="0">
              <a:buNone/>
            </a:pPr>
            <a:r>
              <a:rPr lang="en-US" sz="1800" dirty="0">
                <a:solidFill>
                  <a:schemeClr val="tx1"/>
                </a:solidFill>
              </a:rPr>
              <a:t>Voici l’offre d’emploi : </a:t>
            </a:r>
            <a:pPr indent="0" marL="0">
              <a:buNone/>
            </a:pPr>
            <a:r>
              <a:rPr lang="en-US" sz="1800" b="1" dirty="0">
                <a:solidFill>
                  <a:schemeClr val="accent1"/>
                </a:solidFill>
              </a:rPr>
              <a:t>[coller l’offre]</a:t>
            </a:r>
            <a:pPr indent="0" marL="0">
              <a:buNone/>
            </a:pPr>
            <a:r>
              <a:rPr lang="en-US" sz="1800" dirty="0">
                <a:solidFill>
                  <a:schemeClr val="tx1"/>
                </a:solidFill>
              </a:rPr>
              <a:t>. Voici mes compétences : </a:t>
            </a:r>
            <a:pPr indent="0" marL="0">
              <a:buNone/>
            </a:pPr>
            <a:r>
              <a:rPr lang="en-US" sz="1800" b="1" dirty="0">
                <a:solidFill>
                  <a:schemeClr val="accent1"/>
                </a:solidFill>
              </a:rPr>
              <a:t>[ma liste]</a:t>
            </a:r>
            <a:pPr indent="0" marL="0">
              <a:buNone/>
            </a:pPr>
            <a:r>
              <a:rPr lang="en-US" sz="1800" dirty="0">
                <a:solidFill>
                  <a:schemeClr val="tx1"/>
                </a:solidFill>
              </a:rPr>
              <a:t>. Quelles sont les 3 compétences de l’offre qui me manquent ? Classe-les de la plus facile à la plus difficile à apprendre.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7 · TP6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 demande mon plan de 30 jours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6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Copiez la Consigne 16 et remplacez la [compétence].</a:t>
            </a:r>
            <a:endParaRPr lang="en-US" sz="2400" dirty="0"/>
          </a:p>
          <a:p>
            <a:pPr marL="342900" indent="-342900">
              <a:spcAft>
                <a:spcPts val="1000"/>
              </a:spcAft>
              <a:buSzPct val="100000"/>
              <a:buFont typeface="+mj-lt"/>
              <a:buAutoNum type="arabicPeriod" startAt="1"/>
            </a:pPr>
            <a:r>
              <a:rPr lang="en-US" sz="2400" dirty="0">
                <a:solidFill>
                  <a:schemeClr val="tx1"/>
                </a:solidFill>
              </a:rPr>
              <a:t>Lisez le tableau : 4 semaines, 30 minutes par jour.</a:t>
            </a:r>
            <a:endParaRPr lang="en-US" sz="2400" dirty="0"/>
          </a:p>
          <a:p>
            <a:pPr marL="342900" indent="-342900">
              <a:spcAft>
                <a:spcPts val="1000"/>
              </a:spcAft>
              <a:buSzPct val="100000"/>
              <a:buFont typeface="+mj-lt"/>
              <a:buAutoNum type="arabicPeriod" startAt="1"/>
            </a:pPr>
            <a:r>
              <a:rPr lang="en-US" sz="2400" dirty="0">
                <a:solidFill>
                  <a:schemeClr val="tx1"/>
                </a:solidFill>
              </a:rPr>
              <a:t>Retirez ce qui est trop difficile ou trop long.</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Route">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16"/>
          <p:cNvSpPr/>
          <p:nvPr/>
        </p:nvSpPr>
        <p:spPr>
          <a:xfrm>
            <a:off x="548640" y="3383280"/>
            <a:ext cx="11094415" cy="1728216"/>
          </a:xfrm>
          <a:prstGeom prst="roundRect">
            <a:avLst>
              <a:gd name="adj" fmla="val 5291"/>
            </a:avLst>
          </a:prstGeom>
          <a:solidFill>
            <a:schemeClr val="bg2"/>
          </a:solidFill>
          <a:ln w="19050">
            <a:solidFill>
              <a:schemeClr val="accent1"/>
            </a:solidFill>
            <a:prstDash val="solid"/>
          </a:ln>
        </p:spPr>
      </p:sp>
      <p:sp>
        <p:nvSpPr>
          <p:cNvPr id="10" name="Titre consigne 16"/>
          <p:cNvSpPr/>
          <p:nvPr/>
        </p:nvSpPr>
        <p:spPr>
          <a:xfrm>
            <a:off x="548640" y="3383280"/>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383280"/>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16   Mon plan de 30 jours  ·  Claude</a:t>
            </a:r>
            <a:endParaRPr lang="en-US" sz="1500" dirty="0"/>
          </a:p>
        </p:txBody>
      </p:sp>
      <p:sp>
        <p:nvSpPr>
          <p:cNvPr id="12" name="Text 9"/>
          <p:cNvSpPr txBox="1"/>
          <p:nvPr/>
        </p:nvSpPr>
        <p:spPr>
          <a:xfrm>
            <a:off x="777240" y="3840480"/>
            <a:ext cx="10637215" cy="1252728"/>
          </a:xfrm>
          <a:prstGeom prst="rect">
            <a:avLst/>
          </a:prstGeom>
          <a:noFill/>
          <a:ln/>
        </p:spPr>
        <p:txBody>
          <a:bodyPr wrap="square" lIns="0" tIns="0" rIns="0" bIns="0" rtlCol="0" anchor="t"/>
          <a:lstStyle/>
          <a:p>
            <a:pPr indent="0" marL="0">
              <a:buNone/>
            </a:pPr>
            <a:r>
              <a:rPr lang="en-US" sz="1800" dirty="0">
                <a:solidFill>
                  <a:schemeClr val="tx1"/>
                </a:solidFill>
              </a:rPr>
              <a:t>Je veux apprendre </a:t>
            </a:r>
            <a:pPr indent="0" marL="0">
              <a:buNone/>
            </a:pPr>
            <a:r>
              <a:rPr lang="en-US" sz="1800" b="1" dirty="0">
                <a:solidFill>
                  <a:schemeClr val="accent1"/>
                </a:solidFill>
              </a:rPr>
              <a:t>[compétence]</a:t>
            </a:r>
            <a:pPr indent="0" marL="0">
              <a:buNone/>
            </a:pPr>
            <a:r>
              <a:rPr lang="en-US" sz="1800" dirty="0">
                <a:solidFill>
                  <a:schemeClr val="tx1"/>
                </a:solidFill>
              </a:rPr>
              <a:t> en 30 jours, 30 minutes par jour, niveau débutant, avec une connexion internet limitée. Fais-moi un plan en 4 semaines sous forme de tableau : semaine / ce que j’apprends / ce que je fais / comment je vois mes progrès. Propose des ressources gratuites et dis-moi lesquelles je dois vérifier avant de m’y fier.</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7 · TP6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vérifie les ressources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Choisissez 2 ressources du plan (cours, vidéo, site).</a:t>
            </a:r>
            <a:endParaRPr lang="en-US" sz="2400" dirty="0"/>
          </a:p>
          <a:p>
            <a:pPr marL="342900" indent="-342900">
              <a:spcAft>
                <a:spcPts val="1000"/>
              </a:spcAft>
              <a:buSzPct val="100000"/>
              <a:buFont typeface="+mj-lt"/>
              <a:buAutoNum type="arabicPeriod" startAt="1"/>
            </a:pPr>
            <a:r>
              <a:rPr lang="en-US" sz="2400" dirty="0">
                <a:solidFill>
                  <a:schemeClr val="tx1"/>
                </a:solidFill>
              </a:rPr>
              <a:t>Ouvrez-les. Existent-elles ? Sont-elles gratuites ? En français ou dans une langue que vous comprenez ?</a:t>
            </a:r>
            <a:endParaRPr lang="en-US" sz="2400" dirty="0"/>
          </a:p>
          <a:p>
            <a:pPr marL="342900" indent="-342900">
              <a:spcAft>
                <a:spcPts val="1000"/>
              </a:spcAft>
              <a:buSzPct val="100000"/>
              <a:buFont typeface="+mj-lt"/>
              <a:buAutoNum type="arabicPeriod" startAt="1"/>
            </a:pPr>
            <a:r>
              <a:rPr lang="en-US" sz="2400" dirty="0">
                <a:solidFill>
                  <a:schemeClr val="tx1"/>
                </a:solidFill>
              </a:rPr>
              <a:t>Rayez les ressources que vous ne trouvez pas.</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Route">    </p:cNvPr>
          <p:cNvPicPr>
            <a:picLocks noChangeAspect="1"/>
          </p:cNvPicPr>
          <p:nvPr/>
        </p:nvPicPr>
        <p:blipFill>
          <a:blip r:embed="rId1"/>
          <a:stretch>
            <a:fillRect/>
          </a:stretch>
        </p:blipFill>
        <p:spPr>
          <a:xfrm>
            <a:off x="10392156" y="1903781"/>
            <a:ext cx="855878" cy="855878"/>
          </a:xfrm>
          <a:prstGeom prst="rect">
            <a:avLst/>
          </a:prstGeom>
        </p:spPr>
      </p:pic>
      <p:sp>
        <p:nvSpPr>
          <p:cNvPr id="9" name="Attention"/>
          <p:cNvSpPr/>
          <p:nvPr/>
        </p:nvSpPr>
        <p:spPr>
          <a:xfrm>
            <a:off x="548640" y="3608832"/>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0" name="Image 1" descr="Attention">    </p:cNvPr>
          <p:cNvPicPr>
            <a:picLocks noChangeAspect="1"/>
          </p:cNvPicPr>
          <p:nvPr/>
        </p:nvPicPr>
        <p:blipFill>
          <a:blip r:embed="rId2"/>
          <a:stretch>
            <a:fillRect/>
          </a:stretch>
        </p:blipFill>
        <p:spPr>
          <a:xfrm>
            <a:off x="777240" y="3842004"/>
            <a:ext cx="411480" cy="411480"/>
          </a:xfrm>
          <a:prstGeom prst="rect">
            <a:avLst/>
          </a:prstGeom>
        </p:spPr>
      </p:pic>
      <p:sp>
        <p:nvSpPr>
          <p:cNvPr id="11" name="Text 7"/>
          <p:cNvSpPr txBox="1"/>
          <p:nvPr/>
        </p:nvSpPr>
        <p:spPr>
          <a:xfrm>
            <a:off x="1417320" y="3608832"/>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L’IA peut inventer un cours, une chaîne ou un lien. Ce que vous ne pouvez pas ouvrir n’existe peut-être pas.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7 · TP6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Ma première action demain</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 min</a:t>
            </a:r>
            <a:endParaRPr lang="en-US" sz="1800" dirty="0"/>
          </a:p>
        </p:txBody>
      </p:sp>
      <p:sp>
        <p:nvSpPr>
          <p:cNvPr id="6" name="Text 4"/>
          <p:cNvSpPr txBox="1"/>
          <p:nvPr/>
        </p:nvSpPr>
        <p:spPr>
          <a:xfrm>
            <a:off x="548640" y="1463040"/>
            <a:ext cx="8991295" cy="146304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Écrivez : « Demain, à [heure], je vais [action de 30 minutes]. »</a:t>
            </a:r>
            <a:endParaRPr lang="en-US" sz="2400" dirty="0"/>
          </a:p>
          <a:p>
            <a:pPr marL="342900" indent="-342900">
              <a:spcAft>
                <a:spcPts val="1000"/>
              </a:spcAft>
              <a:buSzPct val="100000"/>
              <a:buFont typeface="+mj-lt"/>
              <a:buAutoNum type="arabicPeriod" startAt="1"/>
            </a:pPr>
            <a:r>
              <a:rPr lang="en-US" sz="2400" dirty="0">
                <a:solidFill>
                  <a:schemeClr val="tx1"/>
                </a:solidFill>
              </a:rPr>
              <a:t>Enregistrez votre plan : 6_Plan30jours_NOM.</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Route">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7 · TP6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Ma compétence vient de l’offre ou de mon projet.</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Mon plan a 4 semaines.</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ouvert et vérifié au moins 2 ressources.</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écrit ma première action de demain.</a:t>
            </a:r>
            <a:endParaRPr lang="en-US" sz="1800" dirty="0"/>
          </a:p>
        </p:txBody>
      </p:sp>
      <p:sp>
        <p:nvSpPr>
          <p:cNvPr id="20" name="Carte"/>
          <p:cNvSpPr/>
          <p:nvPr/>
        </p:nvSpPr>
        <p:spPr>
          <a:xfrm>
            <a:off x="548640" y="4462272"/>
            <a:ext cx="11094415"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4553712"/>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4663440"/>
            <a:ext cx="237744" cy="237744"/>
          </a:xfrm>
          <a:prstGeom prst="rect">
            <a:avLst/>
          </a:prstGeom>
        </p:spPr>
      </p:pic>
      <p:sp>
        <p:nvSpPr>
          <p:cNvPr id="23" name="Text 16"/>
          <p:cNvSpPr txBox="1"/>
          <p:nvPr/>
        </p:nvSpPr>
        <p:spPr>
          <a:xfrm>
            <a:off x="1371600" y="4462272"/>
            <a:ext cx="10088575" cy="640080"/>
          </a:xfrm>
          <a:prstGeom prst="rect">
            <a:avLst/>
          </a:prstGeom>
          <a:noFill/>
          <a:ln/>
        </p:spPr>
        <p:txBody>
          <a:bodyPr wrap="square" lIns="0" tIns="0" rIns="0" bIns="0" rtlCol="0" anchor="ctr"/>
          <a:lstStyle/>
          <a:p>
            <a:pPr indent="0" marL="0">
              <a:buNone/>
            </a:pPr>
            <a:r>
              <a:rPr lang="en-US" sz="1800" dirty="0">
                <a:solidFill>
                  <a:schemeClr val="tx1"/>
                </a:solidFill>
              </a:rPr>
              <a:t>Mon fichier est enregistré avec le bon nom.</a:t>
            </a:r>
            <a:endParaRPr lang="en-US" sz="1800" dirty="0"/>
          </a:p>
        </p:txBody>
      </p:sp>
      <p:sp>
        <p:nvSpPr>
          <p:cNvPr id="24"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5" name="Text 18"/>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Une compétence, 4 semaines, 1 ressource vérifiée.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7 · TP6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La compétence vient de l’offre d’emploi visée.</a:t>
            </a:r>
            <a:endParaRPr lang="en-US" sz="18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1800" dirty="0">
                <a:solidFill>
                  <a:schemeClr val="tx1"/>
                </a:solidFill>
              </a:rPr>
              <a:t>La compétence sert mon activité (ex. : tenir mes comptes simplement, répondre aux clients, fixer mes prix). Dans la Consigne 15, remplacez l’offre par la description de votre activité.</a:t>
            </a:r>
            <a:endParaRPr lang="en-US" sz="18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Demandez à Claude un quiz de 5 questions pour tester votre première semaine.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8</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8</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Ma fiche profil (skill « Ma fiche profil »)</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20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7_Fiche_profil_NOM.pdf</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Produire ma fiche profil d’une page (paysage), relue et vérifiée, que je présenterai en 2 minutes.</a:t>
            </a:r>
            <a:endParaRPr lang="en-US" sz="2000" dirty="0"/>
          </a:p>
        </p:txBody>
      </p:sp>
      <p:pic>
        <p:nvPicPr>
          <p:cNvPr id="9" name="Image 0" descr="Ma fiche profil (skill « Ma fiche profil »)">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Je prépare mes informations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 min</a:t>
            </a:r>
            <a:endParaRPr lang="en-US" sz="1800" dirty="0"/>
          </a:p>
        </p:txBody>
      </p:sp>
      <p:sp>
        <p:nvSpPr>
          <p:cNvPr id="6" name="Text 4"/>
          <p:cNvSpPr txBox="1"/>
          <p:nvPr/>
        </p:nvSpPr>
        <p:spPr>
          <a:xfrm>
            <a:off x="548640" y="1463040"/>
            <a:ext cx="8991295" cy="270662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Reprenez votre Annexe A.</a:t>
            </a:r>
            <a:endParaRPr lang="en-US" sz="2400" dirty="0"/>
          </a:p>
          <a:p>
            <a:pPr marL="342900" indent="-342900">
              <a:spcAft>
                <a:spcPts val="1000"/>
              </a:spcAft>
              <a:buSzPct val="100000"/>
              <a:buFont typeface="+mj-lt"/>
              <a:buAutoNum type="arabicPeriod" startAt="1"/>
            </a:pPr>
            <a:r>
              <a:rPr lang="en-US" sz="2400" dirty="0">
                <a:solidFill>
                  <a:schemeClr val="tx1"/>
                </a:solidFill>
              </a:rPr>
              <a:t>Préparez : nom, poste ou activité visé(e), parcours en 2 ou 3 lignes, 4 mots qui vous décrivent (un par ligne), ce que vous faites en dehors du travail.</a:t>
            </a:r>
            <a:endParaRPr lang="en-US" sz="2400" dirty="0"/>
          </a:p>
          <a:p>
            <a:pPr marL="342900" indent="-342900">
              <a:spcAft>
                <a:spcPts val="1000"/>
              </a:spcAft>
              <a:buSzPct val="100000"/>
              <a:buFont typeface="+mj-lt"/>
              <a:buAutoNum type="arabicPeriod" startAt="1"/>
            </a:pPr>
            <a:r>
              <a:rPr lang="en-US" sz="2400" dirty="0">
                <a:solidFill>
                  <a:schemeClr val="tx1"/>
                </a:solidFill>
              </a:rPr>
              <a:t>Ayez votre photo du TP2 et la liste des outils utilisés (Claude, Gemini, autre).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IdCard">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 lance le skill</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Ouvrez Claude.</a:t>
            </a:r>
            <a:endParaRPr lang="en-US" sz="2400" dirty="0"/>
          </a:p>
          <a:p>
            <a:pPr marL="342900" indent="-342900">
              <a:spcAft>
                <a:spcPts val="1000"/>
              </a:spcAft>
              <a:buSzPct val="100000"/>
              <a:buFont typeface="+mj-lt"/>
              <a:buAutoNum type="arabicPeriod" startAt="1"/>
            </a:pPr>
            <a:r>
              <a:rPr lang="en-US" sz="2400" dirty="0">
                <a:solidFill>
                  <a:schemeClr val="tx1"/>
                </a:solidFill>
              </a:rPr>
              <a:t>Vérifiez que le skill « Ma fiche profil » est actif.</a:t>
            </a:r>
            <a:endParaRPr lang="en-US" sz="2400" dirty="0"/>
          </a:p>
          <a:p>
            <a:pPr marL="342900" indent="-342900">
              <a:spcAft>
                <a:spcPts val="1000"/>
              </a:spcAft>
              <a:buSzPct val="100000"/>
              <a:buFont typeface="+mj-lt"/>
              <a:buAutoNum type="arabicPeriod" startAt="1"/>
            </a:pPr>
            <a:r>
              <a:rPr lang="en-US" sz="2400" dirty="0">
                <a:solidFill>
                  <a:schemeClr val="tx1"/>
                </a:solidFill>
              </a:rPr>
              <a:t>Copiez la Consigne 17 et envoyez.</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IdCard">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17"/>
          <p:cNvSpPr/>
          <p:nvPr/>
        </p:nvSpPr>
        <p:spPr>
          <a:xfrm>
            <a:off x="548640" y="3383280"/>
            <a:ext cx="11094415" cy="891540"/>
          </a:xfrm>
          <a:prstGeom prst="roundRect">
            <a:avLst>
              <a:gd name="adj" fmla="val 10256"/>
            </a:avLst>
          </a:prstGeom>
          <a:solidFill>
            <a:schemeClr val="bg2"/>
          </a:solidFill>
          <a:ln w="19050">
            <a:solidFill>
              <a:schemeClr val="accent1"/>
            </a:solidFill>
            <a:prstDash val="solid"/>
          </a:ln>
        </p:spPr>
      </p:sp>
      <p:sp>
        <p:nvSpPr>
          <p:cNvPr id="10" name="Titre consigne 17"/>
          <p:cNvSpPr/>
          <p:nvPr/>
        </p:nvSpPr>
        <p:spPr>
          <a:xfrm>
            <a:off x="548640" y="3383280"/>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383280"/>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17   Lancer le skill « Ma fiche profil »  ·  Claude</a:t>
            </a:r>
            <a:endParaRPr lang="en-US" sz="1500" dirty="0"/>
          </a:p>
        </p:txBody>
      </p:sp>
      <p:sp>
        <p:nvSpPr>
          <p:cNvPr id="12" name="Text 9"/>
          <p:cNvSpPr txBox="1"/>
          <p:nvPr/>
        </p:nvSpPr>
        <p:spPr>
          <a:xfrm>
            <a:off x="777240" y="3840480"/>
            <a:ext cx="10637215" cy="416052"/>
          </a:xfrm>
          <a:prstGeom prst="rect">
            <a:avLst/>
          </a:prstGeom>
          <a:noFill/>
          <a:ln/>
        </p:spPr>
        <p:txBody>
          <a:bodyPr wrap="square" lIns="0" tIns="0" rIns="0" bIns="0" rtlCol="0" anchor="t"/>
          <a:lstStyle/>
          <a:p>
            <a:pPr indent="0" marL="0">
              <a:buNone/>
            </a:pPr>
            <a:r>
              <a:rPr lang="en-US" sz="1800" dirty="0">
                <a:solidFill>
                  <a:schemeClr val="tx1"/>
                </a:solidFill>
              </a:rPr>
              <a:t>Je veux faire ma fiche profil avec le skill « Ma fiche profil ».</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donne mes informations : les 10 zones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6 min</a:t>
            </a:r>
            <a:endParaRPr lang="en-US" sz="1800" dirty="0"/>
          </a:p>
        </p:txBody>
      </p:sp>
      <p:sp>
        <p:nvSpPr>
          <p:cNvPr id="6" name="Fiche (maquette)"/>
          <p:cNvSpPr/>
          <p:nvPr/>
        </p:nvSpPr>
        <p:spPr>
          <a:xfrm>
            <a:off x="548640" y="1463040"/>
            <a:ext cx="11094415" cy="4206240"/>
          </a:xfrm>
          <a:prstGeom prst="roundRect">
            <a:avLst>
              <a:gd name="adj" fmla="val 2174"/>
            </a:avLst>
          </a:prstGeom>
          <a:solidFill>
            <a:schemeClr val="bg1"/>
          </a:solidFill>
          <a:ln w="19050">
            <a:solidFill>
              <a:schemeClr val="tx2"/>
            </a:solidFill>
            <a:prstDash val="solid"/>
          </a:ln>
        </p:spPr>
      </p:sp>
      <p:sp>
        <p:nvSpPr>
          <p:cNvPr id="7" name="Bandeau fiche"/>
          <p:cNvSpPr/>
          <p:nvPr/>
        </p:nvSpPr>
        <p:spPr>
          <a:xfrm>
            <a:off x="548640" y="1463040"/>
            <a:ext cx="11094415" cy="1051560"/>
          </a:xfrm>
          <a:prstGeom prst="rect">
            <a:avLst/>
          </a:prstGeom>
          <a:solidFill>
            <a:schemeClr val="accent1"/>
          </a:solidFill>
          <a:ln w="12700">
            <a:solidFill>
              <a:schemeClr val="accent1"/>
            </a:solidFill>
            <a:prstDash val="solid"/>
          </a:ln>
        </p:spPr>
      </p:sp>
      <p:sp>
        <p:nvSpPr>
          <p:cNvPr id="8" name="Zone 1"/>
          <p:cNvSpPr/>
          <p:nvPr/>
        </p:nvSpPr>
        <p:spPr>
          <a:xfrm>
            <a:off x="731520" y="1600200"/>
            <a:ext cx="2834640" cy="777240"/>
          </a:xfrm>
          <a:prstGeom prst="roundRect">
            <a:avLst>
              <a:gd name="adj" fmla="val 7059"/>
            </a:avLst>
          </a:prstGeom>
          <a:solidFill>
            <a:schemeClr val="bg1">
              <a:alpha val="92000"/>
            </a:schemeClr>
          </a:solidFill>
          <a:ln w="12700">
            <a:solidFill>
              <a:schemeClr val="bg1"/>
            </a:solidFill>
            <a:prstDash val="solid"/>
          </a:ln>
        </p:spPr>
      </p:sp>
      <p:sp>
        <p:nvSpPr>
          <p:cNvPr id="9" name="Text 7"/>
          <p:cNvSpPr txBox="1"/>
          <p:nvPr/>
        </p:nvSpPr>
        <p:spPr>
          <a:xfrm>
            <a:off x="822960" y="1600200"/>
            <a:ext cx="2651760" cy="777240"/>
          </a:xfrm>
          <a:prstGeom prst="rect">
            <a:avLst/>
          </a:prstGeom>
          <a:noFill/>
          <a:ln/>
        </p:spPr>
        <p:txBody>
          <a:bodyPr wrap="square" lIns="0" tIns="0" rIns="0" bIns="0" rtlCol="0" anchor="ctr"/>
          <a:lstStyle/>
          <a:p>
            <a:pPr indent="0" marL="0">
              <a:buNone/>
            </a:pPr>
            <a:r>
              <a:rPr lang="en-US" sz="1400" b="1" dirty="0">
                <a:solidFill>
                  <a:schemeClr val="accent1"/>
                </a:solidFill>
              </a:rPr>
              <a:t>1  </a:t>
            </a:r>
            <a:pPr indent="0" marL="0">
              <a:buNone/>
            </a:pPr>
            <a:r>
              <a:rPr lang="en-US" sz="1400" dirty="0">
                <a:solidFill>
                  <a:schemeClr val="tx1"/>
                </a:solidFill>
              </a:rPr>
              <a:t>Nom et prénom</a:t>
            </a:r>
            <a:endParaRPr lang="en-US" sz="1400" dirty="0"/>
          </a:p>
        </p:txBody>
      </p:sp>
      <p:sp>
        <p:nvSpPr>
          <p:cNvPr id="10" name="Zone 2"/>
          <p:cNvSpPr/>
          <p:nvPr/>
        </p:nvSpPr>
        <p:spPr>
          <a:xfrm>
            <a:off x="3703320" y="1600200"/>
            <a:ext cx="3291840" cy="777240"/>
          </a:xfrm>
          <a:prstGeom prst="roundRect">
            <a:avLst>
              <a:gd name="adj" fmla="val 7059"/>
            </a:avLst>
          </a:prstGeom>
          <a:solidFill>
            <a:schemeClr val="bg1">
              <a:alpha val="92000"/>
            </a:schemeClr>
          </a:solidFill>
          <a:ln w="12700">
            <a:solidFill>
              <a:schemeClr val="bg1"/>
            </a:solidFill>
            <a:prstDash val="solid"/>
          </a:ln>
        </p:spPr>
      </p:sp>
      <p:sp>
        <p:nvSpPr>
          <p:cNvPr id="11" name="Text 9"/>
          <p:cNvSpPr txBox="1"/>
          <p:nvPr/>
        </p:nvSpPr>
        <p:spPr>
          <a:xfrm>
            <a:off x="3794760" y="1600200"/>
            <a:ext cx="3108960" cy="777240"/>
          </a:xfrm>
          <a:prstGeom prst="rect">
            <a:avLst/>
          </a:prstGeom>
          <a:noFill/>
          <a:ln/>
        </p:spPr>
        <p:txBody>
          <a:bodyPr wrap="square" lIns="0" tIns="0" rIns="0" bIns="0" rtlCol="0" anchor="ctr"/>
          <a:lstStyle/>
          <a:p>
            <a:pPr indent="0" marL="0">
              <a:buNone/>
            </a:pPr>
            <a:r>
              <a:rPr lang="en-US" sz="1400" b="1" dirty="0">
                <a:solidFill>
                  <a:schemeClr val="accent1"/>
                </a:solidFill>
              </a:rPr>
              <a:t>2  </a:t>
            </a:r>
            <a:pPr indent="0" marL="0">
              <a:buNone/>
            </a:pPr>
            <a:r>
              <a:rPr lang="en-US" sz="1400" dirty="0">
                <a:solidFill>
                  <a:schemeClr val="tx1"/>
                </a:solidFill>
              </a:rPr>
              <a:t>Poste ou activité visé(e)</a:t>
            </a:r>
            <a:endParaRPr lang="en-US" sz="1400" dirty="0"/>
          </a:p>
        </p:txBody>
      </p:sp>
      <p:sp>
        <p:nvSpPr>
          <p:cNvPr id="12" name="Zone 3"/>
          <p:cNvSpPr/>
          <p:nvPr/>
        </p:nvSpPr>
        <p:spPr>
          <a:xfrm>
            <a:off x="8686800" y="1600200"/>
            <a:ext cx="2743200" cy="777240"/>
          </a:xfrm>
          <a:prstGeom prst="roundRect">
            <a:avLst>
              <a:gd name="adj" fmla="val 7059"/>
            </a:avLst>
          </a:prstGeom>
          <a:solidFill>
            <a:schemeClr val="bg1">
              <a:alpha val="92000"/>
            </a:schemeClr>
          </a:solidFill>
          <a:ln w="12700">
            <a:solidFill>
              <a:schemeClr val="bg1"/>
            </a:solidFill>
            <a:prstDash val="solid"/>
          </a:ln>
        </p:spPr>
      </p:sp>
      <p:sp>
        <p:nvSpPr>
          <p:cNvPr id="13" name="Text 11"/>
          <p:cNvSpPr txBox="1"/>
          <p:nvPr/>
        </p:nvSpPr>
        <p:spPr>
          <a:xfrm>
            <a:off x="8778240" y="1600200"/>
            <a:ext cx="2560320" cy="777240"/>
          </a:xfrm>
          <a:prstGeom prst="rect">
            <a:avLst/>
          </a:prstGeom>
          <a:noFill/>
          <a:ln/>
        </p:spPr>
        <p:txBody>
          <a:bodyPr wrap="square" lIns="0" tIns="0" rIns="0" bIns="0" rtlCol="0" anchor="ctr"/>
          <a:lstStyle/>
          <a:p>
            <a:pPr indent="0" marL="0">
              <a:buNone/>
            </a:pPr>
            <a:r>
              <a:rPr lang="en-US" sz="1400" b="1" dirty="0">
                <a:solidFill>
                  <a:schemeClr val="accent1"/>
                </a:solidFill>
              </a:rPr>
              <a:t>3  </a:t>
            </a:r>
            <a:pPr indent="0" marL="0">
              <a:buNone/>
            </a:pPr>
            <a:r>
              <a:rPr lang="en-US" sz="1400" dirty="0">
                <a:solidFill>
                  <a:schemeClr val="tx1"/>
                </a:solidFill>
              </a:rPr>
              <a:t>Outils utilisés (Claude, Gemini, autre)</a:t>
            </a:r>
            <a:endParaRPr lang="en-US" sz="1400" dirty="0"/>
          </a:p>
        </p:txBody>
      </p:sp>
      <p:sp>
        <p:nvSpPr>
          <p:cNvPr id="14" name="Zone 4"/>
          <p:cNvSpPr/>
          <p:nvPr/>
        </p:nvSpPr>
        <p:spPr>
          <a:xfrm>
            <a:off x="731520" y="2651760"/>
            <a:ext cx="1737360" cy="1417320"/>
          </a:xfrm>
          <a:prstGeom prst="roundRect">
            <a:avLst>
              <a:gd name="adj" fmla="val 3871"/>
            </a:avLst>
          </a:prstGeom>
          <a:solidFill>
            <a:schemeClr val="bg2"/>
          </a:solidFill>
          <a:ln w="12700">
            <a:solidFill>
              <a:schemeClr val="accent1"/>
            </a:solidFill>
            <a:prstDash val="solid"/>
          </a:ln>
        </p:spPr>
      </p:sp>
      <p:sp>
        <p:nvSpPr>
          <p:cNvPr id="15" name="Text 13"/>
          <p:cNvSpPr txBox="1"/>
          <p:nvPr/>
        </p:nvSpPr>
        <p:spPr>
          <a:xfrm>
            <a:off x="822960" y="2651760"/>
            <a:ext cx="1554480" cy="1417320"/>
          </a:xfrm>
          <a:prstGeom prst="rect">
            <a:avLst/>
          </a:prstGeom>
          <a:noFill/>
          <a:ln/>
        </p:spPr>
        <p:txBody>
          <a:bodyPr wrap="square" lIns="0" tIns="0" rIns="0" bIns="0" rtlCol="0" anchor="ctr"/>
          <a:lstStyle/>
          <a:p>
            <a:pPr indent="0" marL="0">
              <a:buNone/>
            </a:pPr>
            <a:r>
              <a:rPr lang="en-US" sz="1400" b="1" dirty="0">
                <a:solidFill>
                  <a:schemeClr val="accent1"/>
                </a:solidFill>
              </a:rPr>
              <a:t>4  </a:t>
            </a:r>
            <a:pPr indent="0" marL="0">
              <a:buNone/>
            </a:pPr>
            <a:r>
              <a:rPr lang="en-US" sz="1400" dirty="0">
                <a:solidFill>
                  <a:schemeClr val="tx1"/>
                </a:solidFill>
              </a:rPr>
              <a:t>Ma photo (celle du TP2)</a:t>
            </a:r>
            <a:endParaRPr lang="en-US" sz="1400" dirty="0"/>
          </a:p>
        </p:txBody>
      </p:sp>
      <p:sp>
        <p:nvSpPr>
          <p:cNvPr id="16" name="Zone 5"/>
          <p:cNvSpPr/>
          <p:nvPr/>
        </p:nvSpPr>
        <p:spPr>
          <a:xfrm>
            <a:off x="2606040" y="2651760"/>
            <a:ext cx="4389120" cy="1417320"/>
          </a:xfrm>
          <a:prstGeom prst="roundRect">
            <a:avLst>
              <a:gd name="adj" fmla="val 3871"/>
            </a:avLst>
          </a:prstGeom>
          <a:solidFill>
            <a:schemeClr val="bg2"/>
          </a:solidFill>
          <a:ln w="12700">
            <a:solidFill>
              <a:schemeClr val="accent1"/>
            </a:solidFill>
            <a:prstDash val="solid"/>
          </a:ln>
        </p:spPr>
      </p:sp>
      <p:sp>
        <p:nvSpPr>
          <p:cNvPr id="17" name="Text 15"/>
          <p:cNvSpPr txBox="1"/>
          <p:nvPr/>
        </p:nvSpPr>
        <p:spPr>
          <a:xfrm>
            <a:off x="2697480" y="2651760"/>
            <a:ext cx="4206240" cy="1417320"/>
          </a:xfrm>
          <a:prstGeom prst="rect">
            <a:avLst/>
          </a:prstGeom>
          <a:noFill/>
          <a:ln/>
        </p:spPr>
        <p:txBody>
          <a:bodyPr wrap="square" lIns="0" tIns="0" rIns="0" bIns="0" rtlCol="0" anchor="ctr"/>
          <a:lstStyle/>
          <a:p>
            <a:pPr indent="0" marL="0">
              <a:buNone/>
            </a:pPr>
            <a:r>
              <a:rPr lang="en-US" sz="1400" b="1" dirty="0">
                <a:solidFill>
                  <a:schemeClr val="accent1"/>
                </a:solidFill>
              </a:rPr>
              <a:t>5  </a:t>
            </a:r>
            <a:pPr indent="0" marL="0">
              <a:buNone/>
            </a:pPr>
            <a:r>
              <a:rPr lang="en-US" sz="1400" dirty="0">
                <a:solidFill>
                  <a:schemeClr val="tx1"/>
                </a:solidFill>
              </a:rPr>
              <a:t>Ce que fait quelqu’un à ce poste (2 lignes)</a:t>
            </a:r>
            <a:endParaRPr lang="en-US" sz="1400" dirty="0"/>
          </a:p>
        </p:txBody>
      </p:sp>
      <p:sp>
        <p:nvSpPr>
          <p:cNvPr id="18" name="Zone 6"/>
          <p:cNvSpPr/>
          <p:nvPr/>
        </p:nvSpPr>
        <p:spPr>
          <a:xfrm>
            <a:off x="731520" y="4206240"/>
            <a:ext cx="6263640" cy="640080"/>
          </a:xfrm>
          <a:prstGeom prst="roundRect">
            <a:avLst>
              <a:gd name="adj" fmla="val 8571"/>
            </a:avLst>
          </a:prstGeom>
          <a:solidFill>
            <a:schemeClr val="bg2"/>
          </a:solidFill>
          <a:ln w="12700">
            <a:solidFill>
              <a:schemeClr val="accent1"/>
            </a:solidFill>
            <a:prstDash val="solid"/>
          </a:ln>
        </p:spPr>
      </p:sp>
      <p:sp>
        <p:nvSpPr>
          <p:cNvPr id="19" name="Text 17"/>
          <p:cNvSpPr txBox="1"/>
          <p:nvPr/>
        </p:nvSpPr>
        <p:spPr>
          <a:xfrm>
            <a:off x="822960" y="4206240"/>
            <a:ext cx="6080760" cy="640080"/>
          </a:xfrm>
          <a:prstGeom prst="rect">
            <a:avLst/>
          </a:prstGeom>
          <a:noFill/>
          <a:ln/>
        </p:spPr>
        <p:txBody>
          <a:bodyPr wrap="square" lIns="0" tIns="0" rIns="0" bIns="0" rtlCol="0" anchor="ctr"/>
          <a:lstStyle/>
          <a:p>
            <a:pPr indent="0" marL="0">
              <a:buNone/>
            </a:pPr>
            <a:r>
              <a:rPr lang="en-US" sz="1400" b="1" dirty="0">
                <a:solidFill>
                  <a:schemeClr val="accent1"/>
                </a:solidFill>
              </a:rPr>
              <a:t>6  </a:t>
            </a:r>
            <a:pPr indent="0" marL="0">
              <a:buNone/>
            </a:pPr>
            <a:r>
              <a:rPr lang="en-US" sz="1400" dirty="0">
                <a:solidFill>
                  <a:schemeClr val="tx1"/>
                </a:solidFill>
              </a:rPr>
              <a:t>Ce que je préfère dans ce métier</a:t>
            </a:r>
            <a:endParaRPr lang="en-US" sz="1400" dirty="0"/>
          </a:p>
        </p:txBody>
      </p:sp>
      <p:sp>
        <p:nvSpPr>
          <p:cNvPr id="20" name="Zone 7"/>
          <p:cNvSpPr/>
          <p:nvPr/>
        </p:nvSpPr>
        <p:spPr>
          <a:xfrm>
            <a:off x="731520" y="4937760"/>
            <a:ext cx="6263640" cy="594360"/>
          </a:xfrm>
          <a:prstGeom prst="roundRect">
            <a:avLst>
              <a:gd name="adj" fmla="val 9231"/>
            </a:avLst>
          </a:prstGeom>
          <a:solidFill>
            <a:schemeClr val="bg2"/>
          </a:solidFill>
          <a:ln w="12700">
            <a:solidFill>
              <a:schemeClr val="accent1"/>
            </a:solidFill>
            <a:prstDash val="solid"/>
          </a:ln>
        </p:spPr>
      </p:sp>
      <p:sp>
        <p:nvSpPr>
          <p:cNvPr id="21" name="Text 19"/>
          <p:cNvSpPr txBox="1"/>
          <p:nvPr/>
        </p:nvSpPr>
        <p:spPr>
          <a:xfrm>
            <a:off x="822960" y="4937760"/>
            <a:ext cx="6080760" cy="594360"/>
          </a:xfrm>
          <a:prstGeom prst="rect">
            <a:avLst/>
          </a:prstGeom>
          <a:noFill/>
          <a:ln/>
        </p:spPr>
        <p:txBody>
          <a:bodyPr wrap="square" lIns="0" tIns="0" rIns="0" bIns="0" rtlCol="0" anchor="ctr"/>
          <a:lstStyle/>
          <a:p>
            <a:pPr indent="0" marL="0">
              <a:buNone/>
            </a:pPr>
            <a:r>
              <a:rPr lang="en-US" sz="1400" b="1" dirty="0">
                <a:solidFill>
                  <a:schemeClr val="accent1"/>
                </a:solidFill>
              </a:rPr>
              <a:t>7  </a:t>
            </a:r>
            <a:pPr indent="0" marL="0">
              <a:buNone/>
            </a:pPr>
            <a:r>
              <a:rPr lang="en-US" sz="1400" dirty="0">
                <a:solidFill>
                  <a:schemeClr val="tx1"/>
                </a:solidFill>
              </a:rPr>
              <a:t>Mon parcours (d’où je viens, comment j’en suis arrivé là)</a:t>
            </a:r>
            <a:endParaRPr lang="en-US" sz="1400" dirty="0"/>
          </a:p>
        </p:txBody>
      </p:sp>
      <p:sp>
        <p:nvSpPr>
          <p:cNvPr id="22" name="Zone 8"/>
          <p:cNvSpPr/>
          <p:nvPr/>
        </p:nvSpPr>
        <p:spPr>
          <a:xfrm>
            <a:off x="7178040" y="2651760"/>
            <a:ext cx="4251960" cy="914400"/>
          </a:xfrm>
          <a:prstGeom prst="roundRect">
            <a:avLst>
              <a:gd name="adj" fmla="val 6000"/>
            </a:avLst>
          </a:prstGeom>
          <a:solidFill>
            <a:schemeClr val="bg2"/>
          </a:solidFill>
          <a:ln w="12700">
            <a:solidFill>
              <a:schemeClr val="accent1"/>
            </a:solidFill>
            <a:prstDash val="solid"/>
          </a:ln>
        </p:spPr>
      </p:sp>
      <p:sp>
        <p:nvSpPr>
          <p:cNvPr id="23" name="Text 21"/>
          <p:cNvSpPr txBox="1"/>
          <p:nvPr/>
        </p:nvSpPr>
        <p:spPr>
          <a:xfrm>
            <a:off x="7269480" y="2651760"/>
            <a:ext cx="4069080" cy="914400"/>
          </a:xfrm>
          <a:prstGeom prst="rect">
            <a:avLst/>
          </a:prstGeom>
          <a:noFill/>
          <a:ln/>
        </p:spPr>
        <p:txBody>
          <a:bodyPr wrap="square" lIns="0" tIns="0" rIns="0" bIns="0" rtlCol="0" anchor="ctr"/>
          <a:lstStyle/>
          <a:p>
            <a:pPr indent="0" marL="0">
              <a:buNone/>
            </a:pPr>
            <a:r>
              <a:rPr lang="en-US" sz="1400" b="1" dirty="0">
                <a:solidFill>
                  <a:schemeClr val="accent1"/>
                </a:solidFill>
              </a:rPr>
              <a:t>8  </a:t>
            </a:r>
            <a:pPr indent="0" marL="0">
              <a:buNone/>
            </a:pPr>
            <a:r>
              <a:rPr lang="en-US" sz="1400" dirty="0">
                <a:solidFill>
                  <a:schemeClr val="tx1"/>
                </a:solidFill>
              </a:rPr>
              <a:t>Quatre mots qui me décrivent (un seul mot par ligne)</a:t>
            </a:r>
            <a:endParaRPr lang="en-US" sz="1400" dirty="0"/>
          </a:p>
        </p:txBody>
      </p:sp>
      <p:sp>
        <p:nvSpPr>
          <p:cNvPr id="24" name="Zone 9"/>
          <p:cNvSpPr/>
          <p:nvPr/>
        </p:nvSpPr>
        <p:spPr>
          <a:xfrm>
            <a:off x="7178040" y="3657600"/>
            <a:ext cx="4251960" cy="685800"/>
          </a:xfrm>
          <a:prstGeom prst="roundRect">
            <a:avLst>
              <a:gd name="adj" fmla="val 8000"/>
            </a:avLst>
          </a:prstGeom>
          <a:solidFill>
            <a:schemeClr val="bg2"/>
          </a:solidFill>
          <a:ln w="12700">
            <a:solidFill>
              <a:schemeClr val="accent1"/>
            </a:solidFill>
            <a:prstDash val="solid"/>
          </a:ln>
        </p:spPr>
      </p:sp>
      <p:sp>
        <p:nvSpPr>
          <p:cNvPr id="25" name="Text 23"/>
          <p:cNvSpPr txBox="1"/>
          <p:nvPr/>
        </p:nvSpPr>
        <p:spPr>
          <a:xfrm>
            <a:off x="7269480" y="3657600"/>
            <a:ext cx="4069080" cy="685800"/>
          </a:xfrm>
          <a:prstGeom prst="rect">
            <a:avLst/>
          </a:prstGeom>
          <a:noFill/>
          <a:ln/>
        </p:spPr>
        <p:txBody>
          <a:bodyPr wrap="square" lIns="0" tIns="0" rIns="0" bIns="0" rtlCol="0" anchor="ctr"/>
          <a:lstStyle/>
          <a:p>
            <a:pPr indent="0" marL="0">
              <a:buNone/>
            </a:pPr>
            <a:r>
              <a:rPr lang="en-US" sz="1400" b="1" dirty="0">
                <a:solidFill>
                  <a:schemeClr val="accent1"/>
                </a:solidFill>
              </a:rPr>
              <a:t>9  </a:t>
            </a:r>
            <a:pPr indent="0" marL="0">
              <a:buNone/>
            </a:pPr>
            <a:r>
              <a:rPr lang="en-US" sz="1400" dirty="0">
                <a:solidFill>
                  <a:schemeClr val="tx1"/>
                </a:solidFill>
              </a:rPr>
              <a:t>En dehors du travail</a:t>
            </a:r>
            <a:endParaRPr lang="en-US" sz="1400" dirty="0"/>
          </a:p>
        </p:txBody>
      </p:sp>
      <p:sp>
        <p:nvSpPr>
          <p:cNvPr id="26" name="Zone 10"/>
          <p:cNvSpPr/>
          <p:nvPr/>
        </p:nvSpPr>
        <p:spPr>
          <a:xfrm>
            <a:off x="7178040" y="4480560"/>
            <a:ext cx="4251960" cy="1051560"/>
          </a:xfrm>
          <a:prstGeom prst="roundRect">
            <a:avLst>
              <a:gd name="adj" fmla="val 5217"/>
            </a:avLst>
          </a:prstGeom>
          <a:solidFill>
            <a:schemeClr val="bg2"/>
          </a:solidFill>
          <a:ln w="12700">
            <a:solidFill>
              <a:schemeClr val="accent1"/>
            </a:solidFill>
            <a:prstDash val="solid"/>
          </a:ln>
        </p:spPr>
      </p:sp>
      <p:sp>
        <p:nvSpPr>
          <p:cNvPr id="27" name="Text 25"/>
          <p:cNvSpPr txBox="1"/>
          <p:nvPr/>
        </p:nvSpPr>
        <p:spPr>
          <a:xfrm>
            <a:off x="7269480" y="4480560"/>
            <a:ext cx="4069080" cy="1051560"/>
          </a:xfrm>
          <a:prstGeom prst="rect">
            <a:avLst/>
          </a:prstGeom>
          <a:noFill/>
          <a:ln/>
        </p:spPr>
        <p:txBody>
          <a:bodyPr wrap="square" lIns="0" tIns="0" rIns="0" bIns="0" rtlCol="0" anchor="ctr"/>
          <a:lstStyle/>
          <a:p>
            <a:pPr indent="0" marL="0">
              <a:buNone/>
            </a:pPr>
            <a:r>
              <a:rPr lang="en-US" sz="1400" b="1" dirty="0">
                <a:solidFill>
                  <a:schemeClr val="accent1"/>
                </a:solidFill>
              </a:rPr>
              <a:t>10  </a:t>
            </a:r>
            <a:pPr indent="0" marL="0">
              <a:buNone/>
            </a:pPr>
            <a:r>
              <a:rPr lang="en-US" sz="1400" dirty="0">
                <a:solidFill>
                  <a:schemeClr val="tx1"/>
                </a:solidFill>
              </a:rPr>
              <a:t>Ce que je dois vérifier avant de publier</a:t>
            </a:r>
            <a:endParaRPr lang="en-US" sz="1400" dirty="0"/>
          </a:p>
        </p:txBody>
      </p:sp>
      <p:sp>
        <p:nvSpPr>
          <p:cNvPr id="28" name="Text 26"/>
          <p:cNvSpPr txBox="1"/>
          <p:nvPr/>
        </p:nvSpPr>
        <p:spPr>
          <a:xfrm>
            <a:off x="548640" y="5760720"/>
            <a:ext cx="11094415" cy="594360"/>
          </a:xfrm>
          <a:prstGeom prst="rect">
            <a:avLst/>
          </a:prstGeom>
          <a:noFill/>
          <a:ln/>
        </p:spPr>
        <p:txBody>
          <a:bodyPr wrap="square" lIns="0" tIns="0" rIns="0" bIns="0" rtlCol="0" anchor="ctr"/>
          <a:lstStyle/>
          <a:p>
            <a:pPr indent="0" marL="0">
              <a:buNone/>
            </a:pPr>
            <a:r>
              <a:rPr lang="en-US" sz="1800" dirty="0">
                <a:solidFill>
                  <a:schemeClr val="tx1"/>
                </a:solidFill>
              </a:rPr>
              <a:t>Je réponds aux questions du skill, une par une. Photo : upload de la photo du TP2. Rien ne sera inventé : ce que je ne donne pas n’apparaît pas.</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Je remplis « Ce que je dois vérifier avant de publier »</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5 min</a:t>
            </a:r>
            <a:endParaRPr lang="en-US" sz="1800" dirty="0"/>
          </a:p>
        </p:txBody>
      </p:sp>
      <p:sp>
        <p:nvSpPr>
          <p:cNvPr id="6" name="Text 4"/>
          <p:cNvSpPr txBox="1"/>
          <p:nvPr/>
        </p:nvSpPr>
        <p:spPr>
          <a:xfrm>
            <a:off x="548640" y="1463040"/>
            <a:ext cx="8991295" cy="2334768"/>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Copiez la Consigne 18.</a:t>
            </a:r>
            <a:endParaRPr lang="en-US" sz="2400" dirty="0"/>
          </a:p>
          <a:p>
            <a:pPr marL="342900" indent="-342900">
              <a:spcAft>
                <a:spcPts val="1000"/>
              </a:spcAft>
              <a:buSzPct val="100000"/>
              <a:buFont typeface="+mj-lt"/>
              <a:buAutoNum type="arabicPeriod" startAt="1"/>
            </a:pPr>
            <a:r>
              <a:rPr lang="en-US" sz="2400" dirty="0">
                <a:solidFill>
                  <a:schemeClr val="tx1"/>
                </a:solidFill>
              </a:rPr>
              <a:t>Lisez la liste. Pour chaque phrase : est-ce vrai ? Est-ce que je l’ai vécu ?</a:t>
            </a:r>
            <a:endParaRPr lang="en-US" sz="2400" dirty="0"/>
          </a:p>
          <a:p>
            <a:pPr marL="342900" indent="-342900">
              <a:spcAft>
                <a:spcPts val="1000"/>
              </a:spcAft>
              <a:buSzPct val="100000"/>
              <a:buFont typeface="+mj-lt"/>
              <a:buAutoNum type="arabicPeriod" startAt="1"/>
            </a:pPr>
            <a:r>
              <a:rPr lang="en-US" sz="2400" dirty="0">
                <a:solidFill>
                  <a:schemeClr val="tx1"/>
                </a:solidFill>
              </a:rPr>
              <a:t>Notez dans la zone « À vérifier » au moins 2 points, puis corrigez.</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IdCard">    </p:cNvPr>
          <p:cNvPicPr>
            <a:picLocks noChangeAspect="1"/>
          </p:cNvPicPr>
          <p:nvPr/>
        </p:nvPicPr>
        <p:blipFill>
          <a:blip r:embed="rId1"/>
          <a:stretch>
            <a:fillRect/>
          </a:stretch>
        </p:blipFill>
        <p:spPr>
          <a:xfrm>
            <a:off x="10392156" y="1903781"/>
            <a:ext cx="855878" cy="855878"/>
          </a:xfrm>
          <a:prstGeom prst="rect">
            <a:avLst/>
          </a:prstGeom>
        </p:spPr>
      </p:pic>
      <p:sp>
        <p:nvSpPr>
          <p:cNvPr id="9" name="Consigne 18"/>
          <p:cNvSpPr/>
          <p:nvPr/>
        </p:nvSpPr>
        <p:spPr>
          <a:xfrm>
            <a:off x="548640" y="3980688"/>
            <a:ext cx="11094415" cy="1170432"/>
          </a:xfrm>
          <a:prstGeom prst="roundRect">
            <a:avLst>
              <a:gd name="adj" fmla="val 7813"/>
            </a:avLst>
          </a:prstGeom>
          <a:solidFill>
            <a:schemeClr val="bg2"/>
          </a:solidFill>
          <a:ln w="19050">
            <a:solidFill>
              <a:schemeClr val="accent1"/>
            </a:solidFill>
            <a:prstDash val="solid"/>
          </a:ln>
        </p:spPr>
      </p:sp>
      <p:sp>
        <p:nvSpPr>
          <p:cNvPr id="10" name="Titre consigne 18"/>
          <p:cNvSpPr/>
          <p:nvPr/>
        </p:nvSpPr>
        <p:spPr>
          <a:xfrm>
            <a:off x="548640" y="3980688"/>
            <a:ext cx="11094415" cy="384048"/>
          </a:xfrm>
          <a:prstGeom prst="roundRect">
            <a:avLst>
              <a:gd name="adj" fmla="val 23810"/>
            </a:avLst>
          </a:prstGeom>
          <a:solidFill>
            <a:schemeClr val="accent1"/>
          </a:solidFill>
          <a:ln w="12700">
            <a:solidFill>
              <a:schemeClr val="accent1"/>
            </a:solidFill>
            <a:prstDash val="solid"/>
          </a:ln>
        </p:spPr>
      </p:sp>
      <p:sp>
        <p:nvSpPr>
          <p:cNvPr id="11" name="Text 8"/>
          <p:cNvSpPr txBox="1"/>
          <p:nvPr/>
        </p:nvSpPr>
        <p:spPr>
          <a:xfrm>
            <a:off x="731520" y="3980688"/>
            <a:ext cx="10728655" cy="384048"/>
          </a:xfrm>
          <a:prstGeom prst="rect">
            <a:avLst/>
          </a:prstGeom>
          <a:noFill/>
          <a:ln/>
        </p:spPr>
        <p:txBody>
          <a:bodyPr wrap="square" lIns="0" tIns="0" rIns="0" bIns="0" rtlCol="0" anchor="ctr"/>
          <a:lstStyle/>
          <a:p>
            <a:pPr indent="0" marL="0">
              <a:buNone/>
            </a:pPr>
            <a:r>
              <a:rPr lang="en-US" sz="1500" b="1" dirty="0">
                <a:solidFill>
                  <a:schemeClr val="bg1"/>
                </a:solidFill>
              </a:rPr>
              <a:t>CONSIGNE 18   Repérer ce que je n’ai pas vécu  ·  Claude</a:t>
            </a:r>
            <a:endParaRPr lang="en-US" sz="1500" dirty="0"/>
          </a:p>
        </p:txBody>
      </p:sp>
      <p:sp>
        <p:nvSpPr>
          <p:cNvPr id="12" name="Text 9"/>
          <p:cNvSpPr txBox="1"/>
          <p:nvPr/>
        </p:nvSpPr>
        <p:spPr>
          <a:xfrm>
            <a:off x="777240" y="4437888"/>
            <a:ext cx="10637215" cy="694944"/>
          </a:xfrm>
          <a:prstGeom prst="rect">
            <a:avLst/>
          </a:prstGeom>
          <a:noFill/>
          <a:ln/>
        </p:spPr>
        <p:txBody>
          <a:bodyPr wrap="square" lIns="0" tIns="0" rIns="0" bIns="0" rtlCol="0" anchor="t"/>
          <a:lstStyle/>
          <a:p>
            <a:pPr indent="0" marL="0">
              <a:buNone/>
            </a:pPr>
            <a:r>
              <a:rPr lang="en-US" sz="1800" dirty="0">
                <a:solidFill>
                  <a:schemeClr val="tx1"/>
                </a:solidFill>
              </a:rPr>
              <a:t>Montre-moi toutes les phrases de ma fiche qui ne viennent pas directement de ce que je t’ai donné. Ne corrige rien : liste-les seulement.</a:t>
            </a:r>
            <a:endParaRPr lang="en-US" sz="1800" dirty="0"/>
          </a:p>
        </p:txBody>
      </p:sp>
      <p:sp>
        <p:nvSpPr>
          <p:cNvPr id="13" name="Attention"/>
          <p:cNvSpPr/>
          <p:nvPr/>
        </p:nvSpPr>
        <p:spPr>
          <a:xfrm>
            <a:off x="548640" y="5379720"/>
            <a:ext cx="11094415" cy="777240"/>
          </a:xfrm>
          <a:prstGeom prst="roundRect">
            <a:avLst>
              <a:gd name="adj" fmla="val 11765"/>
            </a:avLst>
          </a:prstGeom>
          <a:solidFill>
            <a:schemeClr val="accent2">
              <a:alpha val="20000"/>
            </a:schemeClr>
          </a:solidFill>
          <a:ln w="15875">
            <a:solidFill>
              <a:schemeClr val="accent2"/>
            </a:solidFill>
            <a:prstDash val="solid"/>
          </a:ln>
        </p:spPr>
      </p:sp>
      <p:pic>
        <p:nvPicPr>
          <p:cNvPr id="14" name="Image 1" descr="Attention">    </p:cNvPr>
          <p:cNvPicPr>
            <a:picLocks noChangeAspect="1"/>
          </p:cNvPicPr>
          <p:nvPr/>
        </p:nvPicPr>
        <p:blipFill>
          <a:blip r:embed="rId2"/>
          <a:stretch>
            <a:fillRect/>
          </a:stretch>
        </p:blipFill>
        <p:spPr>
          <a:xfrm>
            <a:off x="777240" y="5562600"/>
            <a:ext cx="411480" cy="411480"/>
          </a:xfrm>
          <a:prstGeom prst="rect">
            <a:avLst/>
          </a:prstGeom>
        </p:spPr>
      </p:pic>
      <p:sp>
        <p:nvSpPr>
          <p:cNvPr id="15" name="Text 11"/>
          <p:cNvSpPr txBox="1"/>
          <p:nvPr/>
        </p:nvSpPr>
        <p:spPr>
          <a:xfrm>
            <a:off x="1417320" y="5379720"/>
            <a:ext cx="9997135" cy="777240"/>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Cette zone fait partie de la fiche. Elle prouve que vous avez relu.</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ÉTAPE 5</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5 — Je télécharge et je dépose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Téléchargez la fiche en PDF.</a:t>
            </a:r>
            <a:endParaRPr lang="en-US" sz="2400" dirty="0"/>
          </a:p>
          <a:p>
            <a:pPr marL="342900" indent="-342900">
              <a:spcAft>
                <a:spcPts val="1000"/>
              </a:spcAft>
              <a:buSzPct val="100000"/>
              <a:buFont typeface="+mj-lt"/>
              <a:buAutoNum type="arabicPeriod" startAt="1"/>
            </a:pPr>
            <a:r>
              <a:rPr lang="en-US" sz="2400" dirty="0">
                <a:solidFill>
                  <a:schemeClr val="tx1"/>
                </a:solidFill>
              </a:rPr>
              <a:t>Nommez : 7_Fiche_profil_NOM.pdf.</a:t>
            </a:r>
            <a:endParaRPr lang="en-US" sz="2400" dirty="0"/>
          </a:p>
          <a:p>
            <a:pPr marL="342900" indent="-342900">
              <a:spcAft>
                <a:spcPts val="1000"/>
              </a:spcAft>
              <a:buSzPct val="100000"/>
              <a:buFont typeface="+mj-lt"/>
              <a:buAutoNum type="arabicPeriod" startAt="1"/>
            </a:pPr>
            <a:r>
              <a:rPr lang="en-US" sz="2400" dirty="0">
                <a:solidFill>
                  <a:schemeClr val="tx1"/>
                </a:solidFill>
              </a:rPr>
              <a:t>Déposez-la dans le dossier du formateur (lien affiché au tableau).</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IdCard">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5410048"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4404208" cy="640080"/>
          </a:xfrm>
          <a:prstGeom prst="rect">
            <a:avLst/>
          </a:prstGeom>
          <a:noFill/>
          <a:ln/>
        </p:spPr>
        <p:txBody>
          <a:bodyPr wrap="square" lIns="0" tIns="0" rIns="0" bIns="0" rtlCol="0" anchor="ctr"/>
          <a:lstStyle/>
          <a:p>
            <a:pPr indent="0" marL="0">
              <a:buNone/>
            </a:pPr>
            <a:r>
              <a:rPr lang="en-US" sz="1800" dirty="0">
                <a:solidFill>
                  <a:schemeClr val="tx1"/>
                </a:solidFill>
              </a:rPr>
              <a:t>Les 10 zones de la fiche sont remplies.</a:t>
            </a:r>
            <a:endParaRPr lang="en-US" sz="1800" dirty="0"/>
          </a:p>
        </p:txBody>
      </p:sp>
      <p:sp>
        <p:nvSpPr>
          <p:cNvPr id="8" name="Carte"/>
          <p:cNvSpPr/>
          <p:nvPr/>
        </p:nvSpPr>
        <p:spPr>
          <a:xfrm>
            <a:off x="6233008" y="1463040"/>
            <a:ext cx="5410048"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6415888" y="1554480"/>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6525616" y="1664208"/>
            <a:ext cx="237744" cy="237744"/>
          </a:xfrm>
          <a:prstGeom prst="rect">
            <a:avLst/>
          </a:prstGeom>
        </p:spPr>
      </p:pic>
      <p:sp>
        <p:nvSpPr>
          <p:cNvPr id="11" name="Text 7"/>
          <p:cNvSpPr txBox="1"/>
          <p:nvPr/>
        </p:nvSpPr>
        <p:spPr>
          <a:xfrm>
            <a:off x="7055968" y="1463040"/>
            <a:ext cx="4404208" cy="640080"/>
          </a:xfrm>
          <a:prstGeom prst="rect">
            <a:avLst/>
          </a:prstGeom>
          <a:noFill/>
          <a:ln/>
        </p:spPr>
        <p:txBody>
          <a:bodyPr wrap="square" lIns="0" tIns="0" rIns="0" bIns="0" rtlCol="0" anchor="ctr"/>
          <a:lstStyle/>
          <a:p>
            <a:pPr indent="0" marL="0">
              <a:buNone/>
            </a:pPr>
            <a:r>
              <a:rPr lang="en-US" sz="1800" dirty="0">
                <a:solidFill>
                  <a:schemeClr val="tx1"/>
                </a:solidFill>
              </a:rPr>
              <a:t>Ma photo du TP2 est sur la fiche.</a:t>
            </a:r>
            <a:endParaRPr lang="en-US" sz="1800" dirty="0"/>
          </a:p>
        </p:txBody>
      </p:sp>
      <p:sp>
        <p:nvSpPr>
          <p:cNvPr id="12" name="Carte"/>
          <p:cNvSpPr/>
          <p:nvPr/>
        </p:nvSpPr>
        <p:spPr>
          <a:xfrm>
            <a:off x="548640" y="2212848"/>
            <a:ext cx="5410048"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2414016"/>
            <a:ext cx="237744" cy="237744"/>
          </a:xfrm>
          <a:prstGeom prst="rect">
            <a:avLst/>
          </a:prstGeom>
        </p:spPr>
      </p:pic>
      <p:sp>
        <p:nvSpPr>
          <p:cNvPr id="15" name="Text 10"/>
          <p:cNvSpPr txBox="1"/>
          <p:nvPr/>
        </p:nvSpPr>
        <p:spPr>
          <a:xfrm>
            <a:off x="1371600" y="2212848"/>
            <a:ext cx="4404208" cy="640080"/>
          </a:xfrm>
          <a:prstGeom prst="rect">
            <a:avLst/>
          </a:prstGeom>
          <a:noFill/>
          <a:ln/>
        </p:spPr>
        <p:txBody>
          <a:bodyPr wrap="square" lIns="0" tIns="0" rIns="0" bIns="0" rtlCol="0" anchor="ctr"/>
          <a:lstStyle/>
          <a:p>
            <a:pPr indent="0" marL="0">
              <a:buNone/>
            </a:pPr>
            <a:r>
              <a:rPr lang="en-US" sz="1800" dirty="0">
                <a:solidFill>
                  <a:schemeClr val="tx1"/>
                </a:solidFill>
              </a:rPr>
              <a:t>Le poste ou l’activité visé(e) est clair(e).</a:t>
            </a:r>
            <a:endParaRPr lang="en-US" sz="1800" dirty="0"/>
          </a:p>
        </p:txBody>
      </p:sp>
      <p:sp>
        <p:nvSpPr>
          <p:cNvPr id="16" name="Carte"/>
          <p:cNvSpPr/>
          <p:nvPr/>
        </p:nvSpPr>
        <p:spPr>
          <a:xfrm>
            <a:off x="6233008" y="2212848"/>
            <a:ext cx="5410048"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6415888" y="2304288"/>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6525616" y="2414016"/>
            <a:ext cx="237744" cy="237744"/>
          </a:xfrm>
          <a:prstGeom prst="rect">
            <a:avLst/>
          </a:prstGeom>
        </p:spPr>
      </p:pic>
      <p:sp>
        <p:nvSpPr>
          <p:cNvPr id="19" name="Text 13"/>
          <p:cNvSpPr txBox="1"/>
          <p:nvPr/>
        </p:nvSpPr>
        <p:spPr>
          <a:xfrm>
            <a:off x="7055968" y="2212848"/>
            <a:ext cx="4404208" cy="640080"/>
          </a:xfrm>
          <a:prstGeom prst="rect">
            <a:avLst/>
          </a:prstGeom>
          <a:noFill/>
          <a:ln/>
        </p:spPr>
        <p:txBody>
          <a:bodyPr wrap="square" lIns="0" tIns="0" rIns="0" bIns="0" rtlCol="0" anchor="ctr"/>
          <a:lstStyle/>
          <a:p>
            <a:pPr indent="0" marL="0">
              <a:buNone/>
            </a:pPr>
            <a:r>
              <a:rPr lang="en-US" sz="1800" dirty="0">
                <a:solidFill>
                  <a:schemeClr val="tx1"/>
                </a:solidFill>
              </a:rPr>
              <a:t>La zone « À vérifier » contient au moins 2 points réels.</a:t>
            </a:r>
            <a:endParaRPr lang="en-US" sz="1800" dirty="0"/>
          </a:p>
        </p:txBody>
      </p:sp>
      <p:sp>
        <p:nvSpPr>
          <p:cNvPr id="20" name="Carte"/>
          <p:cNvSpPr/>
          <p:nvPr/>
        </p:nvSpPr>
        <p:spPr>
          <a:xfrm>
            <a:off x="548640" y="2962656"/>
            <a:ext cx="5410048"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3163824"/>
            <a:ext cx="237744" cy="237744"/>
          </a:xfrm>
          <a:prstGeom prst="rect">
            <a:avLst/>
          </a:prstGeom>
        </p:spPr>
      </p:pic>
      <p:sp>
        <p:nvSpPr>
          <p:cNvPr id="23" name="Text 16"/>
          <p:cNvSpPr txBox="1"/>
          <p:nvPr/>
        </p:nvSpPr>
        <p:spPr>
          <a:xfrm>
            <a:off x="1371600" y="2962656"/>
            <a:ext cx="4404208" cy="640080"/>
          </a:xfrm>
          <a:prstGeom prst="rect">
            <a:avLst/>
          </a:prstGeom>
          <a:noFill/>
          <a:ln/>
        </p:spPr>
        <p:txBody>
          <a:bodyPr wrap="square" lIns="0" tIns="0" rIns="0" bIns="0" rtlCol="0" anchor="ctr"/>
          <a:lstStyle/>
          <a:p>
            <a:pPr indent="0" marL="0">
              <a:buNone/>
            </a:pPr>
            <a:r>
              <a:rPr lang="en-US" sz="1800" dirty="0">
                <a:solidFill>
                  <a:schemeClr val="tx1"/>
                </a:solidFill>
              </a:rPr>
              <a:t>Aucun fait n’est inventé.</a:t>
            </a:r>
            <a:endParaRPr lang="en-US" sz="1800" dirty="0"/>
          </a:p>
        </p:txBody>
      </p:sp>
      <p:sp>
        <p:nvSpPr>
          <p:cNvPr id="24" name="Carte"/>
          <p:cNvSpPr/>
          <p:nvPr/>
        </p:nvSpPr>
        <p:spPr>
          <a:xfrm>
            <a:off x="6233008" y="2962656"/>
            <a:ext cx="5410048" cy="640080"/>
          </a:xfrm>
          <a:prstGeom prst="roundRect">
            <a:avLst>
              <a:gd name="adj" fmla="val 17143"/>
            </a:avLst>
          </a:prstGeom>
          <a:solidFill>
            <a:schemeClr val="bg2"/>
          </a:solidFill>
          <a:ln w="12700">
            <a:solidFill>
              <a:schemeClr val="bg2"/>
            </a:solidFill>
            <a:prstDash val="solid"/>
          </a:ln>
        </p:spPr>
      </p:sp>
      <p:sp>
        <p:nvSpPr>
          <p:cNvPr id="25" name="Badge icône"/>
          <p:cNvSpPr/>
          <p:nvPr/>
        </p:nvSpPr>
        <p:spPr>
          <a:xfrm>
            <a:off x="6415888" y="3054096"/>
            <a:ext cx="457200" cy="457200"/>
          </a:xfrm>
          <a:prstGeom prst="ellipse">
            <a:avLst/>
          </a:prstGeom>
          <a:solidFill>
            <a:srgbClr val="2E9E6B"/>
          </a:solidFill>
          <a:ln w="12700">
            <a:solidFill>
              <a:srgbClr val="2E9E6B"/>
            </a:solidFill>
            <a:prstDash val="solid"/>
          </a:ln>
        </p:spPr>
      </p:sp>
      <p:pic>
        <p:nvPicPr>
          <p:cNvPr id="26" name="Image 5" descr="FaCheck">    </p:cNvPr>
          <p:cNvPicPr>
            <a:picLocks noChangeAspect="1"/>
          </p:cNvPicPr>
          <p:nvPr/>
        </p:nvPicPr>
        <p:blipFill>
          <a:blip r:embed="rId6"/>
          <a:stretch>
            <a:fillRect/>
          </a:stretch>
        </p:blipFill>
        <p:spPr>
          <a:xfrm>
            <a:off x="6525616" y="3163824"/>
            <a:ext cx="237744" cy="237744"/>
          </a:xfrm>
          <a:prstGeom prst="rect">
            <a:avLst/>
          </a:prstGeom>
        </p:spPr>
      </p:pic>
      <p:sp>
        <p:nvSpPr>
          <p:cNvPr id="27" name="Text 19"/>
          <p:cNvSpPr txBox="1"/>
          <p:nvPr/>
        </p:nvSpPr>
        <p:spPr>
          <a:xfrm>
            <a:off x="7055968" y="2962656"/>
            <a:ext cx="4404208" cy="640080"/>
          </a:xfrm>
          <a:prstGeom prst="rect">
            <a:avLst/>
          </a:prstGeom>
          <a:noFill/>
          <a:ln/>
        </p:spPr>
        <p:txBody>
          <a:bodyPr wrap="square" lIns="0" tIns="0" rIns="0" bIns="0" rtlCol="0" anchor="ctr"/>
          <a:lstStyle/>
          <a:p>
            <a:pPr indent="0" marL="0">
              <a:buNone/>
            </a:pPr>
            <a:r>
              <a:rPr lang="en-US" sz="1800" dirty="0">
                <a:solidFill>
                  <a:schemeClr val="tx1"/>
                </a:solidFill>
              </a:rPr>
              <a:t>Le fichier est déposé.</a:t>
            </a:r>
            <a:endParaRPr lang="en-US" sz="1800" dirty="0"/>
          </a:p>
        </p:txBody>
      </p:sp>
      <p:sp>
        <p:nvSpPr>
          <p:cNvPr id="28"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9" name="Text 21"/>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Fiche complète avec photo et zone « À vérifier » remplie.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8 · VARIANTE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vise un emploi ou mon activité</a:t>
            </a:r>
            <a:endParaRPr lang="en-US" sz="2800" dirty="0"/>
          </a:p>
        </p:txBody>
      </p:sp>
      <p:sp>
        <p:nvSpPr>
          <p:cNvPr id="4" name="Carte"/>
          <p:cNvSpPr/>
          <p:nvPr/>
        </p:nvSpPr>
        <p:spPr>
          <a:xfrm>
            <a:off x="548640" y="1463040"/>
            <a:ext cx="5364328" cy="3566160"/>
          </a:xfrm>
          <a:prstGeom prst="roundRect">
            <a:avLst>
              <a:gd name="adj" fmla="val 3077"/>
            </a:avLst>
          </a:prstGeom>
          <a:solidFill>
            <a:schemeClr val="bg2"/>
          </a:solidFill>
          <a:ln w="12700">
            <a:solidFill>
              <a:schemeClr val="bg2"/>
            </a:solidFill>
            <a:prstDash val="solid"/>
          </a:ln>
        </p:spPr>
      </p:sp>
      <p:sp>
        <p:nvSpPr>
          <p:cNvPr id="5" name="Badge icône"/>
          <p:cNvSpPr/>
          <p:nvPr/>
        </p:nvSpPr>
        <p:spPr>
          <a:xfrm>
            <a:off x="822960" y="1691640"/>
            <a:ext cx="685800" cy="685800"/>
          </a:xfrm>
          <a:prstGeom prst="ellipse">
            <a:avLst/>
          </a:prstGeom>
          <a:solidFill>
            <a:srgbClr val="2F7BD0"/>
          </a:solidFill>
          <a:ln w="12700">
            <a:solidFill>
              <a:srgbClr val="2F7BD0"/>
            </a:solidFill>
            <a:prstDash val="solid"/>
          </a:ln>
        </p:spPr>
      </p:sp>
      <p:pic>
        <p:nvPicPr>
          <p:cNvPr id="6" name="Image 0" descr="FaIdCard">    </p:cNvPr>
          <p:cNvPicPr>
            <a:picLocks noChangeAspect="1"/>
          </p:cNvPicPr>
          <p:nvPr/>
        </p:nvPicPr>
        <p:blipFill>
          <a:blip r:embed="rId1"/>
          <a:stretch>
            <a:fillRect/>
          </a:stretch>
        </p:blipFill>
        <p:spPr>
          <a:xfrm>
            <a:off x="987552" y="1856232"/>
            <a:ext cx="356616" cy="356616"/>
          </a:xfrm>
          <a:prstGeom prst="rect">
            <a:avLst/>
          </a:prstGeom>
        </p:spPr>
      </p:pic>
      <p:sp>
        <p:nvSpPr>
          <p:cNvPr id="7" name="Text 4"/>
          <p:cNvSpPr txBox="1"/>
          <p:nvPr/>
        </p:nvSpPr>
        <p:spPr>
          <a:xfrm>
            <a:off x="1691640"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un emploi (salarié)</a:t>
            </a:r>
            <a:endParaRPr lang="en-US" sz="2000" dirty="0"/>
          </a:p>
        </p:txBody>
      </p:sp>
      <p:sp>
        <p:nvSpPr>
          <p:cNvPr id="8" name="Text 5"/>
          <p:cNvSpPr txBox="1"/>
          <p:nvPr/>
        </p:nvSpPr>
        <p:spPr>
          <a:xfrm>
            <a:off x="868680" y="2606040"/>
            <a:ext cx="4724248" cy="2286000"/>
          </a:xfrm>
          <a:prstGeom prst="rect">
            <a:avLst/>
          </a:prstGeom>
          <a:noFill/>
          <a:ln/>
        </p:spPr>
        <p:txBody>
          <a:bodyPr wrap="square" lIns="0" tIns="0" rIns="0" bIns="0" rtlCol="0" anchor="t"/>
          <a:lstStyle/>
          <a:p>
            <a:pPr indent="0" marL="0">
              <a:buNone/>
            </a:pPr>
            <a:r>
              <a:rPr lang="en-US" sz="2000" dirty="0">
                <a:solidFill>
                  <a:schemeClr val="tx1"/>
                </a:solidFill>
              </a:rPr>
              <a:t>La fiche présente le poste visé.</a:t>
            </a:r>
            <a:endParaRPr lang="en-US" sz="2000" dirty="0"/>
          </a:p>
        </p:txBody>
      </p:sp>
      <p:sp>
        <p:nvSpPr>
          <p:cNvPr id="9" name="Carte"/>
          <p:cNvSpPr/>
          <p:nvPr/>
        </p:nvSpPr>
        <p:spPr>
          <a:xfrm>
            <a:off x="6278728" y="1463040"/>
            <a:ext cx="5364328" cy="3566160"/>
          </a:xfrm>
          <a:prstGeom prst="roundRect">
            <a:avLst>
              <a:gd name="adj" fmla="val 3077"/>
            </a:avLst>
          </a:prstGeom>
          <a:solidFill>
            <a:schemeClr val="accent2">
              <a:alpha val="15000"/>
            </a:schemeClr>
          </a:solidFill>
          <a:ln w="15875">
            <a:solidFill>
              <a:schemeClr val="accent2"/>
            </a:solidFill>
            <a:prstDash val="solid"/>
          </a:ln>
        </p:spPr>
      </p:sp>
      <p:sp>
        <p:nvSpPr>
          <p:cNvPr id="10" name="Badge icône"/>
          <p:cNvSpPr/>
          <p:nvPr/>
        </p:nvSpPr>
        <p:spPr>
          <a:xfrm>
            <a:off x="6553048" y="1691640"/>
            <a:ext cx="685800" cy="685800"/>
          </a:xfrm>
          <a:prstGeom prst="ellipse">
            <a:avLst/>
          </a:prstGeom>
          <a:solidFill>
            <a:srgbClr val="F5A524"/>
          </a:solidFill>
          <a:ln w="12700">
            <a:solidFill>
              <a:srgbClr val="F5A524"/>
            </a:solidFill>
            <a:prstDash val="solid"/>
          </a:ln>
        </p:spPr>
      </p:sp>
      <p:pic>
        <p:nvPicPr>
          <p:cNvPr id="11" name="Image 1" descr="FaLightbulb">    </p:cNvPr>
          <p:cNvPicPr>
            <a:picLocks noChangeAspect="1"/>
          </p:cNvPicPr>
          <p:nvPr/>
        </p:nvPicPr>
        <p:blipFill>
          <a:blip r:embed="rId2"/>
          <a:stretch>
            <a:fillRect/>
          </a:stretch>
        </p:blipFill>
        <p:spPr>
          <a:xfrm>
            <a:off x="6717640" y="1856232"/>
            <a:ext cx="356616" cy="356616"/>
          </a:xfrm>
          <a:prstGeom prst="rect">
            <a:avLst/>
          </a:prstGeom>
        </p:spPr>
      </p:pic>
      <p:sp>
        <p:nvSpPr>
          <p:cNvPr id="12" name="Text 8"/>
          <p:cNvSpPr txBox="1"/>
          <p:nvPr/>
        </p:nvSpPr>
        <p:spPr>
          <a:xfrm>
            <a:off x="7421728" y="1691640"/>
            <a:ext cx="3992728" cy="685800"/>
          </a:xfrm>
          <a:prstGeom prst="rect">
            <a:avLst/>
          </a:prstGeom>
          <a:noFill/>
          <a:ln/>
        </p:spPr>
        <p:txBody>
          <a:bodyPr wrap="square" lIns="0" tIns="0" rIns="0" bIns="0" rtlCol="0" anchor="ctr"/>
          <a:lstStyle/>
          <a:p>
            <a:pPr indent="0" marL="0">
              <a:buNone/>
            </a:pPr>
            <a:r>
              <a:rPr lang="en-US" sz="2000" b="1" dirty="0">
                <a:solidFill>
                  <a:schemeClr val="tx2"/>
                </a:solidFill>
              </a:rPr>
              <a:t>Je vise mon activité (entrepreneur)</a:t>
            </a:r>
            <a:endParaRPr lang="en-US" sz="2000" dirty="0"/>
          </a:p>
        </p:txBody>
      </p:sp>
      <p:sp>
        <p:nvSpPr>
          <p:cNvPr id="13" name="Text 9"/>
          <p:cNvSpPr txBox="1"/>
          <p:nvPr/>
        </p:nvSpPr>
        <p:spPr>
          <a:xfrm>
            <a:off x="6598768" y="2606040"/>
            <a:ext cx="4724248" cy="2286000"/>
          </a:xfrm>
          <a:prstGeom prst="rect">
            <a:avLst/>
          </a:prstGeom>
          <a:noFill/>
          <a:ln/>
        </p:spPr>
        <p:txBody>
          <a:bodyPr wrap="square" lIns="0" tIns="0" rIns="0" bIns="0" rtlCol="0" anchor="t"/>
          <a:lstStyle/>
          <a:p>
            <a:pPr indent="0" marL="0">
              <a:buNone/>
            </a:pPr>
            <a:r>
              <a:rPr lang="en-US" sz="2000" dirty="0">
                <a:solidFill>
                  <a:schemeClr val="tx1"/>
                </a:solidFill>
              </a:rPr>
              <a:t>La fiche présente mon activité (« Poste ou activité visé(e) »). Le parcours explique d’où vient mon activité.</a:t>
            </a:r>
            <a:endParaRPr lang="en-US" sz="2000" dirty="0"/>
          </a:p>
        </p:txBody>
      </p:sp>
      <p:sp>
        <p:nvSpPr>
          <p:cNvPr id="14" name="Pour aller plus loin"/>
          <p:cNvSpPr/>
          <p:nvPr/>
        </p:nvSpPr>
        <p:spPr>
          <a:xfrm>
            <a:off x="548640" y="5257800"/>
            <a:ext cx="11094415" cy="868680"/>
          </a:xfrm>
          <a:prstGeom prst="roundRect">
            <a:avLst>
              <a:gd name="adj" fmla="val 10526"/>
            </a:avLst>
          </a:prstGeom>
          <a:solidFill>
            <a:schemeClr val="bg2"/>
          </a:solidFill>
          <a:ln w="12700">
            <a:solidFill>
              <a:schemeClr val="accent5"/>
            </a:solidFill>
            <a:prstDash val="solid"/>
          </a:ln>
        </p:spPr>
      </p:sp>
      <p:sp>
        <p:nvSpPr>
          <p:cNvPr id="15" name="Text 11"/>
          <p:cNvSpPr txBox="1"/>
          <p:nvPr/>
        </p:nvSpPr>
        <p:spPr>
          <a:xfrm>
            <a:off x="777240" y="5257800"/>
            <a:ext cx="10637215" cy="868680"/>
          </a:xfrm>
          <a:prstGeom prst="rect">
            <a:avLst/>
          </a:prstGeom>
          <a:noFill/>
          <a:ln/>
        </p:spPr>
        <p:txBody>
          <a:bodyPr wrap="square" lIns="0" tIns="0" rIns="0" bIns="0" rtlCol="0" anchor="ctr"/>
          <a:lstStyle/>
          <a:p>
            <a:pPr indent="0" marL="0">
              <a:buNone/>
            </a:pPr>
            <a:r>
              <a:rPr lang="en-US" sz="1800" b="1" dirty="0">
                <a:solidFill>
                  <a:schemeClr val="tx1"/>
                </a:solidFill>
              </a:rPr>
              <a:t>Pour aller plus loin : </a:t>
            </a:r>
            <a:pPr indent="0" marL="0">
              <a:buNone/>
            </a:pPr>
            <a:r>
              <a:rPr lang="en-US" sz="1800" dirty="0">
                <a:solidFill>
                  <a:schemeClr val="tx1"/>
                </a:solidFill>
              </a:rPr>
              <a:t>Imprimez votre fiche (si une imprimante est disponible) ou envoyez-la par e-mail à un proche.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9</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9</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Ma présentation de 2 minutes</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44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Une présentation orale de 2 minutes (15 points sur 40 pour la fiche profil).</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Présenter ma fiche profil au groupe en 2 minutes, avec clarté et honnêteté.</a:t>
            </a:r>
            <a:endParaRPr lang="en-US" sz="2000" dirty="0"/>
          </a:p>
        </p:txBody>
      </p:sp>
      <p:pic>
        <p:nvPicPr>
          <p:cNvPr id="9" name="Image 0" descr="Ma présentation de 2 minutes">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9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Le tirage au sort et les règles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2334768"/>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L’ordre de passage est tiré au sort.</a:t>
            </a:r>
            <a:endParaRPr lang="en-US" sz="2400" dirty="0"/>
          </a:p>
          <a:p>
            <a:pPr marL="342900" indent="-342900">
              <a:spcAft>
                <a:spcPts val="1000"/>
              </a:spcAft>
              <a:buSzPct val="100000"/>
              <a:buFont typeface="+mj-lt"/>
              <a:buAutoNum type="arabicPeriod" startAt="1"/>
            </a:pPr>
            <a:r>
              <a:rPr lang="en-US" sz="2400" dirty="0">
                <a:solidFill>
                  <a:schemeClr val="tx1"/>
                </a:solidFill>
              </a:rPr>
              <a:t>Chacun parle 2 minutes, debout, devant le groupe, avec sa fiche à l’écran.</a:t>
            </a:r>
            <a:endParaRPr lang="en-US" sz="2400" dirty="0"/>
          </a:p>
          <a:p>
            <a:pPr marL="342900" indent="-342900">
              <a:spcAft>
                <a:spcPts val="1000"/>
              </a:spcAft>
              <a:buSzPct val="100000"/>
              <a:buFont typeface="+mj-lt"/>
              <a:buAutoNum type="arabicPeriod" startAt="1"/>
            </a:pPr>
            <a:r>
              <a:rPr lang="en-US" sz="2400" dirty="0">
                <a:solidFill>
                  <a:schemeClr val="tx1"/>
                </a:solidFill>
              </a:rPr>
              <a:t>À 1 minute 50, le formateur lève la main. À 2 minutes, on applaudit et on passe à la suite.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Microphone">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9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Mes 2 minutes en 4 temps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40 min</a:t>
            </a:r>
            <a:endParaRPr lang="en-US" sz="1800" dirty="0"/>
          </a:p>
        </p:txBody>
      </p:sp>
      <p:sp>
        <p:nvSpPr>
          <p:cNvPr id="6" name="Carte"/>
          <p:cNvSpPr/>
          <p:nvPr/>
        </p:nvSpPr>
        <p:spPr>
          <a:xfrm>
            <a:off x="548640" y="1554480"/>
            <a:ext cx="2286000" cy="3383280"/>
          </a:xfrm>
          <a:prstGeom prst="roundRect">
            <a:avLst>
              <a:gd name="adj" fmla="val 4800"/>
            </a:avLst>
          </a:prstGeom>
          <a:solidFill>
            <a:schemeClr val="bg2"/>
          </a:solidFill>
          <a:ln w="12700">
            <a:solidFill>
              <a:schemeClr val="bg2"/>
            </a:solidFill>
            <a:prstDash val="solid"/>
          </a:ln>
        </p:spPr>
      </p:sp>
      <p:sp>
        <p:nvSpPr>
          <p:cNvPr id="7" name="Text 5"/>
          <p:cNvSpPr txBox="1"/>
          <p:nvPr/>
        </p:nvSpPr>
        <p:spPr>
          <a:xfrm>
            <a:off x="548640" y="1691640"/>
            <a:ext cx="2286000" cy="731520"/>
          </a:xfrm>
          <a:prstGeom prst="rect">
            <a:avLst/>
          </a:prstGeom>
          <a:noFill/>
          <a:ln/>
        </p:spPr>
        <p:txBody>
          <a:bodyPr wrap="square" lIns="0" tIns="0" rIns="0" bIns="0" rtlCol="0" anchor="ctr"/>
          <a:lstStyle/>
          <a:p>
            <a:pPr algn="ctr" indent="0" marL="0">
              <a:buNone/>
            </a:pPr>
            <a:r>
              <a:rPr lang="en-US" sz="4000" b="1" dirty="0">
                <a:solidFill>
                  <a:schemeClr val="accent1"/>
                </a:solidFill>
              </a:rPr>
              <a:t>20 s</a:t>
            </a:r>
            <a:endParaRPr lang="en-US" sz="4000" dirty="0"/>
          </a:p>
        </p:txBody>
      </p:sp>
      <p:sp>
        <p:nvSpPr>
          <p:cNvPr id="8" name="Text 6"/>
          <p:cNvSpPr txBox="1"/>
          <p:nvPr/>
        </p:nvSpPr>
        <p:spPr>
          <a:xfrm>
            <a:off x="731520" y="2514600"/>
            <a:ext cx="1920240" cy="1645920"/>
          </a:xfrm>
          <a:prstGeom prst="rect">
            <a:avLst/>
          </a:prstGeom>
          <a:noFill/>
          <a:ln/>
        </p:spPr>
        <p:txBody>
          <a:bodyPr wrap="square" lIns="0" tIns="0" rIns="0" bIns="0" rtlCol="0" anchor="t"/>
          <a:lstStyle/>
          <a:p>
            <a:pPr algn="ctr" indent="0" marL="0">
              <a:buNone/>
            </a:pPr>
            <a:r>
              <a:rPr lang="en-US" sz="2000" b="1" dirty="0">
                <a:solidFill>
                  <a:schemeClr val="tx2"/>
                </a:solidFill>
              </a:rPr>
              <a:t>Je m’appelle… et je vise…</a:t>
            </a:r>
            <a:endParaRPr lang="en-US" sz="2000" dirty="0"/>
          </a:p>
        </p:txBody>
      </p:sp>
      <p:sp>
        <p:nvSpPr>
          <p:cNvPr id="9" name="Text 7"/>
          <p:cNvSpPr txBox="1"/>
          <p:nvPr/>
        </p:nvSpPr>
        <p:spPr>
          <a:xfrm>
            <a:off x="731520" y="4297680"/>
            <a:ext cx="1920240" cy="457200"/>
          </a:xfrm>
          <a:prstGeom prst="rect">
            <a:avLst/>
          </a:prstGeom>
          <a:noFill/>
          <a:ln/>
        </p:spPr>
        <p:txBody>
          <a:bodyPr wrap="square" lIns="0" tIns="0" rIns="0" bIns="0" rtlCol="0" anchor="ctr"/>
          <a:lstStyle/>
          <a:p>
            <a:pPr algn="ctr" indent="0" marL="0">
              <a:buNone/>
            </a:pPr>
            <a:r>
              <a:rPr lang="en-US" sz="1400" dirty="0">
                <a:solidFill>
                  <a:schemeClr val="accent5"/>
                </a:solidFill>
              </a:rPr>
              <a:t>Nom, poste visé</a:t>
            </a:r>
            <a:endParaRPr lang="en-US" sz="1400" dirty="0"/>
          </a:p>
        </p:txBody>
      </p:sp>
      <p:sp>
        <p:nvSpPr>
          <p:cNvPr id="10" name="Carte"/>
          <p:cNvSpPr/>
          <p:nvPr/>
        </p:nvSpPr>
        <p:spPr>
          <a:xfrm>
            <a:off x="2956530" y="1554480"/>
            <a:ext cx="2834640" cy="3383280"/>
          </a:xfrm>
          <a:prstGeom prst="roundRect">
            <a:avLst>
              <a:gd name="adj" fmla="val 3871"/>
            </a:avLst>
          </a:prstGeom>
          <a:solidFill>
            <a:schemeClr val="bg2"/>
          </a:solidFill>
          <a:ln w="12700">
            <a:solidFill>
              <a:schemeClr val="bg2"/>
            </a:solidFill>
            <a:prstDash val="solid"/>
          </a:ln>
        </p:spPr>
      </p:sp>
      <p:sp>
        <p:nvSpPr>
          <p:cNvPr id="11" name="Text 9"/>
          <p:cNvSpPr txBox="1"/>
          <p:nvPr/>
        </p:nvSpPr>
        <p:spPr>
          <a:xfrm>
            <a:off x="2956530" y="1691640"/>
            <a:ext cx="2834640" cy="731520"/>
          </a:xfrm>
          <a:prstGeom prst="rect">
            <a:avLst/>
          </a:prstGeom>
          <a:noFill/>
          <a:ln/>
        </p:spPr>
        <p:txBody>
          <a:bodyPr wrap="square" lIns="0" tIns="0" rIns="0" bIns="0" rtlCol="0" anchor="ctr"/>
          <a:lstStyle/>
          <a:p>
            <a:pPr algn="ctr" indent="0" marL="0">
              <a:buNone/>
            </a:pPr>
            <a:r>
              <a:rPr lang="en-US" sz="4000" b="1" dirty="0">
                <a:solidFill>
                  <a:schemeClr val="accent1"/>
                </a:solidFill>
              </a:rPr>
              <a:t>30 s</a:t>
            </a:r>
            <a:endParaRPr lang="en-US" sz="4000" dirty="0"/>
          </a:p>
        </p:txBody>
      </p:sp>
      <p:sp>
        <p:nvSpPr>
          <p:cNvPr id="12" name="Text 10"/>
          <p:cNvSpPr txBox="1"/>
          <p:nvPr/>
        </p:nvSpPr>
        <p:spPr>
          <a:xfrm>
            <a:off x="3139410" y="2514600"/>
            <a:ext cx="2468880" cy="1645920"/>
          </a:xfrm>
          <a:prstGeom prst="rect">
            <a:avLst/>
          </a:prstGeom>
          <a:noFill/>
          <a:ln/>
        </p:spPr>
        <p:txBody>
          <a:bodyPr wrap="square" lIns="0" tIns="0" rIns="0" bIns="0" rtlCol="0" anchor="t"/>
          <a:lstStyle/>
          <a:p>
            <a:pPr algn="ctr" indent="0" marL="0">
              <a:buNone/>
            </a:pPr>
            <a:r>
              <a:rPr lang="en-US" sz="2000" b="1" dirty="0">
                <a:solidFill>
                  <a:schemeClr val="tx2"/>
                </a:solidFill>
              </a:rPr>
              <a:t>Ce que fait quelqu’un à ce poste, ce que j’aime</a:t>
            </a:r>
            <a:endParaRPr lang="en-US" sz="2000" dirty="0"/>
          </a:p>
        </p:txBody>
      </p:sp>
      <p:sp>
        <p:nvSpPr>
          <p:cNvPr id="13" name="Text 11"/>
          <p:cNvSpPr txBox="1"/>
          <p:nvPr/>
        </p:nvSpPr>
        <p:spPr>
          <a:xfrm>
            <a:off x="3139410" y="4297680"/>
            <a:ext cx="2468880" cy="457200"/>
          </a:xfrm>
          <a:prstGeom prst="rect">
            <a:avLst/>
          </a:prstGeom>
          <a:noFill/>
          <a:ln/>
        </p:spPr>
        <p:txBody>
          <a:bodyPr wrap="square" lIns="0" tIns="0" rIns="0" bIns="0" rtlCol="0" anchor="ctr"/>
          <a:lstStyle/>
          <a:p>
            <a:pPr algn="ctr" indent="0" marL="0">
              <a:buNone/>
            </a:pPr>
            <a:r>
              <a:rPr lang="en-US" sz="1400" dirty="0">
                <a:solidFill>
                  <a:schemeClr val="accent5"/>
                </a:solidFill>
              </a:rPr>
              <a:t>Zones 5 et 6</a:t>
            </a:r>
            <a:endParaRPr lang="en-US" sz="1400" dirty="0"/>
          </a:p>
        </p:txBody>
      </p:sp>
      <p:sp>
        <p:nvSpPr>
          <p:cNvPr id="14" name="Carte"/>
          <p:cNvSpPr/>
          <p:nvPr/>
        </p:nvSpPr>
        <p:spPr>
          <a:xfrm>
            <a:off x="5913059" y="1554480"/>
            <a:ext cx="3108960" cy="3383280"/>
          </a:xfrm>
          <a:prstGeom prst="roundRect">
            <a:avLst>
              <a:gd name="adj" fmla="val 3529"/>
            </a:avLst>
          </a:prstGeom>
          <a:solidFill>
            <a:schemeClr val="bg2"/>
          </a:solidFill>
          <a:ln w="12700">
            <a:solidFill>
              <a:schemeClr val="bg2"/>
            </a:solidFill>
            <a:prstDash val="solid"/>
          </a:ln>
        </p:spPr>
      </p:sp>
      <p:sp>
        <p:nvSpPr>
          <p:cNvPr id="15" name="Text 13"/>
          <p:cNvSpPr txBox="1"/>
          <p:nvPr/>
        </p:nvSpPr>
        <p:spPr>
          <a:xfrm>
            <a:off x="5913059" y="1691640"/>
            <a:ext cx="3108960" cy="731520"/>
          </a:xfrm>
          <a:prstGeom prst="rect">
            <a:avLst/>
          </a:prstGeom>
          <a:noFill/>
          <a:ln/>
        </p:spPr>
        <p:txBody>
          <a:bodyPr wrap="square" lIns="0" tIns="0" rIns="0" bIns="0" rtlCol="0" anchor="ctr"/>
          <a:lstStyle/>
          <a:p>
            <a:pPr algn="ctr" indent="0" marL="0">
              <a:buNone/>
            </a:pPr>
            <a:r>
              <a:rPr lang="en-US" sz="4000" b="1" dirty="0">
                <a:solidFill>
                  <a:schemeClr val="accent1"/>
                </a:solidFill>
              </a:rPr>
              <a:t>40 s</a:t>
            </a:r>
            <a:endParaRPr lang="en-US" sz="4000" dirty="0"/>
          </a:p>
        </p:txBody>
      </p:sp>
      <p:sp>
        <p:nvSpPr>
          <p:cNvPr id="16" name="Text 14"/>
          <p:cNvSpPr txBox="1"/>
          <p:nvPr/>
        </p:nvSpPr>
        <p:spPr>
          <a:xfrm>
            <a:off x="6095939" y="2514600"/>
            <a:ext cx="2743200" cy="1645920"/>
          </a:xfrm>
          <a:prstGeom prst="rect">
            <a:avLst/>
          </a:prstGeom>
          <a:noFill/>
          <a:ln/>
        </p:spPr>
        <p:txBody>
          <a:bodyPr wrap="square" lIns="0" tIns="0" rIns="0" bIns="0" rtlCol="0" anchor="t"/>
          <a:lstStyle/>
          <a:p>
            <a:pPr algn="ctr" indent="0" marL="0">
              <a:buNone/>
            </a:pPr>
            <a:r>
              <a:rPr lang="en-US" sz="2000" b="1" dirty="0">
                <a:solidFill>
                  <a:schemeClr val="tx2"/>
                </a:solidFill>
              </a:rPr>
              <a:t>Mon parcours et mes 4 mots</a:t>
            </a:r>
            <a:endParaRPr lang="en-US" sz="2000" dirty="0"/>
          </a:p>
        </p:txBody>
      </p:sp>
      <p:sp>
        <p:nvSpPr>
          <p:cNvPr id="17" name="Text 15"/>
          <p:cNvSpPr txBox="1"/>
          <p:nvPr/>
        </p:nvSpPr>
        <p:spPr>
          <a:xfrm>
            <a:off x="6095939" y="4297680"/>
            <a:ext cx="2743200" cy="457200"/>
          </a:xfrm>
          <a:prstGeom prst="rect">
            <a:avLst/>
          </a:prstGeom>
          <a:noFill/>
          <a:ln/>
        </p:spPr>
        <p:txBody>
          <a:bodyPr wrap="square" lIns="0" tIns="0" rIns="0" bIns="0" rtlCol="0" anchor="ctr"/>
          <a:lstStyle/>
          <a:p>
            <a:pPr algn="ctr" indent="0" marL="0">
              <a:buNone/>
            </a:pPr>
            <a:r>
              <a:rPr lang="en-US" sz="1400" dirty="0">
                <a:solidFill>
                  <a:schemeClr val="accent5"/>
                </a:solidFill>
              </a:rPr>
              <a:t>Zones 7 et 8</a:t>
            </a:r>
            <a:endParaRPr lang="en-US" sz="1400" dirty="0"/>
          </a:p>
        </p:txBody>
      </p:sp>
      <p:sp>
        <p:nvSpPr>
          <p:cNvPr id="18" name="Carte"/>
          <p:cNvSpPr/>
          <p:nvPr/>
        </p:nvSpPr>
        <p:spPr>
          <a:xfrm>
            <a:off x="9143909" y="1554480"/>
            <a:ext cx="2468880" cy="3383280"/>
          </a:xfrm>
          <a:prstGeom prst="roundRect">
            <a:avLst>
              <a:gd name="adj" fmla="val 4444"/>
            </a:avLst>
          </a:prstGeom>
          <a:solidFill>
            <a:schemeClr val="tx2"/>
          </a:solidFill>
          <a:ln w="12700">
            <a:solidFill>
              <a:schemeClr val="tx2"/>
            </a:solidFill>
            <a:prstDash val="solid"/>
          </a:ln>
        </p:spPr>
      </p:sp>
      <p:sp>
        <p:nvSpPr>
          <p:cNvPr id="19" name="Text 17"/>
          <p:cNvSpPr txBox="1"/>
          <p:nvPr/>
        </p:nvSpPr>
        <p:spPr>
          <a:xfrm>
            <a:off x="9143909" y="1691640"/>
            <a:ext cx="2468880" cy="731520"/>
          </a:xfrm>
          <a:prstGeom prst="rect">
            <a:avLst/>
          </a:prstGeom>
          <a:noFill/>
          <a:ln/>
        </p:spPr>
        <p:txBody>
          <a:bodyPr wrap="square" lIns="0" tIns="0" rIns="0" bIns="0" rtlCol="0" anchor="ctr"/>
          <a:lstStyle/>
          <a:p>
            <a:pPr algn="ctr" indent="0" marL="0">
              <a:buNone/>
            </a:pPr>
            <a:r>
              <a:rPr lang="en-US" sz="4000" b="1" dirty="0">
                <a:solidFill>
                  <a:schemeClr val="bg1"/>
                </a:solidFill>
              </a:rPr>
              <a:t>30 s</a:t>
            </a:r>
            <a:endParaRPr lang="en-US" sz="4000" dirty="0"/>
          </a:p>
        </p:txBody>
      </p:sp>
      <p:sp>
        <p:nvSpPr>
          <p:cNvPr id="20" name="Text 18"/>
          <p:cNvSpPr txBox="1"/>
          <p:nvPr/>
        </p:nvSpPr>
        <p:spPr>
          <a:xfrm>
            <a:off x="9326789" y="2514600"/>
            <a:ext cx="2103120" cy="1645920"/>
          </a:xfrm>
          <a:prstGeom prst="rect">
            <a:avLst/>
          </a:prstGeom>
          <a:noFill/>
          <a:ln/>
        </p:spPr>
        <p:txBody>
          <a:bodyPr wrap="square" lIns="0" tIns="0" rIns="0" bIns="0" rtlCol="0" anchor="t"/>
          <a:lstStyle/>
          <a:p>
            <a:pPr algn="ctr" indent="0" marL="0">
              <a:buNone/>
            </a:pPr>
            <a:r>
              <a:rPr lang="en-US" sz="2000" b="1" dirty="0">
                <a:solidFill>
                  <a:schemeClr val="bg1"/>
                </a:solidFill>
              </a:rPr>
              <a:t>Ce que j’ai vérifié et corrigé avec l’IA</a:t>
            </a:r>
            <a:endParaRPr lang="en-US" sz="2000" dirty="0"/>
          </a:p>
        </p:txBody>
      </p:sp>
      <p:sp>
        <p:nvSpPr>
          <p:cNvPr id="21" name="Text 19"/>
          <p:cNvSpPr txBox="1"/>
          <p:nvPr/>
        </p:nvSpPr>
        <p:spPr>
          <a:xfrm>
            <a:off x="9326789" y="4297680"/>
            <a:ext cx="2103120" cy="457200"/>
          </a:xfrm>
          <a:prstGeom prst="rect">
            <a:avLst/>
          </a:prstGeom>
          <a:noFill/>
          <a:ln/>
        </p:spPr>
        <p:txBody>
          <a:bodyPr wrap="square" lIns="0" tIns="0" rIns="0" bIns="0" rtlCol="0" anchor="ctr"/>
          <a:lstStyle/>
          <a:p>
            <a:pPr algn="ctr" indent="0" marL="0">
              <a:buNone/>
            </a:pPr>
            <a:r>
              <a:rPr lang="en-US" sz="1400" dirty="0">
                <a:solidFill>
                  <a:schemeClr val="bg2"/>
                </a:solidFill>
              </a:rPr>
              <a:t>Zones 3 et 10</a:t>
            </a:r>
            <a:endParaRPr lang="en-US" sz="1400" dirty="0"/>
          </a:p>
        </p:txBody>
      </p:sp>
      <p:sp>
        <p:nvSpPr>
          <p:cNvPr id="22" name="Text 20"/>
          <p:cNvSpPr txBox="1"/>
          <p:nvPr/>
        </p:nvSpPr>
        <p:spPr>
          <a:xfrm>
            <a:off x="548640" y="5303520"/>
            <a:ext cx="11094415" cy="822960"/>
          </a:xfrm>
          <a:prstGeom prst="rect">
            <a:avLst/>
          </a:prstGeom>
          <a:noFill/>
          <a:ln/>
        </p:spPr>
        <p:txBody>
          <a:bodyPr wrap="square" lIns="0" tIns="0" rIns="0" bIns="0" rtlCol="0" anchor="ctr"/>
          <a:lstStyle/>
          <a:p>
            <a:pPr indent="0" marL="0">
              <a:buNone/>
            </a:pPr>
            <a:r>
              <a:rPr lang="en-US" sz="2000" dirty="0">
                <a:solidFill>
                  <a:schemeClr val="tx1"/>
                </a:solidFill>
              </a:rPr>
              <a:t>Public : je note le prénom de 3 camarades et UNE chose retenue pour chacun. Pas de questions : on tient le temps.</a:t>
            </a:r>
            <a:endParaRPr lang="en-US" sz="20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9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Les transitions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091184"/>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Le prochain se lève pendant l’applaudissement.</a:t>
            </a:r>
            <a:endParaRPr lang="en-US" sz="2400" dirty="0"/>
          </a:p>
          <a:p>
            <a:pPr marL="342900" indent="-342900">
              <a:spcAft>
                <a:spcPts val="1000"/>
              </a:spcAft>
              <a:buSzPct val="100000"/>
              <a:buFont typeface="+mj-lt"/>
              <a:buAutoNum type="arabicPeriod" startAt="1"/>
            </a:pPr>
            <a:r>
              <a:rPr lang="en-US" sz="2400" dirty="0">
                <a:solidFill>
                  <a:schemeClr val="tx1"/>
                </a:solidFill>
              </a:rPr>
              <a:t>Sa fiche est déjà ouverte.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Microphone">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9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présenté en 4 temps.</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respecté les 2 minutes.</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regardé le groupe.</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dit ce que j’ai vérifié ou corrigé.</a:t>
            </a:r>
            <a:endParaRPr lang="en-US" sz="1800" dirty="0"/>
          </a:p>
        </p:txBody>
      </p:sp>
      <p:sp>
        <p:nvSpPr>
          <p:cNvPr id="20" name="Version courte"/>
          <p:cNvSpPr/>
          <p:nvPr/>
        </p:nvSpPr>
        <p:spPr>
          <a:xfrm>
            <a:off x="548640" y="5486400"/>
            <a:ext cx="11094415" cy="685800"/>
          </a:xfrm>
          <a:prstGeom prst="roundRect">
            <a:avLst>
              <a:gd name="adj" fmla="val 13333"/>
            </a:avLst>
          </a:prstGeom>
          <a:solidFill>
            <a:schemeClr val="accent3">
              <a:alpha val="18000"/>
            </a:schemeClr>
          </a:solidFill>
          <a:ln w="15875">
            <a:solidFill>
              <a:schemeClr val="accent3"/>
            </a:solidFill>
            <a:prstDash val="solid"/>
          </a:ln>
        </p:spPr>
      </p:sp>
      <p:sp>
        <p:nvSpPr>
          <p:cNvPr id="21" name="Text 15"/>
          <p:cNvSpPr txBox="1"/>
          <p:nvPr/>
        </p:nvSpPr>
        <p:spPr>
          <a:xfrm>
            <a:off x="777240" y="5486400"/>
            <a:ext cx="10637215" cy="685800"/>
          </a:xfrm>
          <a:prstGeom prst="rect">
            <a:avLst/>
          </a:prstGeom>
          <a:noFill/>
          <a:ln/>
        </p:spPr>
        <p:txBody>
          <a:bodyPr wrap="square" lIns="0" tIns="0" rIns="0" bIns="0" rtlCol="0" anchor="ctr"/>
          <a:lstStyle/>
          <a:p>
            <a:pPr indent="0" marL="0">
              <a:buNone/>
            </a:pPr>
            <a:r>
              <a:rPr lang="en-US" sz="1800" b="1" dirty="0">
                <a:solidFill>
                  <a:schemeClr val="tx1"/>
                </a:solidFill>
              </a:rPr>
              <a:t>Version courte : </a:t>
            </a:r>
            <a:pPr indent="0" marL="0">
              <a:buNone/>
            </a:pPr>
            <a:r>
              <a:rPr lang="en-US" sz="1800" dirty="0">
                <a:solidFill>
                  <a:schemeClr val="tx1"/>
                </a:solidFill>
              </a:rPr>
              <a:t>Je dis mon nom, mon poste visé, et une chose que j’ai corrigée.</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548640" y="1097280"/>
            <a:ext cx="3291840" cy="3108960"/>
          </a:xfrm>
          <a:prstGeom prst="rect">
            <a:avLst/>
          </a:prstGeom>
          <a:noFill/>
          <a:ln/>
        </p:spPr>
        <p:txBody>
          <a:bodyPr wrap="square" lIns="0" tIns="0" rIns="0" bIns="0" rtlCol="0" anchor="ctr"/>
          <a:lstStyle/>
          <a:p>
            <a:pPr algn="ctr" indent="0" marL="0">
              <a:buNone/>
            </a:pPr>
            <a:r>
              <a:rPr lang="en-US" sz="20000" b="1" dirty="0">
                <a:solidFill>
                  <a:schemeClr val="accent1"/>
                </a:solidFill>
              </a:rPr>
              <a:t>10</a:t>
            </a:r>
            <a:endParaRPr lang="en-US" sz="20000" dirty="0"/>
          </a:p>
        </p:txBody>
      </p:sp>
      <p:sp>
        <p:nvSpPr>
          <p:cNvPr id="3" name="Text 1"/>
          <p:cNvSpPr txBox="1"/>
          <p:nvPr/>
        </p:nvSpPr>
        <p:spPr>
          <a:xfrm>
            <a:off x="4206240" y="1554480"/>
            <a:ext cx="7315200" cy="365760"/>
          </a:xfrm>
          <a:prstGeom prst="rect">
            <a:avLst/>
          </a:prstGeom>
          <a:noFill/>
          <a:ln/>
        </p:spPr>
        <p:txBody>
          <a:bodyPr wrap="square" lIns="0" tIns="0" rIns="0" bIns="0" rtlCol="0" anchor="ctr"/>
          <a:lstStyle/>
          <a:p>
            <a:pPr indent="0" marL="0">
              <a:buNone/>
            </a:pPr>
            <a:r>
              <a:rPr lang="en-US" sz="1600" b="1" spc="300" kern="0" dirty="0">
                <a:solidFill>
                  <a:schemeClr val="bg2"/>
                </a:solidFill>
              </a:rPr>
              <a:t>PARTIE 10</a:t>
            </a:r>
            <a:endParaRPr lang="en-US" sz="1600" dirty="0"/>
          </a:p>
        </p:txBody>
      </p:sp>
      <p:sp>
        <p:nvSpPr>
          <p:cNvPr id="4" name="Text 0"/>
          <p:cNvSpPr/>
          <p:nvPr>
            <p:ph idx="100" type="title" hasCustomPrompt="1"/>
          </p:nvPr>
        </p:nvSpPr>
        <p:spPr>
          <a:xfrm>
            <a:off x="4206240" y="2194560"/>
            <a:ext cx="7406640" cy="1645920"/>
          </a:xfrm>
          <a:prstGeom prst="rect">
            <a:avLst/>
          </a:prstGeom>
          <a:noFill/>
          <a:ln/>
        </p:spPr>
        <p:txBody>
          <a:bodyPr wrap="square" lIns="0" tIns="0" rIns="0" bIns="0" rtlCol="0" anchor="ctr"/>
          <a:lstStyle/>
          <a:p>
            <a:pPr algn="l" indent="0" marL="0">
              <a:buNone/>
            </a:pPr>
            <a:r>
              <a:rPr lang="en-US" sz="4000" b="1" dirty="0">
                <a:solidFill>
                  <a:schemeClr val="bg1"/>
                </a:solidFill>
              </a:rPr>
              <a:t>Bilan et suite</a:t>
            </a:r>
            <a:endParaRPr lang="en-US" sz="4000" dirty="0"/>
          </a:p>
        </p:txBody>
      </p:sp>
      <p:sp>
        <p:nvSpPr>
          <p:cNvPr id="5" name="Durée"/>
          <p:cNvSpPr/>
          <p:nvPr/>
        </p:nvSpPr>
        <p:spPr>
          <a:xfrm>
            <a:off x="4206240" y="4114800"/>
            <a:ext cx="1645920" cy="502920"/>
          </a:xfrm>
          <a:prstGeom prst="roundRect">
            <a:avLst>
              <a:gd name="adj" fmla="val 49091"/>
            </a:avLst>
          </a:prstGeom>
          <a:solidFill>
            <a:schemeClr val="accent1"/>
          </a:solidFill>
          <a:ln w="12700">
            <a:solidFill>
              <a:schemeClr val="accent1"/>
            </a:solidFill>
            <a:prstDash val="solid"/>
          </a:ln>
        </p:spPr>
      </p:sp>
      <p:sp>
        <p:nvSpPr>
          <p:cNvPr id="6" name="Text 4"/>
          <p:cNvSpPr txBox="1"/>
          <p:nvPr/>
        </p:nvSpPr>
        <p:spPr>
          <a:xfrm>
            <a:off x="4206240" y="4114800"/>
            <a:ext cx="1645920" cy="502920"/>
          </a:xfrm>
          <a:prstGeom prst="rect">
            <a:avLst/>
          </a:prstGeom>
          <a:noFill/>
          <a:ln/>
        </p:spPr>
        <p:txBody>
          <a:bodyPr wrap="square" lIns="0" tIns="0" rIns="0" bIns="0" rtlCol="0" anchor="ctr"/>
          <a:lstStyle/>
          <a:p>
            <a:pPr algn="ctr" indent="0" marL="0">
              <a:buNone/>
            </a:pPr>
            <a:r>
              <a:rPr lang="en-US" sz="2000" b="1" dirty="0">
                <a:solidFill>
                  <a:schemeClr val="bg1"/>
                </a:solidFill>
              </a:rPr>
              <a:t>8 min</a:t>
            </a:r>
            <a:endParaRPr lang="en-US" sz="2000" dirty="0"/>
          </a:p>
        </p:txBody>
      </p:sp>
      <p:sp>
        <p:nvSpPr>
          <p:cNvPr id="7" name="Text 5"/>
          <p:cNvSpPr txBox="1"/>
          <p:nvPr/>
        </p:nvSpPr>
        <p:spPr>
          <a:xfrm>
            <a:off x="6126480" y="4114800"/>
            <a:ext cx="5486400" cy="502920"/>
          </a:xfrm>
          <a:prstGeom prst="rect">
            <a:avLst/>
          </a:prstGeom>
          <a:noFill/>
          <a:ln/>
        </p:spPr>
        <p:txBody>
          <a:bodyPr wrap="square" lIns="0" tIns="0" rIns="0" bIns="0" rtlCol="0" anchor="ctr"/>
          <a:lstStyle/>
          <a:p>
            <a:pPr indent="0" marL="0">
              <a:buNone/>
            </a:pPr>
            <a:r>
              <a:rPr lang="en-US" sz="1800" b="1" dirty="0">
                <a:solidFill>
                  <a:schemeClr val="bg1"/>
                </a:solidFill>
              </a:rPr>
              <a:t>Je rends : </a:t>
            </a:r>
            <a:pPr indent="0" marL="0">
              <a:buNone/>
            </a:pPr>
            <a:r>
              <a:rPr lang="en-US" sz="1800" dirty="0">
                <a:solidFill>
                  <a:schemeClr val="bg1"/>
                </a:solidFill>
              </a:rPr>
              <a:t>Ma pochette de fichiers envoyée à mon e-mail ou à mon Drive, mon poste nettoyé, ma présence signée.</a:t>
            </a:r>
            <a:endParaRPr lang="en-US" sz="1800" dirty="0"/>
          </a:p>
        </p:txBody>
      </p:sp>
      <p:sp>
        <p:nvSpPr>
          <p:cNvPr id="8" name="Text 6"/>
          <p:cNvSpPr txBox="1"/>
          <p:nvPr/>
        </p:nvSpPr>
        <p:spPr>
          <a:xfrm>
            <a:off x="4206240" y="4937760"/>
            <a:ext cx="7406640" cy="1005840"/>
          </a:xfrm>
          <a:prstGeom prst="rect">
            <a:avLst/>
          </a:prstGeom>
          <a:noFill/>
          <a:ln/>
        </p:spPr>
        <p:txBody>
          <a:bodyPr wrap="square" lIns="0" tIns="0" rIns="0" bIns="0" rtlCol="0" anchor="t"/>
          <a:lstStyle/>
          <a:p>
            <a:pPr indent="0" marL="0">
              <a:buNone/>
            </a:pPr>
            <a:r>
              <a:rPr lang="en-US" sz="2000" dirty="0">
                <a:solidFill>
                  <a:schemeClr val="bg2"/>
                </a:solidFill>
              </a:rPr>
              <a:t>Garder une trace de ce que j’ai appris, sauvegarder mes fichiers et protéger mes informations.</a:t>
            </a:r>
            <a:endParaRPr lang="en-US" sz="2000" dirty="0"/>
          </a:p>
        </p:txBody>
      </p:sp>
      <p:pic>
        <p:nvPicPr>
          <p:cNvPr id="9" name="Image 0" descr="Bilan et suite">    </p:cNvPr>
          <p:cNvPicPr>
            <a:picLocks noChangeAspect="1"/>
          </p:cNvPicPr>
          <p:nvPr/>
        </p:nvPicPr>
        <p:blipFill>
          <a:blip r:embed="rId1"/>
          <a:stretch>
            <a:fillRect/>
          </a:stretch>
        </p:blipFill>
        <p:spPr>
          <a:xfrm>
            <a:off x="10698480" y="548640"/>
            <a:ext cx="822960" cy="822960"/>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bg2"/>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10 · ÉTAPE 1</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1 — Mon bilan en 3 phrases</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1591056"/>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Je retiens… (une chose apprise).</a:t>
            </a:r>
            <a:endParaRPr lang="en-US" sz="2400" dirty="0"/>
          </a:p>
          <a:p>
            <a:pPr marL="342900" indent="-342900">
              <a:spcAft>
                <a:spcPts val="1000"/>
              </a:spcAft>
              <a:buSzPct val="100000"/>
              <a:buFont typeface="+mj-lt"/>
              <a:buAutoNum type="arabicPeriod" startAt="1"/>
            </a:pPr>
            <a:r>
              <a:rPr lang="en-US" sz="2400" dirty="0">
                <a:solidFill>
                  <a:schemeClr val="tx1"/>
                </a:solidFill>
              </a:rPr>
              <a:t>Demain, je vais… (une action).</a:t>
            </a:r>
            <a:endParaRPr lang="en-US" sz="2400" dirty="0"/>
          </a:p>
          <a:p>
            <a:pPr marL="342900" indent="-342900">
              <a:spcAft>
                <a:spcPts val="1000"/>
              </a:spcAft>
              <a:buSzPct val="100000"/>
              <a:buFont typeface="+mj-lt"/>
              <a:buAutoNum type="arabicPeriod" startAt="1"/>
            </a:pPr>
            <a:r>
              <a:rPr lang="en-US" sz="2400" dirty="0">
                <a:solidFill>
                  <a:schemeClr val="tx1"/>
                </a:solidFill>
              </a:rPr>
              <a:t>Ma règle d’or reste… (l’IA propose, je décide).</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heckCircle">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10 · ÉTAPE 2</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2 — J’envoie mes fichiers à mon e-mail ou à mon Drive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3 min</a:t>
            </a:r>
            <a:endParaRPr lang="en-US" sz="1800" dirty="0"/>
          </a:p>
        </p:txBody>
      </p:sp>
      <p:sp>
        <p:nvSpPr>
          <p:cNvPr id="6" name="Text 4"/>
          <p:cNvSpPr txBox="1"/>
          <p:nvPr/>
        </p:nvSpPr>
        <p:spPr>
          <a:xfrm>
            <a:off x="548640" y="1463040"/>
            <a:ext cx="8991295" cy="307848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Envoyez-vous les 7 fichiers de votre dossier M3_NOM_Prénom (Annexe E).</a:t>
            </a:r>
            <a:endParaRPr lang="en-US" sz="2400" dirty="0"/>
          </a:p>
          <a:p>
            <a:pPr marL="342900" indent="-342900">
              <a:spcAft>
                <a:spcPts val="1000"/>
              </a:spcAft>
              <a:buSzPct val="100000"/>
              <a:buFont typeface="+mj-lt"/>
              <a:buAutoNum type="arabicPeriod" startAt="1"/>
            </a:pPr>
            <a:r>
              <a:rPr lang="en-US" sz="2400" dirty="0">
                <a:solidFill>
                  <a:schemeClr val="tx1"/>
                </a:solidFill>
              </a:rPr>
              <a:t>Déposez une copie des 6 autres fichiers dans le dossier du formateur : elle sert à noter votre travail, puis elle est supprimée.</a:t>
            </a:r>
            <a:endParaRPr lang="en-US" sz="2400" dirty="0"/>
          </a:p>
          <a:p>
            <a:pPr marL="342900" indent="-342900">
              <a:spcAft>
                <a:spcPts val="1000"/>
              </a:spcAft>
              <a:buSzPct val="100000"/>
              <a:buFont typeface="+mj-lt"/>
              <a:buAutoNum type="arabicPeriod" startAt="1"/>
            </a:pPr>
            <a:r>
              <a:rPr lang="en-US" sz="2400" dirty="0">
                <a:solidFill>
                  <a:schemeClr val="tx1"/>
                </a:solidFill>
              </a:rPr>
              <a:t>Vérifiez dans votre boîte que les fichiers sont bien arrivés.</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heckCircle">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10 · ÉTAPE 3</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3 — Je nettoie le poste</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1 min</a:t>
            </a:r>
            <a:endParaRPr lang="en-US" sz="1800" dirty="0"/>
          </a:p>
        </p:txBody>
      </p:sp>
      <p:sp>
        <p:nvSpPr>
          <p:cNvPr id="6" name="Text 4"/>
          <p:cNvSpPr txBox="1"/>
          <p:nvPr/>
        </p:nvSpPr>
        <p:spPr>
          <a:xfrm>
            <a:off x="548640" y="1463040"/>
            <a:ext cx="8991295" cy="1962912"/>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Supprimez votre dossier M3_NOM_Prénom du Bureau et de la corbeille.</a:t>
            </a:r>
            <a:endParaRPr lang="en-US" sz="2400" dirty="0"/>
          </a:p>
          <a:p>
            <a:pPr marL="342900" indent="-342900">
              <a:spcAft>
                <a:spcPts val="1000"/>
              </a:spcAft>
              <a:buSzPct val="100000"/>
              <a:buFont typeface="+mj-lt"/>
              <a:buAutoNum type="arabicPeriod" startAt="1"/>
            </a:pPr>
            <a:r>
              <a:rPr lang="en-US" sz="2400" dirty="0">
                <a:solidFill>
                  <a:schemeClr val="tx1"/>
                </a:solidFill>
              </a:rPr>
              <a:t>Déconnectez-vous de Claude, de Gemini et de Google.</a:t>
            </a:r>
            <a:endParaRPr lang="en-US" sz="2400" dirty="0"/>
          </a:p>
          <a:p>
            <a:pPr marL="342900" indent="-342900">
              <a:spcAft>
                <a:spcPts val="1000"/>
              </a:spcAft>
              <a:buSzPct val="100000"/>
              <a:buFont typeface="+mj-lt"/>
              <a:buAutoNum type="arabicPeriod" startAt="1"/>
            </a:pPr>
            <a:r>
              <a:rPr lang="en-US" sz="2400" dirty="0">
                <a:solidFill>
                  <a:schemeClr val="tx1"/>
                </a:solidFill>
              </a:rPr>
              <a:t>Fermez les navigateurs.</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heckCircle">    </p:cNvPr>
          <p:cNvPicPr>
            <a:picLocks noChangeAspect="1"/>
          </p:cNvPicPr>
          <p:nvPr/>
        </p:nvPicPr>
        <p:blipFill>
          <a:blip r:embed="rId1"/>
          <a:stretch>
            <a:fillRect/>
          </a:stretch>
        </p:blipFill>
        <p:spPr>
          <a:xfrm>
            <a:off x="10392156" y="1903781"/>
            <a:ext cx="855878" cy="855878"/>
          </a:xfrm>
          <a:prstGeom prst="rect">
            <a:avLst/>
          </a:prstGeom>
        </p:spPr>
      </p:pic>
      <p:sp>
        <p:nvSpPr>
          <p:cNvPr id="9" name="Attention"/>
          <p:cNvSpPr/>
          <p:nvPr/>
        </p:nvSpPr>
        <p:spPr>
          <a:xfrm>
            <a:off x="548640" y="3608832"/>
            <a:ext cx="11094415" cy="877824"/>
          </a:xfrm>
          <a:prstGeom prst="roundRect">
            <a:avLst>
              <a:gd name="adj" fmla="val 10417"/>
            </a:avLst>
          </a:prstGeom>
          <a:solidFill>
            <a:schemeClr val="accent2">
              <a:alpha val="20000"/>
            </a:schemeClr>
          </a:solidFill>
          <a:ln w="15875">
            <a:solidFill>
              <a:schemeClr val="accent2"/>
            </a:solidFill>
            <a:prstDash val="solid"/>
          </a:ln>
        </p:spPr>
      </p:sp>
      <p:pic>
        <p:nvPicPr>
          <p:cNvPr id="10" name="Image 1" descr="Attention">    </p:cNvPr>
          <p:cNvPicPr>
            <a:picLocks noChangeAspect="1"/>
          </p:cNvPicPr>
          <p:nvPr/>
        </p:nvPicPr>
        <p:blipFill>
          <a:blip r:embed="rId2"/>
          <a:stretch>
            <a:fillRect/>
          </a:stretch>
        </p:blipFill>
        <p:spPr>
          <a:xfrm>
            <a:off x="777240" y="3842004"/>
            <a:ext cx="411480" cy="411480"/>
          </a:xfrm>
          <a:prstGeom prst="rect">
            <a:avLst/>
          </a:prstGeom>
        </p:spPr>
      </p:pic>
      <p:sp>
        <p:nvSpPr>
          <p:cNvPr id="11" name="Text 7"/>
          <p:cNvSpPr txBox="1"/>
          <p:nvPr/>
        </p:nvSpPr>
        <p:spPr>
          <a:xfrm>
            <a:off x="1417320" y="3608832"/>
            <a:ext cx="9997135" cy="877824"/>
          </a:xfrm>
          <a:prstGeom prst="rect">
            <a:avLst/>
          </a:prstGeom>
          <a:noFill/>
          <a:ln/>
        </p:spPr>
        <p:txBody>
          <a:bodyPr wrap="square" lIns="0" tIns="0" rIns="0" bIns="0" rtlCol="0" anchor="ctr"/>
          <a:lstStyle/>
          <a:p>
            <a:pPr indent="0" marL="0">
              <a:buNone/>
            </a:pPr>
            <a:r>
              <a:rPr lang="en-US" sz="1800" b="1" dirty="0">
                <a:solidFill>
                  <a:schemeClr val="tx1"/>
                </a:solidFill>
              </a:rPr>
              <a:t>Attention : </a:t>
            </a:r>
            <a:pPr indent="0" marL="0">
              <a:buNone/>
            </a:pPr>
            <a:r>
              <a:rPr lang="en-US" sz="1800" dirty="0">
                <a:solidFill>
                  <a:schemeClr val="tx1"/>
                </a:solidFill>
              </a:rPr>
              <a:t>Le poste sera utilisé par un autre groupe. Vos informations personnelles ne doivent pas y rester.</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10 · ÉTAPE 4</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Étape 4 — Signature et au revoir</a:t>
            </a:r>
            <a:endParaRPr lang="en-US" sz="2800" dirty="0"/>
          </a:p>
        </p:txBody>
      </p:sp>
      <p:sp>
        <p:nvSpPr>
          <p:cNvPr id="4" name="Pastille durée"/>
          <p:cNvSpPr/>
          <p:nvPr/>
        </p:nvSpPr>
        <p:spPr>
          <a:xfrm>
            <a:off x="10314432" y="502920"/>
            <a:ext cx="1325880" cy="502920"/>
          </a:xfrm>
          <a:prstGeom prst="roundRect">
            <a:avLst>
              <a:gd name="adj" fmla="val 49091"/>
            </a:avLst>
          </a:prstGeom>
          <a:solidFill>
            <a:schemeClr val="accent1"/>
          </a:solidFill>
          <a:ln w="12700">
            <a:solidFill>
              <a:schemeClr val="accent1"/>
            </a:solidFill>
            <a:prstDash val="solid"/>
          </a:ln>
        </p:spPr>
      </p:sp>
      <p:sp>
        <p:nvSpPr>
          <p:cNvPr id="5" name="Text 3"/>
          <p:cNvSpPr txBox="1"/>
          <p:nvPr/>
        </p:nvSpPr>
        <p:spPr>
          <a:xfrm>
            <a:off x="10314432" y="502920"/>
            <a:ext cx="1325880" cy="502920"/>
          </a:xfrm>
          <a:prstGeom prst="rect">
            <a:avLst/>
          </a:prstGeom>
          <a:noFill/>
          <a:ln/>
        </p:spPr>
        <p:txBody>
          <a:bodyPr wrap="square" lIns="0" tIns="0" rIns="0" bIns="0" rtlCol="0" anchor="ctr"/>
          <a:lstStyle/>
          <a:p>
            <a:pPr algn="ctr" indent="0" marL="0">
              <a:buNone/>
            </a:pPr>
            <a:r>
              <a:rPr lang="en-US" sz="1800" b="1" dirty="0">
                <a:solidFill>
                  <a:schemeClr val="bg1"/>
                </a:solidFill>
              </a:rPr>
              <a:t>2 min</a:t>
            </a:r>
            <a:endParaRPr lang="en-US" sz="1800" dirty="0"/>
          </a:p>
        </p:txBody>
      </p:sp>
      <p:sp>
        <p:nvSpPr>
          <p:cNvPr id="6" name="Text 4"/>
          <p:cNvSpPr txBox="1"/>
          <p:nvPr/>
        </p:nvSpPr>
        <p:spPr>
          <a:xfrm>
            <a:off x="548640" y="1463040"/>
            <a:ext cx="8991295" cy="2334768"/>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2400" dirty="0">
                <a:solidFill>
                  <a:schemeClr val="tx1"/>
                </a:solidFill>
              </a:rPr>
              <a:t>Signez la feuille de présence (départ).</a:t>
            </a:r>
            <a:endParaRPr lang="en-US" sz="2400" dirty="0"/>
          </a:p>
          <a:p>
            <a:pPr marL="342900" indent="-342900">
              <a:spcAft>
                <a:spcPts val="1000"/>
              </a:spcAft>
              <a:buSzPct val="100000"/>
              <a:buFont typeface="+mj-lt"/>
              <a:buAutoNum type="arabicPeriod" startAt="1"/>
            </a:pPr>
            <a:r>
              <a:rPr lang="en-US" sz="2400" dirty="0">
                <a:solidFill>
                  <a:schemeClr val="tx1"/>
                </a:solidFill>
              </a:rPr>
              <a:t>Vos résultats vous seront communiqués par la Fondation.</a:t>
            </a:r>
            <a:endParaRPr lang="en-US" sz="2400" dirty="0"/>
          </a:p>
          <a:p>
            <a:pPr marL="342900" indent="-342900">
              <a:spcAft>
                <a:spcPts val="1000"/>
              </a:spcAft>
              <a:buSzPct val="100000"/>
              <a:buFont typeface="+mj-lt"/>
              <a:buAutoNum type="arabicPeriod" startAt="1"/>
            </a:pPr>
            <a:r>
              <a:rPr lang="en-US" sz="2400" dirty="0">
                <a:solidFill>
                  <a:schemeClr val="tx1"/>
                </a:solidFill>
              </a:rPr>
              <a:t>Moins de 70 points ? Un rattrapage est prévu (quiz Kahoot).</a:t>
            </a:r>
            <a:endParaRPr lang="en-US" sz="2400" dirty="0"/>
          </a:p>
        </p:txBody>
      </p:sp>
      <p:sp>
        <p:nvSpPr>
          <p:cNvPr id="7" name="Badge icône"/>
          <p:cNvSpPr/>
          <p:nvPr/>
        </p:nvSpPr>
        <p:spPr>
          <a:xfrm>
            <a:off x="9997135" y="1508760"/>
            <a:ext cx="1645920" cy="1645920"/>
          </a:xfrm>
          <a:prstGeom prst="ellipse">
            <a:avLst/>
          </a:prstGeom>
          <a:solidFill>
            <a:srgbClr val="2F7BD0"/>
          </a:solidFill>
          <a:ln w="12700">
            <a:solidFill>
              <a:srgbClr val="2F7BD0"/>
            </a:solidFill>
            <a:prstDash val="solid"/>
          </a:ln>
        </p:spPr>
      </p:sp>
      <p:pic>
        <p:nvPicPr>
          <p:cNvPr id="8" name="Image 0" descr="FaCheckCircle">    </p:cNvPr>
          <p:cNvPicPr>
            <a:picLocks noChangeAspect="1"/>
          </p:cNvPicPr>
          <p:nvPr/>
        </p:nvPicPr>
        <p:blipFill>
          <a:blip r:embed="rId1"/>
          <a:stretch>
            <a:fillRect/>
          </a:stretch>
        </p:blipFill>
        <p:spPr>
          <a:xfrm>
            <a:off x="10392156" y="1903781"/>
            <a:ext cx="855878" cy="855878"/>
          </a:xfrm>
          <a:prstGeom prst="rect">
            <a:avLst/>
          </a:prstGeom>
        </p:spPr>
      </p:pic>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txBox="1"/>
          <p:nvPr/>
        </p:nvSpPr>
        <p:spPr>
          <a:xfrm>
            <a:off x="548640" y="256032"/>
            <a:ext cx="7315200" cy="274320"/>
          </a:xfrm>
          <a:prstGeom prst="rect">
            <a:avLst/>
          </a:prstGeom>
          <a:noFill/>
          <a:ln/>
        </p:spPr>
        <p:txBody>
          <a:bodyPr wrap="square" lIns="0" tIns="0" rIns="0" bIns="0" rtlCol="0" anchor="ctr"/>
          <a:lstStyle/>
          <a:p>
            <a:pPr indent="0" marL="0">
              <a:buNone/>
            </a:pPr>
            <a:r>
              <a:rPr lang="en-US" sz="1300" b="1" spc="200" kern="0" dirty="0">
                <a:solidFill>
                  <a:schemeClr val="accent1"/>
                </a:solidFill>
              </a:rPr>
              <a:t>PARTIE 10 · JE VÉRIFIE</a:t>
            </a:r>
            <a:endParaRPr lang="en-US" sz="1300" dirty="0"/>
          </a:p>
        </p:txBody>
      </p:sp>
      <p:sp>
        <p:nvSpPr>
          <p:cNvPr id="3" name="Text 1"/>
          <p:cNvSpPr/>
          <p:nvPr>
            <p:ph idx="101" type="title" hasCustomPrompt="1"/>
          </p:nvPr>
        </p:nvSpPr>
        <p:spPr>
          <a:xfrm>
            <a:off x="548640" y="530352"/>
            <a:ext cx="9509760" cy="868680"/>
          </a:xfrm>
          <a:prstGeom prst="rect">
            <a:avLst/>
          </a:prstGeom>
          <a:noFill/>
          <a:ln/>
        </p:spPr>
        <p:txBody>
          <a:bodyPr wrap="square" lIns="0" tIns="0" rIns="0" bIns="0" rtlCol="0" anchor="ctr"/>
          <a:lstStyle/>
          <a:p>
            <a:pPr algn="l" indent="0" marL="0">
              <a:buNone/>
            </a:pPr>
            <a:r>
              <a:rPr lang="en-US" sz="2800" b="1" dirty="0">
                <a:solidFill>
                  <a:schemeClr val="tx2"/>
                </a:solidFill>
              </a:rPr>
              <a:t>Je vérifie avant de rendre</a:t>
            </a:r>
            <a:endParaRPr lang="en-US" sz="2800" dirty="0"/>
          </a:p>
        </p:txBody>
      </p:sp>
      <p:sp>
        <p:nvSpPr>
          <p:cNvPr id="4" name="Carte"/>
          <p:cNvSpPr/>
          <p:nvPr/>
        </p:nvSpPr>
        <p:spPr>
          <a:xfrm>
            <a:off x="548640" y="1463040"/>
            <a:ext cx="11094415" cy="640080"/>
          </a:xfrm>
          <a:prstGeom prst="roundRect">
            <a:avLst>
              <a:gd name="adj" fmla="val 17143"/>
            </a:avLst>
          </a:prstGeom>
          <a:solidFill>
            <a:schemeClr val="bg2"/>
          </a:solidFill>
          <a:ln w="12700">
            <a:solidFill>
              <a:schemeClr val="bg2"/>
            </a:solidFill>
            <a:prstDash val="solid"/>
          </a:ln>
        </p:spPr>
      </p:sp>
      <p:sp>
        <p:nvSpPr>
          <p:cNvPr id="5" name="Badge icône"/>
          <p:cNvSpPr/>
          <p:nvPr/>
        </p:nvSpPr>
        <p:spPr>
          <a:xfrm>
            <a:off x="731520" y="1554480"/>
            <a:ext cx="457200" cy="457200"/>
          </a:xfrm>
          <a:prstGeom prst="ellipse">
            <a:avLst/>
          </a:prstGeom>
          <a:solidFill>
            <a:srgbClr val="2E9E6B"/>
          </a:solidFill>
          <a:ln w="12700">
            <a:solidFill>
              <a:srgbClr val="2E9E6B"/>
            </a:solidFill>
            <a:prstDash val="solid"/>
          </a:ln>
        </p:spPr>
      </p:sp>
      <p:pic>
        <p:nvPicPr>
          <p:cNvPr id="6" name="Image 0" descr="FaCheck">    </p:cNvPr>
          <p:cNvPicPr>
            <a:picLocks noChangeAspect="1"/>
          </p:cNvPicPr>
          <p:nvPr/>
        </p:nvPicPr>
        <p:blipFill>
          <a:blip r:embed="rId1"/>
          <a:stretch>
            <a:fillRect/>
          </a:stretch>
        </p:blipFill>
        <p:spPr>
          <a:xfrm>
            <a:off x="841248" y="1664208"/>
            <a:ext cx="237744" cy="237744"/>
          </a:xfrm>
          <a:prstGeom prst="rect">
            <a:avLst/>
          </a:prstGeom>
        </p:spPr>
      </p:pic>
      <p:sp>
        <p:nvSpPr>
          <p:cNvPr id="7" name="Text 4"/>
          <p:cNvSpPr txBox="1"/>
          <p:nvPr/>
        </p:nvSpPr>
        <p:spPr>
          <a:xfrm>
            <a:off x="1371600" y="1463040"/>
            <a:ext cx="10088575" cy="640080"/>
          </a:xfrm>
          <a:prstGeom prst="rect">
            <a:avLst/>
          </a:prstGeom>
          <a:noFill/>
          <a:ln/>
        </p:spPr>
        <p:txBody>
          <a:bodyPr wrap="square" lIns="0" tIns="0" rIns="0" bIns="0" rtlCol="0" anchor="ctr"/>
          <a:lstStyle/>
          <a:p>
            <a:pPr indent="0" marL="0">
              <a:buNone/>
            </a:pPr>
            <a:r>
              <a:rPr lang="en-US" sz="1800" dirty="0">
                <a:solidFill>
                  <a:schemeClr val="tx1"/>
                </a:solidFill>
              </a:rPr>
              <a:t>Mes 7 fichiers sont dans ma boîte e-mail ou mon Drive.</a:t>
            </a:r>
            <a:endParaRPr lang="en-US" sz="1800" dirty="0"/>
          </a:p>
        </p:txBody>
      </p:sp>
      <p:sp>
        <p:nvSpPr>
          <p:cNvPr id="8" name="Carte"/>
          <p:cNvSpPr/>
          <p:nvPr/>
        </p:nvSpPr>
        <p:spPr>
          <a:xfrm>
            <a:off x="548640" y="2212848"/>
            <a:ext cx="11094415" cy="640080"/>
          </a:xfrm>
          <a:prstGeom prst="roundRect">
            <a:avLst>
              <a:gd name="adj" fmla="val 17143"/>
            </a:avLst>
          </a:prstGeom>
          <a:solidFill>
            <a:schemeClr val="bg2"/>
          </a:solidFill>
          <a:ln w="12700">
            <a:solidFill>
              <a:schemeClr val="bg2"/>
            </a:solidFill>
            <a:prstDash val="solid"/>
          </a:ln>
        </p:spPr>
      </p:sp>
      <p:sp>
        <p:nvSpPr>
          <p:cNvPr id="9" name="Badge icône"/>
          <p:cNvSpPr/>
          <p:nvPr/>
        </p:nvSpPr>
        <p:spPr>
          <a:xfrm>
            <a:off x="731520" y="2304288"/>
            <a:ext cx="457200" cy="457200"/>
          </a:xfrm>
          <a:prstGeom prst="ellipse">
            <a:avLst/>
          </a:prstGeom>
          <a:solidFill>
            <a:srgbClr val="2E9E6B"/>
          </a:solidFill>
          <a:ln w="12700">
            <a:solidFill>
              <a:srgbClr val="2E9E6B"/>
            </a:solidFill>
            <a:prstDash val="solid"/>
          </a:ln>
        </p:spPr>
      </p:sp>
      <p:pic>
        <p:nvPicPr>
          <p:cNvPr id="10" name="Image 1" descr="FaCheck">    </p:cNvPr>
          <p:cNvPicPr>
            <a:picLocks noChangeAspect="1"/>
          </p:cNvPicPr>
          <p:nvPr/>
        </p:nvPicPr>
        <p:blipFill>
          <a:blip r:embed="rId2"/>
          <a:stretch>
            <a:fillRect/>
          </a:stretch>
        </p:blipFill>
        <p:spPr>
          <a:xfrm>
            <a:off x="841248" y="2414016"/>
            <a:ext cx="237744" cy="237744"/>
          </a:xfrm>
          <a:prstGeom prst="rect">
            <a:avLst/>
          </a:prstGeom>
        </p:spPr>
      </p:pic>
      <p:sp>
        <p:nvSpPr>
          <p:cNvPr id="11" name="Text 7"/>
          <p:cNvSpPr txBox="1"/>
          <p:nvPr/>
        </p:nvSpPr>
        <p:spPr>
          <a:xfrm>
            <a:off x="1371600" y="2212848"/>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déposé une copie dans le dossier du formateur.</a:t>
            </a:r>
            <a:endParaRPr lang="en-US" sz="1800" dirty="0"/>
          </a:p>
        </p:txBody>
      </p:sp>
      <p:sp>
        <p:nvSpPr>
          <p:cNvPr id="12" name="Carte"/>
          <p:cNvSpPr/>
          <p:nvPr/>
        </p:nvSpPr>
        <p:spPr>
          <a:xfrm>
            <a:off x="548640" y="2962656"/>
            <a:ext cx="11094415" cy="640080"/>
          </a:xfrm>
          <a:prstGeom prst="roundRect">
            <a:avLst>
              <a:gd name="adj" fmla="val 17143"/>
            </a:avLst>
          </a:prstGeom>
          <a:solidFill>
            <a:schemeClr val="bg2"/>
          </a:solidFill>
          <a:ln w="12700">
            <a:solidFill>
              <a:schemeClr val="bg2"/>
            </a:solidFill>
            <a:prstDash val="solid"/>
          </a:ln>
        </p:spPr>
      </p:sp>
      <p:sp>
        <p:nvSpPr>
          <p:cNvPr id="13" name="Badge icône"/>
          <p:cNvSpPr/>
          <p:nvPr/>
        </p:nvSpPr>
        <p:spPr>
          <a:xfrm>
            <a:off x="731520" y="3054096"/>
            <a:ext cx="457200" cy="457200"/>
          </a:xfrm>
          <a:prstGeom prst="ellipse">
            <a:avLst/>
          </a:prstGeom>
          <a:solidFill>
            <a:srgbClr val="2E9E6B"/>
          </a:solidFill>
          <a:ln w="12700">
            <a:solidFill>
              <a:srgbClr val="2E9E6B"/>
            </a:solidFill>
            <a:prstDash val="solid"/>
          </a:ln>
        </p:spPr>
      </p:sp>
      <p:pic>
        <p:nvPicPr>
          <p:cNvPr id="14" name="Image 2" descr="FaCheck">    </p:cNvPr>
          <p:cNvPicPr>
            <a:picLocks noChangeAspect="1"/>
          </p:cNvPicPr>
          <p:nvPr/>
        </p:nvPicPr>
        <p:blipFill>
          <a:blip r:embed="rId3"/>
          <a:stretch>
            <a:fillRect/>
          </a:stretch>
        </p:blipFill>
        <p:spPr>
          <a:xfrm>
            <a:off x="841248" y="3163824"/>
            <a:ext cx="237744" cy="237744"/>
          </a:xfrm>
          <a:prstGeom prst="rect">
            <a:avLst/>
          </a:prstGeom>
        </p:spPr>
      </p:pic>
      <p:sp>
        <p:nvSpPr>
          <p:cNvPr id="15" name="Text 10"/>
          <p:cNvSpPr txBox="1"/>
          <p:nvPr/>
        </p:nvSpPr>
        <p:spPr>
          <a:xfrm>
            <a:off x="1371600" y="2962656"/>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supprimé mon dossier du poste.</a:t>
            </a:r>
            <a:endParaRPr lang="en-US" sz="1800" dirty="0"/>
          </a:p>
        </p:txBody>
      </p:sp>
      <p:sp>
        <p:nvSpPr>
          <p:cNvPr id="16" name="Carte"/>
          <p:cNvSpPr/>
          <p:nvPr/>
        </p:nvSpPr>
        <p:spPr>
          <a:xfrm>
            <a:off x="548640" y="3712464"/>
            <a:ext cx="11094415" cy="640080"/>
          </a:xfrm>
          <a:prstGeom prst="roundRect">
            <a:avLst>
              <a:gd name="adj" fmla="val 17143"/>
            </a:avLst>
          </a:prstGeom>
          <a:solidFill>
            <a:schemeClr val="bg2"/>
          </a:solidFill>
          <a:ln w="12700">
            <a:solidFill>
              <a:schemeClr val="bg2"/>
            </a:solidFill>
            <a:prstDash val="solid"/>
          </a:ln>
        </p:spPr>
      </p:sp>
      <p:sp>
        <p:nvSpPr>
          <p:cNvPr id="17" name="Badge icône"/>
          <p:cNvSpPr/>
          <p:nvPr/>
        </p:nvSpPr>
        <p:spPr>
          <a:xfrm>
            <a:off x="731520" y="3803904"/>
            <a:ext cx="457200" cy="457200"/>
          </a:xfrm>
          <a:prstGeom prst="ellipse">
            <a:avLst/>
          </a:prstGeom>
          <a:solidFill>
            <a:srgbClr val="2E9E6B"/>
          </a:solidFill>
          <a:ln w="12700">
            <a:solidFill>
              <a:srgbClr val="2E9E6B"/>
            </a:solidFill>
            <a:prstDash val="solid"/>
          </a:ln>
        </p:spPr>
      </p:sp>
      <p:pic>
        <p:nvPicPr>
          <p:cNvPr id="18" name="Image 3" descr="FaCheck">    </p:cNvPr>
          <p:cNvPicPr>
            <a:picLocks noChangeAspect="1"/>
          </p:cNvPicPr>
          <p:nvPr/>
        </p:nvPicPr>
        <p:blipFill>
          <a:blip r:embed="rId4"/>
          <a:stretch>
            <a:fillRect/>
          </a:stretch>
        </p:blipFill>
        <p:spPr>
          <a:xfrm>
            <a:off x="841248" y="3913632"/>
            <a:ext cx="237744" cy="237744"/>
          </a:xfrm>
          <a:prstGeom prst="rect">
            <a:avLst/>
          </a:prstGeom>
        </p:spPr>
      </p:pic>
      <p:sp>
        <p:nvSpPr>
          <p:cNvPr id="19" name="Text 13"/>
          <p:cNvSpPr txBox="1"/>
          <p:nvPr/>
        </p:nvSpPr>
        <p:spPr>
          <a:xfrm>
            <a:off x="1371600" y="3712464"/>
            <a:ext cx="10088575" cy="640080"/>
          </a:xfrm>
          <a:prstGeom prst="rect">
            <a:avLst/>
          </a:prstGeom>
          <a:noFill/>
          <a:ln/>
        </p:spPr>
        <p:txBody>
          <a:bodyPr wrap="square" lIns="0" tIns="0" rIns="0" bIns="0" rtlCol="0" anchor="ctr"/>
          <a:lstStyle/>
          <a:p>
            <a:pPr indent="0" marL="0">
              <a:buNone/>
            </a:pPr>
            <a:r>
              <a:rPr lang="en-US" sz="1800" dirty="0">
                <a:solidFill>
                  <a:schemeClr val="tx1"/>
                </a:solidFill>
              </a:rPr>
              <a:t>Je suis déconnecté(e) de Claude, Gemini et Google.</a:t>
            </a:r>
            <a:endParaRPr lang="en-US" sz="1800" dirty="0"/>
          </a:p>
        </p:txBody>
      </p:sp>
      <p:sp>
        <p:nvSpPr>
          <p:cNvPr id="20" name="Carte"/>
          <p:cNvSpPr/>
          <p:nvPr/>
        </p:nvSpPr>
        <p:spPr>
          <a:xfrm>
            <a:off x="548640" y="4462272"/>
            <a:ext cx="11094415" cy="640080"/>
          </a:xfrm>
          <a:prstGeom prst="roundRect">
            <a:avLst>
              <a:gd name="adj" fmla="val 17143"/>
            </a:avLst>
          </a:prstGeom>
          <a:solidFill>
            <a:schemeClr val="bg2"/>
          </a:solidFill>
          <a:ln w="12700">
            <a:solidFill>
              <a:schemeClr val="bg2"/>
            </a:solidFill>
            <a:prstDash val="solid"/>
          </a:ln>
        </p:spPr>
      </p:sp>
      <p:sp>
        <p:nvSpPr>
          <p:cNvPr id="21" name="Badge icône"/>
          <p:cNvSpPr/>
          <p:nvPr/>
        </p:nvSpPr>
        <p:spPr>
          <a:xfrm>
            <a:off x="731520" y="4553712"/>
            <a:ext cx="457200" cy="457200"/>
          </a:xfrm>
          <a:prstGeom prst="ellipse">
            <a:avLst/>
          </a:prstGeom>
          <a:solidFill>
            <a:srgbClr val="2E9E6B"/>
          </a:solidFill>
          <a:ln w="12700">
            <a:solidFill>
              <a:srgbClr val="2E9E6B"/>
            </a:solidFill>
            <a:prstDash val="solid"/>
          </a:ln>
        </p:spPr>
      </p:sp>
      <p:pic>
        <p:nvPicPr>
          <p:cNvPr id="22" name="Image 4" descr="FaCheck">    </p:cNvPr>
          <p:cNvPicPr>
            <a:picLocks noChangeAspect="1"/>
          </p:cNvPicPr>
          <p:nvPr/>
        </p:nvPicPr>
        <p:blipFill>
          <a:blip r:embed="rId5"/>
          <a:stretch>
            <a:fillRect/>
          </a:stretch>
        </p:blipFill>
        <p:spPr>
          <a:xfrm>
            <a:off x="841248" y="4663440"/>
            <a:ext cx="237744" cy="237744"/>
          </a:xfrm>
          <a:prstGeom prst="rect">
            <a:avLst/>
          </a:prstGeom>
        </p:spPr>
      </p:pic>
      <p:sp>
        <p:nvSpPr>
          <p:cNvPr id="23" name="Text 16"/>
          <p:cNvSpPr txBox="1"/>
          <p:nvPr/>
        </p:nvSpPr>
        <p:spPr>
          <a:xfrm>
            <a:off x="1371600" y="4462272"/>
            <a:ext cx="10088575" cy="640080"/>
          </a:xfrm>
          <a:prstGeom prst="rect">
            <a:avLst/>
          </a:prstGeom>
          <a:noFill/>
          <a:ln/>
        </p:spPr>
        <p:txBody>
          <a:bodyPr wrap="square" lIns="0" tIns="0" rIns="0" bIns="0" rtlCol="0" anchor="ctr"/>
          <a:lstStyle/>
          <a:p>
            <a:pPr indent="0" marL="0">
              <a:buNone/>
            </a:pPr>
            <a:r>
              <a:rPr lang="en-US" sz="1800" dirty="0">
                <a:solidFill>
                  <a:schemeClr val="tx1"/>
                </a:solidFill>
              </a:rPr>
              <a:t>J’ai signé la feuille de présence (départ).</a:t>
            </a:r>
            <a:endParaRPr lang="en-US" sz="1800" dirty="0"/>
          </a:p>
        </p:txBody>
      </p:sp>
      <p:sp>
        <p:nvSpPr>
          <p:cNvPr id="25" name="Slide Number Placeholder 0"/>
          <p:cNvSpPr>
            <a:spLocks noGrp="1"/>
          </p:cNvSpPr>
          <p:nvPr>
            <p:ph type="sldNum" sz="quarter" idx="4294967295"/>
          </p:nvPr>
        </p:nvSpPr>
        <p:spPr>
          <a:xfrm>
            <a:off x="10881360" y="6446520"/>
            <a:ext cx="758952"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chemeClr val="accent5"/>
                </a:solidFill>
              </a:defRPr>
            </a:lvl1pPr>
          </a:lstStyle>
          <a:p>
            <a:pPr algn="r"/>
            <a:fld id="{F7021451-1387-4CA6-816F-3879F97B5CBC}" type="slidenum">
              <a:rPr b="0" lang="en-US"/>
              <a:t>82</a:t>
            </a:fld>
            <a:endParaRPr lang="en-US"/>
          </a:p>
        </p:txBody>
      </p:sp>
    </p:spTree>
  </p:cSld>
  <p:clrMapOvr>
    <a:masterClrMapping/>
  </p:clrMapOvr>
</p:sld>
</file>

<file path=ppt/theme/theme1.xml><?xml version="1.0" encoding="utf-8"?>
<a:theme xmlns:a="http://schemas.openxmlformats.org/drawingml/2006/main" name="ia.lab Module 3">
  <a:themeElements>
    <a:clrScheme name="ia.lab Module 3">
      <a:dk1>
        <a:srgbClr val="14233A"/>
      </a:dk1>
      <a:lt1>
        <a:srgbClr val="FFFFFF"/>
      </a:lt1>
      <a:dk2>
        <a:srgbClr val="14305A"/>
      </a:dk2>
      <a:lt2>
        <a:srgbClr val="EAF2FC"/>
      </a:lt2>
      <a:accent1>
        <a:srgbClr val="2F7BD0"/>
      </a:accent1>
      <a:accent2>
        <a:srgbClr val="F5A524"/>
      </a:accent2>
      <a:accent3>
        <a:srgbClr val="2E9E6B"/>
      </a:accent3>
      <a:accent4>
        <a:srgbClr val="D9534F"/>
      </a:accent4>
      <a:accent5>
        <a:srgbClr val="5B6573"/>
      </a:accent5>
      <a:accent6>
        <a:srgbClr val="7B61C9"/>
      </a:accent6>
      <a:hlink>
        <a:srgbClr val="2F7BD0"/>
      </a:hlink>
      <a:folHlink>
        <a:srgbClr val="5B6573"/>
      </a:folHlink>
    </a:clrScheme>
    <a:fontScheme name="ia.lab Module 3">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Utiliser l’IA pour booster son employabilité</dc:title>
  <dc:subject>Support de séance (4 h) aligné sur le manuel de l’apprenant</dc:subject>
  <dc:creator>Narcisse KIOUARI</dc:creator>
  <cp:lastModifiedBy>Narcisse KIOUARI</cp:lastModifiedBy>
  <cp:revision>1</cp:revision>
  <dcterms:created xsi:type="dcterms:W3CDTF">2026-10-19T19:15:37Z</dcterms:created>
  <dcterms:modified xsi:type="dcterms:W3CDTF">2026-10-19T19:15:37Z</dcterms:modified>
</cp:coreProperties>
</file>